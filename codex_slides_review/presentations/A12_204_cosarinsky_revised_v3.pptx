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15d4cf5a764312" /><Relationship Type="http://schemas.openxmlformats.org/officeDocument/2006/relationships/extended-properties" Target="/docProps/app.xml" Id="Ra27721b11c784919" /><Relationship Type="http://schemas.openxmlformats.org/officeDocument/2006/relationships/officeDocument" Target="/ppt/presentation.xml" Id="Rb14b069b6085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bff2ae4a0c4632"/>
  </p:sldMasterIdLst>
  <p:notesMasterIdLst>
    <p:notesMasterId xmlns:r="http://schemas.openxmlformats.org/officeDocument/2006/relationships" r:id="Rbefd634a19cb4c0c"/>
  </p:notesMasterIdLst>
  <p:sldIdLst>
    <p:sldId xmlns:r="http://schemas.openxmlformats.org/officeDocument/2006/relationships" id="256" r:id="R3a6681c8cf5d4239"/>
    <p:sldId xmlns:r="http://schemas.openxmlformats.org/officeDocument/2006/relationships" id="257" r:id="R67dcf9d2e6bc44c9"/>
    <p:sldId xmlns:r="http://schemas.openxmlformats.org/officeDocument/2006/relationships" id="258" r:id="R87b030821c1043a7"/>
    <p:sldId xmlns:r="http://schemas.openxmlformats.org/officeDocument/2006/relationships" id="259" r:id="R4ba262e99311466d"/>
    <p:sldId xmlns:r="http://schemas.openxmlformats.org/officeDocument/2006/relationships" id="260" r:id="Rdd0be295f7d14535"/>
    <p:sldId xmlns:r="http://schemas.openxmlformats.org/officeDocument/2006/relationships" id="261" r:id="Rcd48f0bab8894107"/>
    <p:sldId xmlns:r="http://schemas.openxmlformats.org/officeDocument/2006/relationships" id="262" r:id="R502bd33b76984dd2"/>
    <p:sldId xmlns:r="http://schemas.openxmlformats.org/officeDocument/2006/relationships" id="263" r:id="R17d58f9b0c074ea3"/>
    <p:sldId xmlns:r="http://schemas.openxmlformats.org/officeDocument/2006/relationships" id="264" r:id="Rdd9b1766795c4d12"/>
    <p:sldId xmlns:r="http://schemas.openxmlformats.org/officeDocument/2006/relationships" id="265" r:id="Rc7d914319f294343"/>
    <p:sldId xmlns:r="http://schemas.openxmlformats.org/officeDocument/2006/relationships" id="266" r:id="Rd94caae2aa7d4f34"/>
    <p:sldId xmlns:r="http://schemas.openxmlformats.org/officeDocument/2006/relationships" id="267" r:id="R281168e3ed664e87"/>
    <p:sldId xmlns:r="http://schemas.openxmlformats.org/officeDocument/2006/relationships" id="268" r:id="R6d321f8666ba4a0c"/>
    <p:sldId xmlns:r="http://schemas.openxmlformats.org/officeDocument/2006/relationships" id="269" r:id="R6f3a24453ab54248"/>
    <p:sldId xmlns:r="http://schemas.openxmlformats.org/officeDocument/2006/relationships" id="270" r:id="R73c9374e45f94a51"/>
    <p:sldId xmlns:r="http://schemas.openxmlformats.org/officeDocument/2006/relationships" id="271" r:id="Rfbdcb69a7fb44bbd"/>
    <p:sldId xmlns:r="http://schemas.openxmlformats.org/officeDocument/2006/relationships" id="272" r:id="R9feaec05cf094cf5"/>
    <p:sldId xmlns:r="http://schemas.openxmlformats.org/officeDocument/2006/relationships" id="273" r:id="R71fef76593c243e9"/>
    <p:sldId xmlns:r="http://schemas.openxmlformats.org/officeDocument/2006/relationships" id="274" r:id="R7536c03e2452490f"/>
    <p:sldId xmlns:r="http://schemas.openxmlformats.org/officeDocument/2006/relationships" id="275" r:id="Rde374408292b49d9"/>
    <p:sldId xmlns:r="http://schemas.openxmlformats.org/officeDocument/2006/relationships" id="276" r:id="Rf3f241758eb4464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db023eb659430d" /><Relationship Type="http://schemas.openxmlformats.org/officeDocument/2006/relationships/slideMaster" Target="/ppt/slideMasters/slideMaster1.xml" Id="R62bff2ae4a0c4632" /><Relationship Type="http://schemas.openxmlformats.org/officeDocument/2006/relationships/notesMaster" Target="/ppt/notesMasters/notesMaster1.xml" Id="Rbefd634a19cb4c0c" /><Relationship Type="http://schemas.openxmlformats.org/officeDocument/2006/relationships/presProps" Target="/ppt/presProps.xml" Id="R88ce27c424454b7a" /><Relationship Type="http://schemas.openxmlformats.org/officeDocument/2006/relationships/viewProps" Target="/ppt/viewProps.xml" Id="R99ade802183946e4" /><Relationship Type="http://schemas.openxmlformats.org/officeDocument/2006/relationships/tableStyles" Target="/ppt/tableStyles.xml" Id="R73faec230f584f8a" /><Relationship Type="http://schemas.openxmlformats.org/officeDocument/2006/relationships/slide" Target="/ppt/slides/slide1.xml" Id="R3a6681c8cf5d4239" /><Relationship Type="http://schemas.openxmlformats.org/officeDocument/2006/relationships/slide" Target="/ppt/slides/slide2.xml" Id="R67dcf9d2e6bc44c9" /><Relationship Type="http://schemas.openxmlformats.org/officeDocument/2006/relationships/slide" Target="/ppt/slides/slide3.xml" Id="R87b030821c1043a7" /><Relationship Type="http://schemas.openxmlformats.org/officeDocument/2006/relationships/slide" Target="/ppt/slides/slide4.xml" Id="R4ba262e99311466d" /><Relationship Type="http://schemas.openxmlformats.org/officeDocument/2006/relationships/slide" Target="/ppt/slides/slide5.xml" Id="Rdd0be295f7d14535" /><Relationship Type="http://schemas.openxmlformats.org/officeDocument/2006/relationships/slide" Target="/ppt/slides/slide6.xml" Id="Rcd48f0bab8894107" /><Relationship Type="http://schemas.openxmlformats.org/officeDocument/2006/relationships/slide" Target="/ppt/slides/slide7.xml" Id="R502bd33b76984dd2" /><Relationship Type="http://schemas.openxmlformats.org/officeDocument/2006/relationships/slide" Target="/ppt/slides/slide8.xml" Id="R17d58f9b0c074ea3" /><Relationship Type="http://schemas.openxmlformats.org/officeDocument/2006/relationships/slide" Target="/ppt/slides/slide9.xml" Id="Rdd9b1766795c4d12" /><Relationship Type="http://schemas.openxmlformats.org/officeDocument/2006/relationships/slide" Target="/ppt/slides/slide10.xml" Id="Rc7d914319f294343" /><Relationship Type="http://schemas.openxmlformats.org/officeDocument/2006/relationships/slide" Target="/ppt/slides/slide11.xml" Id="Rd94caae2aa7d4f34" /><Relationship Type="http://schemas.openxmlformats.org/officeDocument/2006/relationships/slide" Target="/ppt/slides/slide12.xml" Id="R281168e3ed664e87" /><Relationship Type="http://schemas.openxmlformats.org/officeDocument/2006/relationships/slide" Target="/ppt/slides/slide13.xml" Id="R6d321f8666ba4a0c" /><Relationship Type="http://schemas.openxmlformats.org/officeDocument/2006/relationships/slide" Target="/ppt/slides/slide14.xml" Id="R6f3a24453ab54248" /><Relationship Type="http://schemas.openxmlformats.org/officeDocument/2006/relationships/slide" Target="/ppt/slides/slide15.xml" Id="R73c9374e45f94a51" /><Relationship Type="http://schemas.openxmlformats.org/officeDocument/2006/relationships/slide" Target="/ppt/slides/slide16.xml" Id="Rfbdcb69a7fb44bbd" /><Relationship Type="http://schemas.openxmlformats.org/officeDocument/2006/relationships/slide" Target="/ppt/slides/slide17.xml" Id="R9feaec05cf094cf5" /><Relationship Type="http://schemas.openxmlformats.org/officeDocument/2006/relationships/slide" Target="/ppt/slides/slide18.xml" Id="R71fef76593c243e9" /><Relationship Type="http://schemas.openxmlformats.org/officeDocument/2006/relationships/slide" Target="/ppt/slides/slide19.xml" Id="R7536c03e2452490f" /><Relationship Type="http://schemas.openxmlformats.org/officeDocument/2006/relationships/slide" Target="/ppt/slides/slide20.xml" Id="Rde374408292b49d9" /><Relationship Type="http://schemas.openxmlformats.org/officeDocument/2006/relationships/slide" Target="/ppt/slides/slide21.xml" Id="Rf3f241758eb446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44a81c29414a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1c5a79e9a5412c" /><Relationship Type="http://schemas.openxmlformats.org/officeDocument/2006/relationships/notesMaster" Target="/ppt/notesMasters/notesMaster1.xml" Id="R2e232faeb4974f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a298e06f3d4b20" /><Relationship Type="http://schemas.openxmlformats.org/officeDocument/2006/relationships/notesMaster" Target="/ppt/notesMasters/notesMaster1.xml" Id="R453e2e521f3242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43297c4c3a4a90" /><Relationship Type="http://schemas.openxmlformats.org/officeDocument/2006/relationships/notesMaster" Target="/ppt/notesMasters/notesMaster1.xml" Id="Re942a6fd898b46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24b6457ef04518" /><Relationship Type="http://schemas.openxmlformats.org/officeDocument/2006/relationships/notesMaster" Target="/ppt/notesMasters/notesMaster1.xml" Id="Rdf43d293bd2546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e1873392624096" /><Relationship Type="http://schemas.openxmlformats.org/officeDocument/2006/relationships/notesMaster" Target="/ppt/notesMasters/notesMaster1.xml" Id="R57b9fc9945d44b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551a7301404adb" /><Relationship Type="http://schemas.openxmlformats.org/officeDocument/2006/relationships/notesMaster" Target="/ppt/notesMasters/notesMaster1.xml" Id="Rb96804c12e9145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e746e33bb647dc" /><Relationship Type="http://schemas.openxmlformats.org/officeDocument/2006/relationships/notesMaster" Target="/ppt/notesMasters/notesMaster1.xml" Id="R20a5b0043a334d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0c4da49f97479b" /><Relationship Type="http://schemas.openxmlformats.org/officeDocument/2006/relationships/notesMaster" Target="/ppt/notesMasters/notesMaster1.xml" Id="R21faab21ae3d40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6a75d5bd86470b" /><Relationship Type="http://schemas.openxmlformats.org/officeDocument/2006/relationships/notesMaster" Target="/ppt/notesMasters/notesMaster1.xml" Id="R83512c58580e4c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4afed6808146e1" /><Relationship Type="http://schemas.openxmlformats.org/officeDocument/2006/relationships/notesMaster" Target="/ppt/notesMasters/notesMaster1.xml" Id="R40a3adfc4db54d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0d24de6759459b" /><Relationship Type="http://schemas.openxmlformats.org/officeDocument/2006/relationships/notesMaster" Target="/ppt/notesMasters/notesMaster1.xml" Id="R88a0b74f734e4a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7c79e5bba34582" /><Relationship Type="http://schemas.openxmlformats.org/officeDocument/2006/relationships/notesMaster" Target="/ppt/notesMasters/notesMaster1.xml" Id="R05269d0719884f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09271b163b4a23" /><Relationship Type="http://schemas.openxmlformats.org/officeDocument/2006/relationships/notesMaster" Target="/ppt/notesMasters/notesMaster1.xml" Id="R87b0b52ac83d4c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e11e0f7e034d2a" /><Relationship Type="http://schemas.openxmlformats.org/officeDocument/2006/relationships/notesMaster" Target="/ppt/notesMasters/notesMaster1.xml" Id="Rb14b0fe588be48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622909895e4c7f" /><Relationship Type="http://schemas.openxmlformats.org/officeDocument/2006/relationships/notesMaster" Target="/ppt/notesMasters/notesMaster1.xml" Id="R3a4704cb0a6b4b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46b16e0542411c" /><Relationship Type="http://schemas.openxmlformats.org/officeDocument/2006/relationships/notesMaster" Target="/ppt/notesMasters/notesMaster1.xml" Id="Rdebdd1c0da934a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df8085ed814a60" /><Relationship Type="http://schemas.openxmlformats.org/officeDocument/2006/relationships/notesMaster" Target="/ppt/notesMasters/notesMaster1.xml" Id="R59501a14d3e64c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d20fbd365642f2" /><Relationship Type="http://schemas.openxmlformats.org/officeDocument/2006/relationships/notesMaster" Target="/ppt/notesMasters/notesMaster1.xml" Id="Rbbf65290ef1b45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704944eb054643" /><Relationship Type="http://schemas.openxmlformats.org/officeDocument/2006/relationships/notesMaster" Target="/ppt/notesMasters/notesMaster1.xml" Id="R89fcfad28ed54b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9c2b45bc7b41c0" /><Relationship Type="http://schemas.openxmlformats.org/officeDocument/2006/relationships/notesMaster" Target="/ppt/notesMasters/notesMaster1.xml" Id="Rc5bb909a4d964d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e5adb0fa4049b3" /><Relationship Type="http://schemas.openxmlformats.org/officeDocument/2006/relationships/notesMaster" Target="/ppt/notesMasters/notesMaster1.xml" Id="R8f8ae4f0a4ac47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Kim, P.; Kang, J.; Song, T.-K. A Pseudo-Dynamic Delay Calculation Using Optimal Zone Segmentation for Ultra-Compact Ultrasound Imaging Systems. Electronics 2019, 8, 242. https://doi.org/10.3390/electronics8020242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R. Delaunay, C. Hennersperger, and S. Wörz, Learning Continuous Receive Apodization Weights via Implicit Neural Representation for Ultrafast ICE Ultrasound Imaging. IEEE IUS 2025. doi:10.1109/IUS62464.2025.11201299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A. Agarwal, J. Reeg, A. S. Podkowa, and M. L. Oelze, Improving Spatial Resolution Using Incoherent Subtraction of Receive Beams Having Different Apodizations. IEEE TUFFC 66(1), 5–17, 2019. doi:10.1109/TUFFC.2018.2876285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A. Agarwal, J. Reeg, A. S. Podkowa, and M. L. Oelze, Improving Spatial Resolution Using Incoherent Subtraction of Receive Beams Having Different Apodizations. IEEE TUFFC 66(1), 5–17, 2019. doi:10.1109/TUFFC.2018.2876285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A. Agarwal, J. Reeg, A. S. Podkowa, and M. L. Oelze, Improving Spatial Resolution Using Incoherent Subtraction of Receive Beams Having Different Apodizations. IEEE TUFFC 66(1), 5–17, 2019. doi:10.1109/TUFFC.2018.2876285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parameters correspond to training run 20260520_151111: four physical features, hidden layers 16-8-4, two apodization channels, tanh apodization output, hard boxcar F-number 0.5.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PyMUST: https://www.biomecardio.com/MUST/index.html. The target and loss emphasize reflector recovery and background suppression; they do not directly optimize FWHM, sidelobes, CNR or gCNR.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amplitude cautiously: the evaluated NSI configuration uses normalize_by_n_subap: false. Peak-normalized profiles should be used for resolution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dfd5e38444c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77f1b473e42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8a58360fc41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2236e860743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a909f413d4b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a591e775746c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af908b87141e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b4f8365934f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d8b911cf347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e8dc283424de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b04ec2b9f4653" /></Relationships>
</file>

<file path=ppt/slideLayouts/slideLayout1.xml><?xml version="1.0" encoding="utf-8"?>
<p:sldLayout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288122A8-93B2-4055-99BD-856DA080F24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C6E3761B-44C4-437B-8DC4-12132E70F5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Haga clic para editar el estilo de subtítulo del patrón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5F6B5F84-FFA6-433A-801C-E7D75E11B3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489291C7-D9C3-42DC-8013-05ADDB0257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BB8431B8-1C26-4BE0-A786-79FA62D632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AF2CF43-E37E-4A8C-B991-AC892D847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22BDA71F-EAF9-4CD1-A861-DD5B8FA31E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4C457086-D00E-4370-A562-E5B9F2DB98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AFD7C048-0727-49B4-8BFA-4D5B9612F2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206F7340-5C52-49E6-9539-B71E6C5AE6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7313CE2B-954D-49A2-A092-DAE97A6F2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75AA7B6E-8428-40D4-9863-EA5D7B135F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78680C99-C80A-4FF6-A67B-AD606DE54C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F8AC41C4-E477-433A-A3F8-18FC3D0AE2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13DBAD81-704E-4FDD-A7FE-9392093B90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0F6A3A7-C97E-4491-AA84-A722787193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EE8F3FC9-D99B-447F-9483-8D570C7120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54F1DF76-38F6-4333-B295-0A911BEC2DC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330DBD01-A613-4A6A-AF6D-7AA4202179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1B138A53-AEA3-4B8D-9D5E-DA9AE6F86B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CB1BD351-2949-4DCF-98A5-CBA3842513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1DFA86A-8BA4-431B-8425-AAF3D2AFF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5D73D544-248F-46D3-8A0F-F9CE0F97C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826C994A-F5CA-482A-BBBB-4511536B89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5" name="Marcador de texto 4">
            <a:extLst xmlns:a="http://schemas.openxmlformats.org/drawingml/2006/main">
              <a:ext uri="{FF2B5EF4-FFF2-40B4-BE49-F238E27FC236}">
                <a16:creationId xmlns:a16="http://schemas.microsoft.com/office/drawing/2014/main" id="{1109D281-1219-40BA-9A49-2C99A6027FC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6" name="Marcador de contenido 5">
            <a:extLst xmlns:a="http://schemas.openxmlformats.org/drawingml/2006/main">
              <a:ext uri="{FF2B5EF4-FFF2-40B4-BE49-F238E27FC236}">
                <a16:creationId xmlns:a16="http://schemas.microsoft.com/office/drawing/2014/main" id="{4B097413-ABAD-4763-97D2-571F1247B68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7" name="Marcador de fecha 6">
            <a:extLst xmlns:a="http://schemas.openxmlformats.org/drawingml/2006/main">
              <a:ext uri="{FF2B5EF4-FFF2-40B4-BE49-F238E27FC236}">
                <a16:creationId xmlns:a16="http://schemas.microsoft.com/office/drawing/2014/main" id="{D207D2D6-CF04-4E84-B05A-DDC36475AE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8" name="Marcador de pie de página 7">
            <a:extLst xmlns:a="http://schemas.openxmlformats.org/drawingml/2006/main">
              <a:ext uri="{FF2B5EF4-FFF2-40B4-BE49-F238E27FC236}">
                <a16:creationId xmlns:a16="http://schemas.microsoft.com/office/drawing/2014/main" id="{CABD41A3-0C0B-4FC8-AB72-17C93B4909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78353F67-79BD-4E4E-B36F-5A22EEDE7D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CDD1D72-C11D-495D-9503-CB18DC330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fecha 2">
            <a:extLst xmlns:a="http://schemas.openxmlformats.org/drawingml/2006/main">
              <a:ext uri="{FF2B5EF4-FFF2-40B4-BE49-F238E27FC236}">
                <a16:creationId xmlns:a16="http://schemas.microsoft.com/office/drawing/2014/main" id="{9324B0A2-70F2-4ED3-9E57-E1C496427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4" name="Marcador de pie de página 3">
            <a:extLst xmlns:a="http://schemas.openxmlformats.org/drawingml/2006/main">
              <a:ext uri="{FF2B5EF4-FFF2-40B4-BE49-F238E27FC236}">
                <a16:creationId xmlns:a16="http://schemas.microsoft.com/office/drawing/2014/main" id="{F9365575-EF62-48E6-95DC-8BFED17B8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Marcador de número de diapositiva 4">
            <a:extLst xmlns:a="http://schemas.openxmlformats.org/drawingml/2006/main">
              <a:ext uri="{FF2B5EF4-FFF2-40B4-BE49-F238E27FC236}">
                <a16:creationId xmlns:a16="http://schemas.microsoft.com/office/drawing/2014/main" id="{3DFCC531-5FFF-412E-81D5-6B994E6F05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fecha 1">
            <a:extLst xmlns:a="http://schemas.openxmlformats.org/drawingml/2006/main">
              <a:ext uri="{FF2B5EF4-FFF2-40B4-BE49-F238E27FC236}">
                <a16:creationId xmlns:a16="http://schemas.microsoft.com/office/drawing/2014/main" id="{2CB38DA1-CD39-4FF9-B3D4-70AA73065D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3" name="Marcador de pie de página 2">
            <a:extLst xmlns:a="http://schemas.openxmlformats.org/drawingml/2006/main">
              <a:ext uri="{FF2B5EF4-FFF2-40B4-BE49-F238E27FC236}">
                <a16:creationId xmlns:a16="http://schemas.microsoft.com/office/drawing/2014/main" id="{6D1EB574-785C-4921-8EE6-F65191F381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Marcador de número de diapositiva 3">
            <a:extLst xmlns:a="http://schemas.openxmlformats.org/drawingml/2006/main">
              <a:ext uri="{FF2B5EF4-FFF2-40B4-BE49-F238E27FC236}">
                <a16:creationId xmlns:a16="http://schemas.microsoft.com/office/drawing/2014/main" id="{A771A96C-FE18-418D-8DE5-CE71D9A82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2427621-BE4E-4115-9C1A-77F68A29F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C9791577-5CB5-4F04-844B-1E0B8260C6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E48E021C-B734-4B62-9E28-7CB3747239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200E6F87-C233-4140-9D5A-45D2E48F8D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5E37AC39-69A0-4279-86AC-213074B0A2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2AB3BCA7-1FAE-4ECD-B91B-B8677034A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00D0CDB-0FCD-42F4-AA5A-C38191665B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144AF502-DEEE-42EE-AE81-3E98126949D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87131610-308F-4C73-B96D-58DBA6BFB0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1C8AB2F7-2A50-429F-BB17-3726356C8C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F912A1B6-F89E-4A4D-BB8C-86E0B11ED6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2C2DDBD8-9CE3-471F-B9B7-C0533F048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78A482B-64DA-4B47-8E98-CC0D93B6E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AAE16C28-AEBF-4014-B84A-E4B05BB5F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9A467DE9-D733-4677-9FE8-6265CDB3F5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71AA6FAA-CBC3-4414-B7FE-B93076E8FF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E7AF9CEF-3513-4CF4-BCEA-FA3D8DDAB3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847B5E48-8620-4858-AD8B-D91F7CC5B4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474F0C6B-8166-45F9-89AD-F6356E393C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7628F787-BF7D-4381-A786-37FFF1A437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F7E8A9C0-C76F-4214-BA02-FA5229CF2E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E02AD45E-3EA7-4769-A3AD-47FDF4ED1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d7eeb82eec4b98" /><Relationship Type="http://schemas.openxmlformats.org/officeDocument/2006/relationships/slideLayout" Target="/ppt/slideLayouts/slideLayout1.xml" Id="R61773bd43b0e4ea1" /><Relationship Type="http://schemas.openxmlformats.org/officeDocument/2006/relationships/slideLayout" Target="/ppt/slideLayouts/slideLayout2.xml" Id="R2964379f003a4462" /><Relationship Type="http://schemas.openxmlformats.org/officeDocument/2006/relationships/slideLayout" Target="/ppt/slideLayouts/slideLayout3.xml" Id="Rcc90b2b2f68c450e" /><Relationship Type="http://schemas.openxmlformats.org/officeDocument/2006/relationships/slideLayout" Target="/ppt/slideLayouts/slideLayout4.xml" Id="R0db02656c4be4456" /><Relationship Type="http://schemas.openxmlformats.org/officeDocument/2006/relationships/slideLayout" Target="/ppt/slideLayouts/slideLayout5.xml" Id="Rfafeec198b934bde" /><Relationship Type="http://schemas.openxmlformats.org/officeDocument/2006/relationships/slideLayout" Target="/ppt/slideLayouts/slideLayout6.xml" Id="R2433820a216d4fe3" /><Relationship Type="http://schemas.openxmlformats.org/officeDocument/2006/relationships/slideLayout" Target="/ppt/slideLayouts/slideLayout7.xml" Id="Rc68b6f24fa8d4783" /><Relationship Type="http://schemas.openxmlformats.org/officeDocument/2006/relationships/slideLayout" Target="/ppt/slideLayouts/slideLayout8.xml" Id="R8e24ed0a70e5402f" /><Relationship Type="http://schemas.openxmlformats.org/officeDocument/2006/relationships/slideLayout" Target="/ppt/slideLayouts/slideLayout9.xml" Id="R32ffb08de2974212" /><Relationship Type="http://schemas.openxmlformats.org/officeDocument/2006/relationships/slideLayout" Target="/ppt/slideLayouts/slideLayout10.xml" Id="R5cdf47e9a04549c3" /><Relationship Type="http://schemas.openxmlformats.org/officeDocument/2006/relationships/slideLayout" Target="/ppt/slideLayouts/slideLayout11.xml" Id="R961d01e6e74245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título 1">
            <a:extLst xmlns:a="http://schemas.openxmlformats.org/drawingml/2006/main">
              <a:ext uri="{FF2B5EF4-FFF2-40B4-BE49-F238E27FC236}">
                <a16:creationId xmlns:a16="http://schemas.microsoft.com/office/drawing/2014/main" id="{A428CC91-8E5C-4E83-9850-C44C01D39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1BC018BC-D79A-4281-8D94-2F6DB301BE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340E9055-55E9-4B01-B9D8-71315B28AA5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81FA19EB-E640-4DB7-8D5E-E3FDC8B1E5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E8A4FD54-2342-41FA-81BB-5B35590EE5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773bd43b0e4ea1"/>
    <p:sldLayoutId xmlns:r="http://schemas.openxmlformats.org/officeDocument/2006/relationships" id="2147483650" r:id="R2964379f003a4462"/>
    <p:sldLayoutId xmlns:r="http://schemas.openxmlformats.org/officeDocument/2006/relationships" id="2147483651" r:id="Rcc90b2b2f68c450e"/>
    <p:sldLayoutId xmlns:r="http://schemas.openxmlformats.org/officeDocument/2006/relationships" id="2147483652" r:id="R0db02656c4be4456"/>
    <p:sldLayoutId xmlns:r="http://schemas.openxmlformats.org/officeDocument/2006/relationships" id="2147483653" r:id="Rfafeec198b934bde"/>
    <p:sldLayoutId xmlns:r="http://schemas.openxmlformats.org/officeDocument/2006/relationships" id="2147483654" r:id="R2433820a216d4fe3"/>
    <p:sldLayoutId xmlns:r="http://schemas.openxmlformats.org/officeDocument/2006/relationships" id="2147483655" r:id="Rc68b6f24fa8d4783"/>
    <p:sldLayoutId xmlns:r="http://schemas.openxmlformats.org/officeDocument/2006/relationships" id="2147483656" r:id="R8e24ed0a70e5402f"/>
    <p:sldLayoutId xmlns:r="http://schemas.openxmlformats.org/officeDocument/2006/relationships" id="2147483657" r:id="R32ffb08de2974212"/>
    <p:sldLayoutId xmlns:r="http://schemas.openxmlformats.org/officeDocument/2006/relationships" id="2147483658" r:id="R5cdf47e9a04549c3"/>
    <p:sldLayoutId xmlns:r="http://schemas.openxmlformats.org/officeDocument/2006/relationships" id="2147483659" r:id="R961d01e6e742457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c52e495bd40c7" /><Relationship Type="http://schemas.openxmlformats.org/officeDocument/2006/relationships/image" Target="/ppt/media/image.png" Id="Raee06c85728b49b6" /><Relationship Type="http://schemas.openxmlformats.org/officeDocument/2006/relationships/image" Target="/ppt/media/image2.png" Id="Red27f9592a494c07" /><Relationship Type="http://schemas.openxmlformats.org/officeDocument/2006/relationships/notesSlide" Target="/ppt/notesSlides/notesSlide1.xml" Id="Rdfbb338077b042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aa58c6052e4e43" /><Relationship Type="http://schemas.openxmlformats.org/officeDocument/2006/relationships/image" Target="/ppt/media/image3.png" Id="Rf884b5aab8554c09" /><Relationship Type="http://schemas.openxmlformats.org/officeDocument/2006/relationships/image" Target="/ppt/media/image4.png" Id="Rc12296854cda46e7" /><Relationship Type="http://schemas.openxmlformats.org/officeDocument/2006/relationships/image" Target="/ppt/media/image5.png" Id="Rde75b1fa3e154149" /><Relationship Type="http://schemas.openxmlformats.org/officeDocument/2006/relationships/notesSlide" Target="/ppt/notesSlides/notesSlide2.xml" Id="R25267169941f4b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7c80e6283438f" /><Relationship Type="http://schemas.openxmlformats.org/officeDocument/2006/relationships/image" Target="/ppt/media/image6.png" Id="Rc625ad20d84442ee" /><Relationship Type="http://schemas.openxmlformats.org/officeDocument/2006/relationships/image" Target="/ppt/media/image7.png" Id="R861708d7c753445e" /><Relationship Type="http://schemas.openxmlformats.org/officeDocument/2006/relationships/notesSlide" Target="/ppt/notesSlides/notesSlide3.xml" Id="R3987d63f8e6e4d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80e204d0274985" /><Relationship Type="http://schemas.openxmlformats.org/officeDocument/2006/relationships/image" Target="/ppt/media/image8.png" Id="R342cfbacb4df48b5" /><Relationship Type="http://schemas.openxmlformats.org/officeDocument/2006/relationships/image" Target="/ppt/media/image9.png" Id="R2d64650491b04616" /><Relationship Type="http://schemas.openxmlformats.org/officeDocument/2006/relationships/image" Target="/ppt/media/image10.png" Id="Rdcbbb3c2af2d4a9d" /><Relationship Type="http://schemas.openxmlformats.org/officeDocument/2006/relationships/notesSlide" Target="/ppt/notesSlides/notesSlide4.xml" Id="R34987d3da5f74b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3b4155a2344bc1" /><Relationship Type="http://schemas.openxmlformats.org/officeDocument/2006/relationships/image" Target="/ppt/media/image11.png" Id="R445cf1dafb4e484e" /><Relationship Type="http://schemas.openxmlformats.org/officeDocument/2006/relationships/notesSlide" Target="/ppt/notesSlides/notesSlide5.xml" Id="R47b1a4b0524149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fdcf16c91341cf" /><Relationship Type="http://schemas.openxmlformats.org/officeDocument/2006/relationships/image" Target="/ppt/media/image12.png" Id="R81a456a105f94bdd" /><Relationship Type="http://schemas.openxmlformats.org/officeDocument/2006/relationships/image" Target="/ppt/media/image13.png" Id="R4587cdea37c4429c" /><Relationship Type="http://schemas.openxmlformats.org/officeDocument/2006/relationships/notesSlide" Target="/ppt/notesSlides/notesSlide6.xml" Id="R6c42135f4dff49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9e427536454bcd" /><Relationship Type="http://schemas.openxmlformats.org/officeDocument/2006/relationships/image" Target="/ppt/media/image12.png" Id="Rbcf46319ec5a4f7f" /><Relationship Type="http://schemas.openxmlformats.org/officeDocument/2006/relationships/image" Target="/ppt/media/image14.png" Id="R629fda0417cc427b" /><Relationship Type="http://schemas.openxmlformats.org/officeDocument/2006/relationships/notesSlide" Target="/ppt/notesSlides/notesSlide7.xml" Id="R158e4bdb65c64a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4fb53a2f3244f0" /><Relationship Type="http://schemas.openxmlformats.org/officeDocument/2006/relationships/image" Target="/ppt/media/image12.png" Id="R66c76da5cded4407" /><Relationship Type="http://schemas.openxmlformats.org/officeDocument/2006/relationships/image" Target="/ppt/media/image15.png" Id="R1f1573af9dda4bc0" /><Relationship Type="http://schemas.openxmlformats.org/officeDocument/2006/relationships/notesSlide" Target="/ppt/notesSlides/notesSlide8.xml" Id="R143c47e84aca46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c578b396174435" /><Relationship Type="http://schemas.openxmlformats.org/officeDocument/2006/relationships/image" Target="/ppt/media/image16.png" Id="Rf515065a87d64210" /><Relationship Type="http://schemas.openxmlformats.org/officeDocument/2006/relationships/image" Target="/ppt/media/image17.png" Id="R9385b53993ee49e1" /><Relationship Type="http://schemas.openxmlformats.org/officeDocument/2006/relationships/notesSlide" Target="/ppt/notesSlides/notesSlide9.xml" Id="Rf47ae7492a3945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35f9eaf9254279" /><Relationship Type="http://schemas.openxmlformats.org/officeDocument/2006/relationships/image" Target="/ppt/media/image16.png" Id="R12e4bef3155e41a2" /><Relationship Type="http://schemas.openxmlformats.org/officeDocument/2006/relationships/image" Target="/ppt/media/image18.png" Id="R880ea9f5ebc740b5" /><Relationship Type="http://schemas.openxmlformats.org/officeDocument/2006/relationships/notesSlide" Target="/ppt/notesSlides/notesSlide10.xml" Id="R3645b99d867845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b740a07ceb45a0" /><Relationship Type="http://schemas.openxmlformats.org/officeDocument/2006/relationships/image" Target="/ppt/media/image16.png" Id="R4832dfd13a3d4267" /><Relationship Type="http://schemas.openxmlformats.org/officeDocument/2006/relationships/image" Target="/ppt/media/image19.png" Id="Rbc512b69db0441fa" /><Relationship Type="http://schemas.openxmlformats.org/officeDocument/2006/relationships/notesSlide" Target="/ppt/notesSlides/notesSlide11.xml" Id="R1e132dc7bbba4b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03892c456a4ac0" /><Relationship Type="http://schemas.openxmlformats.org/officeDocument/2006/relationships/image" Target="/ppt/media/image20.png" Id="Rc761776d3eac4dc5" /><Relationship Type="http://schemas.openxmlformats.org/officeDocument/2006/relationships/image" Target="/ppt/media/image21.png" Id="Ra8c4f0a4a4a34f13" /><Relationship Type="http://schemas.openxmlformats.org/officeDocument/2006/relationships/notesSlide" Target="/ppt/notesSlides/notesSlide12.xml" Id="R241061d3cd9849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4cc529fa24405b" /><Relationship Type="http://schemas.openxmlformats.org/officeDocument/2006/relationships/image" Target="/ppt/media/image22.png" Id="Rf4a42b8b59ee423b" /><Relationship Type="http://schemas.openxmlformats.org/officeDocument/2006/relationships/notesSlide" Target="/ppt/notesSlides/notesSlide13.xml" Id="R893d43ba8d3444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2f8194fc4346bc" /><Relationship Type="http://schemas.openxmlformats.org/officeDocument/2006/relationships/image" Target="/ppt/media/image23.png" Id="R016ed1ee8b9e43de" /><Relationship Type="http://schemas.openxmlformats.org/officeDocument/2006/relationships/image" Target="/ppt/media/image24.png" Id="R3cf5f49999a94a60" /><Relationship Type="http://schemas.openxmlformats.org/officeDocument/2006/relationships/image" Target="/ppt/media/image25.png" Id="R92db5aab0a7b4f79" /><Relationship Type="http://schemas.openxmlformats.org/officeDocument/2006/relationships/notesSlide" Target="/ppt/notesSlides/notesSlide14.xml" Id="R0c238387045942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9b29ca393247db" /><Relationship Type="http://schemas.openxmlformats.org/officeDocument/2006/relationships/image" Target="/ppt/media/image23.png" Id="R92d6c43cf4c84c43" /><Relationship Type="http://schemas.openxmlformats.org/officeDocument/2006/relationships/image" Target="/ppt/media/image26.png" Id="R292a12cecda74de5" /><Relationship Type="http://schemas.openxmlformats.org/officeDocument/2006/relationships/notesSlide" Target="/ppt/notesSlides/notesSlide15.xml" Id="R955cd970df4844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2872928a7642f1" /><Relationship Type="http://schemas.openxmlformats.org/officeDocument/2006/relationships/image" Target="/ppt/media/image27.png" Id="Redaa78638b424708" /><Relationship Type="http://schemas.openxmlformats.org/officeDocument/2006/relationships/notesSlide" Target="/ppt/notesSlides/notesSlide16.xml" Id="R8c5fc8ab6cb84c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66d1fbe86f4576" /><Relationship Type="http://schemas.openxmlformats.org/officeDocument/2006/relationships/notesSlide" Target="/ppt/notesSlides/notesSlide17.xml" Id="Rbc8f1b4387dc4e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c94acde74a4942" /><Relationship Type="http://schemas.openxmlformats.org/officeDocument/2006/relationships/notesSlide" Target="/ppt/notesSlides/notesSlide18.xml" Id="Rae45d6894da544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5beca6d5d46b4" /><Relationship Type="http://schemas.openxmlformats.org/officeDocument/2006/relationships/image" Target="/ppt/media/image28.png" Id="R9caaf13cae5a41ef" /><Relationship Type="http://schemas.openxmlformats.org/officeDocument/2006/relationships/image" Target="/ppt/media/image29.png" Id="R03e069a5d059443a" /><Relationship Type="http://schemas.openxmlformats.org/officeDocument/2006/relationships/image" Target="/ppt/media/image30.png" Id="Re094d4ddff0c4d22" /><Relationship Type="http://schemas.openxmlformats.org/officeDocument/2006/relationships/image" Target="/ppt/media/image31.png" Id="R2f362bf6fa314244" /><Relationship Type="http://schemas.openxmlformats.org/officeDocument/2006/relationships/notesSlide" Target="/ppt/notesSlides/notesSlide19.xml" Id="R72fccb239d3240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1b788529744ca0" /><Relationship Type="http://schemas.openxmlformats.org/officeDocument/2006/relationships/image" Target="/ppt/media/image32.png" Id="Recdd3de08364401a" /><Relationship Type="http://schemas.openxmlformats.org/officeDocument/2006/relationships/image" Target="/ppt/media/image33.png" Id="R287fe9661f5a466c" /><Relationship Type="http://schemas.openxmlformats.org/officeDocument/2006/relationships/image" Target="/ppt/media/image34.png" Id="R2f62519f0bef4c8a" /><Relationship Type="http://schemas.openxmlformats.org/officeDocument/2006/relationships/notesSlide" Target="/ppt/notesSlides/notesSlide20.xml" Id="Rced5552598234e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e92a2efc0a49e1" /><Relationship Type="http://schemas.openxmlformats.org/officeDocument/2006/relationships/image" Target="/ppt/media/image20.png" Id="R270be1a7033c4810" /><Relationship Type="http://schemas.openxmlformats.org/officeDocument/2006/relationships/image" Target="/ppt/media/image21.png" Id="Rbcddec6315454aba" /><Relationship Type="http://schemas.openxmlformats.org/officeDocument/2006/relationships/notesSlide" Target="/ppt/notesSlides/notesSlide21.xml" Id="Rada86996a47d48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A00D054F-8833-4D2F-ABBD-F026ED8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72" y="2112057"/>
            <a:ext cx="8388681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/>
              <a:t>Learned Apodization Fusion for Robust Ultrasound Beamforming Near Array Boundaries</a:t>
            </a:r>
          </a:p>
          <a:p xmlns:a="http://schemas.openxmlformats.org/drawingml/2006/main">
            <a:pPr algn="ctr">
              <a:buNone/>
            </a:pPr>
            <a:endParaRPr sz="2800"/>
          </a:p>
          <a:p xmlns:a="http://schemas.openxmlformats.org/drawingml/2006/main">
            <a:pPr algn="ctr">
              <a:buNone/>
            </a:pPr>
            <a:r>
              <a:rPr sz="1600" u="sng"/>
              <a:t>Guillermo Cosarinsky</a:t>
            </a:r>
            <a:r>
              <a:rPr sz="1600" u="sng" baseline="30000"/>
              <a:t>1</a:t>
            </a:r>
            <a:r>
              <a:rPr sz="1600"/>
              <a:t>, Mario Muñoz</a:t>
            </a:r>
            <a:r>
              <a:rPr sz="1600" baseline="30000"/>
              <a:t>1</a:t>
            </a:r>
            <a:r>
              <a:rPr sz="1600"/>
              <a:t>, Adrián Rubio</a:t>
            </a:r>
            <a:r>
              <a:rPr sz="1600" baseline="30000"/>
              <a:t>1</a:t>
            </a:r>
            <a:r>
              <a:rPr sz="1600"/>
              <a:t>, Laura Monelleo</a:t>
            </a:r>
            <a:r>
              <a:rPr sz="1600" baseline="30000"/>
              <a:t>1</a:t>
            </a:r>
            <a:r>
              <a:rPr sz="1600"/>
              <a:t>, Jorge F. </a:t>
            </a:r>
            <a:r>
              <a:rPr sz="1600"/>
              <a:t>Cruza</a:t>
            </a:r>
            <a:r>
              <a:rPr sz="1600" baseline="30000"/>
              <a:t>1</a:t>
            </a:r>
          </a:p>
          <a:p xmlns:a="http://schemas.openxmlformats.org/drawingml/2006/main">
            <a:pPr algn="ctr">
              <a:buNone/>
            </a:pPr>
            <a:endParaRPr sz="1600" baseline="30000"/>
          </a:p>
          <a:p xmlns:a="http://schemas.openxmlformats.org/drawingml/2006/main">
            <a:pPr algn="ctr">
              <a:buNone/>
            </a:pPr>
            <a:r>
              <a:rPr sz="1600" i="1" baseline="30000"/>
              <a:t>1</a:t>
            </a:r>
            <a:r>
              <a:rPr sz="1600" i="1"/>
              <a:t>Ultrasonic and Nuclear Technology Group (GTUN), Institute for Physical and Information Technologies (ITEFI), Spanish National Research Council (CSIC), c/Serrano 144, 28006 Madrid, Spain</a:t>
            </a:r>
            <a:endParaRPr sz="1600"/>
          </a:p>
          <a:p xmlns:a="http://schemas.openxmlformats.org/drawingml/2006/main">
            <a:pPr algn="ctr">
              <a:buNone/>
            </a:pPr>
            <a:r>
              <a:rPr i="1"/>
              <a:t> </a:t>
            </a:r>
            <a:endParaRPr/>
          </a:p>
          <a:p xmlns:a="http://schemas.openxmlformats.org/drawingml/2006/main">
            <a:pPr algn="ctr">
              <a:buNone/>
            </a:pPr>
            <a:r>
              <a:rPr sz="1400"/>
              <a:t>Corresponding author email: </a:t>
            </a:r>
            <a:r>
              <a:rPr sz="1400" i="1"/>
              <a:t>g.cosarinsky@csic.es</a:t>
            </a:r>
            <a:endParaRPr sz="1400"/>
          </a:p>
          <a:p xmlns:a="http://schemas.openxmlformats.org/drawingml/2006/main">
            <a:endParaRPr/>
          </a:p>
        </p:txBody>
      </p:sp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B9082550-2B59-4F7F-B646-17DFAED4F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06c85728b49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1259" y="5251378"/>
            <a:ext cx="2170696" cy="389766"/>
          </a:xfrm>
          <a:prstGeom xmlns:a="http://schemas.openxmlformats.org/drawingml/2006/main" prst="rect">
            <a:avLst/>
          </a:prstGeom>
        </p:spPr>
      </p:pic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B6FDCDC9-17C4-4F09-B1B6-281D659EC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7f9592a494c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1576" y="316195"/>
            <a:ext cx="8668110" cy="11754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719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97E1A05-B77C-4D5D-BE4D-0BCFEB75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295" y="4878062"/>
            <a:ext cx="561205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Kim et al., Electronics 8, 242 (2019). doi:10.3390/electronics8020242</a:t>
            </a:r>
            <a:endParaRPr sz="900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42E57C14-C87A-478A-A861-DA42BFF11F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4b5aab8554c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0296" y="1662036"/>
            <a:ext cx="5244586" cy="3124932"/>
          </a:xfrm>
          <a:prstGeom xmlns:a="http://schemas.openxmlformats.org/drawingml/2006/main" prst="rect">
            <a:avLst/>
          </a:prstGeom>
        </p:spPr>
      </p:pic>
      <p:sp>
        <p:nvSpPr>
          <p:cNvPr id="6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969CFA1-AC62-4FDA-BD8B-D559493F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75" y="-144463"/>
            <a:ext cx="304800" cy="304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63034AE6-DC82-4C74-9140-FE758FBA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798" y="3899989"/>
            <a:ext cx="214398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Apodization</a:t>
            </a:r>
            <a:r>
              <a:t> </a:t>
            </a:r>
            <a:r>
              <a:t>function</a:t>
            </a:r>
            <a:endParaRPr/>
          </a:p>
        </p:txBody>
      </p:sp>
      <p:sp>
        <p:nvSpPr>
          <p:cNvPr id="10" name="Rectángulo redondeado 9">
            <a:extLst xmlns:a="http://schemas.openxmlformats.org/drawingml/2006/main">
              <a:ext uri="{FF2B5EF4-FFF2-40B4-BE49-F238E27FC236}">
                <a16:creationId xmlns:a16="http://schemas.microsoft.com/office/drawing/2014/main" id="{5B70D217-9CD6-4EEC-997E-55A1C64E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066" y="3186446"/>
            <a:ext cx="815618" cy="360059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38002113-F143-4CC1-9847-B7B55F46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967" y="2169043"/>
            <a:ext cx="3653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Delayed</a:t>
            </a:r>
            <a:r>
              <a:rPr sz="1600"/>
              <a:t> </a:t>
            </a:r>
            <a:r>
              <a:rPr sz="1600"/>
              <a:t>signals</a:t>
            </a:r>
            <a:r>
              <a:rPr sz="1600"/>
              <a:t> </a:t>
            </a:r>
            <a:r>
              <a:rPr sz="1600"/>
              <a:t>from</a:t>
            </a:r>
            <a:r>
              <a:rPr sz="1600"/>
              <a:t> </a:t>
            </a:r>
            <a:r>
              <a:rPr sz="1600"/>
              <a:t>each</a:t>
            </a:r>
            <a:r>
              <a:rPr sz="1600"/>
              <a:t> </a:t>
            </a:r>
            <a:r>
              <a:rPr sz="1600"/>
              <a:t>array</a:t>
            </a:r>
            <a:r>
              <a:rPr sz="1600"/>
              <a:t> </a:t>
            </a:r>
            <a:r>
              <a:rPr sz="1600"/>
              <a:t>element</a:t>
            </a:r>
            <a:r>
              <a:rPr sz="1600"/>
              <a:t> j</a:t>
            </a:r>
            <a:endParaRPr sz="1600"/>
          </a:p>
        </p:txBody>
      </p:sp>
      <p:cxnSp>
        <p:nvCxnSpPr>
          <p:cNvPr id="13" name="Conector recto de flecha 12">
            <a:extLst xmlns:a="http://schemas.openxmlformats.org/drawingml/2006/main">
              <a:ext uri="{FF2B5EF4-FFF2-40B4-BE49-F238E27FC236}">
                <a16:creationId xmlns:a16="http://schemas.microsoft.com/office/drawing/2014/main" id="{110DF8AC-4A66-4A39-BBD7-11FA4B240886}"/>
              </a:ext>
            </a:extLst>
          </p:cNvPr>
          <p:cNvCxnSpPr/>
          <p:nvPr/>
        </p:nvCxnSpPr>
        <p:spPr>
          <a:xfrm xmlns:a="http://schemas.openxmlformats.org/drawingml/2006/main" flipH="1">
            <a:off x="9913122" y="2435552"/>
            <a:ext cx="239282" cy="68639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Rectángulo redondeado 13">
            <a:extLst xmlns:a="http://schemas.openxmlformats.org/drawingml/2006/main">
              <a:ext uri="{FF2B5EF4-FFF2-40B4-BE49-F238E27FC236}">
                <a16:creationId xmlns:a16="http://schemas.microsoft.com/office/drawing/2014/main" id="{1576CBA4-25E4-42DD-909B-AA9362D9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919" y="3168219"/>
            <a:ext cx="1623701" cy="360059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CuadroTexto 14">
            <a:extLst xmlns:a="http://schemas.openxmlformats.org/drawingml/2006/main">
              <a:ext uri="{FF2B5EF4-FFF2-40B4-BE49-F238E27FC236}">
                <a16:creationId xmlns:a16="http://schemas.microsoft.com/office/drawing/2014/main" id="{7A9F7F5F-E198-4E22-B1FF-AE95C97D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383" y="714196"/>
            <a:ext cx="4427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Receive beamforming and apodization</a:t>
            </a:r>
            <a:endParaRPr b="1"/>
          </a:p>
        </p:txBody>
      </p:sp>
      <p:pic>
        <p:nvPicPr>
          <p:cNvPr id="17" name="Imagen 16">
            <a:extLst xmlns:a="http://schemas.openxmlformats.org/drawingml/2006/main">
              <a:ext uri="{FF2B5EF4-FFF2-40B4-BE49-F238E27FC236}">
                <a16:creationId xmlns:a16="http://schemas.microsoft.com/office/drawing/2014/main" id="{E4055CD0-FF25-4E47-8B93-C0096B7ED0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296854cda46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3307" y="3074134"/>
            <a:ext cx="3905250" cy="628650"/>
          </a:xfrm>
          <a:prstGeom xmlns:a="http://schemas.openxmlformats.org/drawingml/2006/main" prst="rect">
            <a:avLst/>
          </a:prstGeom>
        </p:spPr>
      </p:pic>
      <p:cxnSp>
        <p:nvCxnSpPr>
          <p:cNvPr id="3" name="Conector recto de flecha 2">
            <a:extLst xmlns:a="http://schemas.openxmlformats.org/drawingml/2006/main">
              <a:ext uri="{FF2B5EF4-FFF2-40B4-BE49-F238E27FC236}">
                <a16:creationId xmlns:a16="http://schemas.microsoft.com/office/drawing/2014/main" id="{637954B1-DBB0-401A-BBE8-B7BAC634B6B1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8921809" y="3546505"/>
            <a:ext cx="179462" cy="35348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3C4C037C-CDAE-42A5-A876-E7E992420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75b1fa3e154149"/>
          <a:srcRect xmlns:a="http://schemas.openxmlformats.org/drawingml/2006/main" l="1321" t="19367" r="71732" b="6409"/>
          <a:stretch xmlns:a="http://schemas.openxmlformats.org/drawingml/2006/main"/>
        </p:blipFill>
        <p:spPr>
          <a:xfrm xmlns:a="http://schemas.openxmlformats.org/drawingml/2006/main" rot="18328162" flipV="1">
            <a:off x="757630" y="38965"/>
            <a:ext cx="1146761" cy="2039449"/>
          </a:xfrm>
          <a:prstGeom xmlns:a="http://schemas.openxmlformats.org/drawingml/2006/main" prst="rect">
            <a:avLst/>
          </a:prstGeom>
        </p:spPr>
      </p:pic>
      <p:sp>
        <p:nvSpPr>
          <p:cNvPr id="8" name="Elipse 7">
            <a:extLst xmlns:a="http://schemas.openxmlformats.org/drawingml/2006/main">
              <a:ext uri="{FF2B5EF4-FFF2-40B4-BE49-F238E27FC236}">
                <a16:creationId xmlns:a16="http://schemas.microsoft.com/office/drawing/2014/main" id="{E60B139C-1D23-4B2A-A470-6C9293E8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302211">
            <a:off x="1484922" y="1352668"/>
            <a:ext cx="1144809" cy="365460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16" name="Conector recto de flecha 15">
            <a:extLst xmlns:a="http://schemas.openxmlformats.org/drawingml/2006/main">
              <a:ext uri="{FF2B5EF4-FFF2-40B4-BE49-F238E27FC236}">
                <a16:creationId xmlns:a16="http://schemas.microsoft.com/office/drawing/2014/main" id="{C12998A4-0B9B-4438-B91F-6F0BE5292313}"/>
              </a:ext>
            </a:extLst>
          </p:cNvPr>
          <p:cNvCxnSpPr>
            <a:stCxn xmlns:a="http://schemas.openxmlformats.org/drawingml/2006/main" id="8" idx="4"/>
          </p:cNvCxnSpPr>
          <p:nvPr/>
        </p:nvCxnSpPr>
        <p:spPr>
          <a:xfrm xmlns:a="http://schemas.openxmlformats.org/drawingml/2006/main">
            <a:off x="2206943" y="1640303"/>
            <a:ext cx="664444" cy="69269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6803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78BE057D-F442-4BDD-83CD-1F417D720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5ad20d84442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9871" y="3039601"/>
            <a:ext cx="3813162" cy="679644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CB5E72EF-8386-4068-92C2-013DC70B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798" y="3899989"/>
            <a:ext cx="192180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function</a:t>
            </a:r>
            <a:endParaRPr sz="1600"/>
          </a:p>
        </p:txBody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1EE274FC-780B-4079-B259-30B7C2E5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967" y="2169043"/>
            <a:ext cx="3653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Delayed</a:t>
            </a:r>
            <a:r>
              <a:rPr sz="1600"/>
              <a:t> </a:t>
            </a:r>
            <a:r>
              <a:rPr sz="1600"/>
              <a:t>signals</a:t>
            </a:r>
            <a:r>
              <a:rPr sz="1600"/>
              <a:t> </a:t>
            </a:r>
            <a:r>
              <a:rPr sz="1600"/>
              <a:t>from</a:t>
            </a:r>
            <a:r>
              <a:rPr sz="1600"/>
              <a:t> </a:t>
            </a:r>
            <a:r>
              <a:rPr sz="1600"/>
              <a:t>each</a:t>
            </a:r>
            <a:r>
              <a:rPr sz="1600"/>
              <a:t> </a:t>
            </a:r>
            <a:r>
              <a:rPr sz="1600"/>
              <a:t>array</a:t>
            </a:r>
            <a:r>
              <a:rPr sz="1600"/>
              <a:t> </a:t>
            </a:r>
            <a:r>
              <a:rPr sz="1600"/>
              <a:t>element</a:t>
            </a:r>
            <a:r>
              <a:rPr sz="1600"/>
              <a:t> j</a:t>
            </a:r>
            <a:endParaRPr sz="1600"/>
          </a:p>
        </p:txBody>
      </p:sp>
      <p:cxnSp>
        <p:nvCxnSpPr>
          <p:cNvPr id="13" name="Conector recto de flecha 12">
            <a:extLst xmlns:a="http://schemas.openxmlformats.org/drawingml/2006/main">
              <a:ext uri="{FF2B5EF4-FFF2-40B4-BE49-F238E27FC236}">
                <a16:creationId xmlns:a16="http://schemas.microsoft.com/office/drawing/2014/main" id="{65B0911C-BACE-4AFE-83CA-0581C337D2BA}"/>
              </a:ext>
            </a:extLst>
          </p:cNvPr>
          <p:cNvCxnSpPr/>
          <p:nvPr/>
        </p:nvCxnSpPr>
        <p:spPr>
          <a:xfrm xmlns:a="http://schemas.openxmlformats.org/drawingml/2006/main" flipH="1">
            <a:off x="9913122" y="2435552"/>
            <a:ext cx="239282" cy="68639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CuadroTexto 14">
            <a:extLst xmlns:a="http://schemas.openxmlformats.org/drawingml/2006/main">
              <a:ext uri="{FF2B5EF4-FFF2-40B4-BE49-F238E27FC236}">
                <a16:creationId xmlns:a16="http://schemas.microsoft.com/office/drawing/2014/main" id="{B6581615-CD8A-4A2E-A01D-8B62E2B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154" y="705651"/>
            <a:ext cx="522954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Apodization controls resolution and sidelobes</a:t>
            </a:r>
            <a:endParaRPr b="1"/>
          </a:p>
        </p:txBody>
      </p:sp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10CDBB07-EB8A-4644-AC6C-D982894A9A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708d7c75344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0196" y="1602971"/>
            <a:ext cx="6299439" cy="4199626"/>
          </a:xfrm>
          <a:prstGeom xmlns:a="http://schemas.openxmlformats.org/drawingml/2006/main" prst="rect">
            <a:avLst/>
          </a:prstGeom>
        </p:spPr>
      </p:pic>
      <p:sp>
        <p:nvSpPr>
          <p:cNvPr id="3" name="CuadroTexto 2">
            <a:extLst xmlns:a="http://schemas.openxmlformats.org/drawingml/2006/main">
              <a:ext uri="{FF2B5EF4-FFF2-40B4-BE49-F238E27FC236}">
                <a16:creationId xmlns:a16="http://schemas.microsoft.com/office/drawing/2014/main" id="{2C73D9C7-8B6A-438A-AA22-AEAC7520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266" y="5802597"/>
            <a:ext cx="2929255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Resolution and sidelobe trade-off</a:t>
            </a:r>
            <a:endParaRPr sz="1600"/>
          </a:p>
        </p:txBody>
      </p:sp>
      <p:cxnSp>
        <p:nvCxnSpPr>
          <p:cNvPr id="16" name="Conector recto de flecha 15">
            <a:extLst xmlns:a="http://schemas.openxmlformats.org/drawingml/2006/main">
              <a:ext uri="{FF2B5EF4-FFF2-40B4-BE49-F238E27FC236}">
                <a16:creationId xmlns:a16="http://schemas.microsoft.com/office/drawing/2014/main" id="{403FBBE7-D4FE-4D94-BB1A-C0AB99480FDF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8921809" y="3546505"/>
            <a:ext cx="179462" cy="35348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7761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E247DCC7-33A1-4B17-9098-AA75442C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958" y="739834"/>
            <a:ext cx="3030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Dynamic receive aperture</a:t>
            </a:r>
            <a:endParaRPr b="1"/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61941322-0AA0-473B-B148-F2E9E895EC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cfbacb4df48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687386" y="1939897"/>
            <a:ext cx="8407840" cy="3179034"/>
          </a:xfrm>
          <a:prstGeom xmlns:a="http://schemas.openxmlformats.org/drawingml/2006/main" prst="rect">
            <a:avLst/>
          </a:prstGeom>
        </p:spPr>
      </p:pic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C546B39B-B3A2-492D-BB60-1CB15F34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811" y="5498159"/>
            <a:ext cx="5183505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F-number controls the active subaperture at each focal point</a:t>
            </a:r>
            <a:endParaRPr sz="1600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F8B19CEB-26DA-4C38-9261-96C566A567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4650491b04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56218" y="1688442"/>
            <a:ext cx="1182213" cy="224318"/>
          </a:xfrm>
          <a:prstGeom xmlns:a="http://schemas.openxmlformats.org/drawingml/2006/main" prst="rect">
            <a:avLst/>
          </a:prstGeom>
        </p:spPr>
      </p:pic>
      <p:pic>
        <p:nvPicPr>
          <p:cNvPr id="6" name="Imagen 5">
            <a:extLst xmlns:a="http://schemas.openxmlformats.org/drawingml/2006/main">
              <a:ext uri="{FF2B5EF4-FFF2-40B4-BE49-F238E27FC236}">
                <a16:creationId xmlns:a16="http://schemas.microsoft.com/office/drawing/2014/main" id="{10676F99-8C79-461C-8EE9-DD6204756A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bb3c2af2d4a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2248" y="5070110"/>
            <a:ext cx="626646" cy="1854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73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D578570E-72A5-4CD0-A7A7-8DDA62A9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470566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Learning continuous apodization weights</a:t>
            </a:r>
            <a:endParaRPr b="1"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50C09833-63BB-47BD-BE7D-9B234BD0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223" y="4570411"/>
            <a:ext cx="855672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Delaunay et al., IEEE IUS 2025. doi:10.1109/IUS62464.2025.11201299</a:t>
            </a:r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30B0FD38-579A-4353-AD1C-994502EB99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cf1dafb4e48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2561" y="1929952"/>
            <a:ext cx="8711939" cy="24569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81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9B409183-B7FB-4E49-A8C0-70A91AB7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35086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997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Null Subtraction Imaging (NSI)</a:t>
            </a:r>
            <a:endParaRPr b="1"/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E270B43B-E9E8-4D3F-93BA-DB8C894A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7" y="6163680"/>
            <a:ext cx="97706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al., IEEE TUFFC 66(1), 5–17 (2019). doi:10.1109/TUFFC.2018.2876285</a:t>
            </a: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792A3CA5-C534-4DF0-87D1-07533AFAA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a456a105f94bdd"/>
          <a:srcRect xmlns:a="http://schemas.openxmlformats.org/drawingml/2006/main" l="0" t="0" r="0" b="5783"/>
          <a:stretch xmlns:a="http://schemas.openxmlformats.org/drawingml/2006/main"/>
        </p:blipFill>
        <p:spPr>
          <a:xfrm xmlns:a="http://schemas.openxmlformats.org/drawingml/2006/main">
            <a:off x="1079496" y="2347202"/>
            <a:ext cx="5052394" cy="2818796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FC274B53-058A-43D9-81CB-A6BB10945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7cdea37c442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428" y="2129863"/>
            <a:ext cx="4351972" cy="3424924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D53C08F5-D035-4DD1-A7BA-DC30AB1E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164" y="1555625"/>
            <a:ext cx="50136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 (2019): complementary receive apodizations</a:t>
            </a:r>
            <a:endParaRPr sz="1600" b="1"/>
          </a:p>
        </p:txBody>
      </p:sp>
      <p:sp>
        <p:nvSpPr>
          <p:cNvPr id="10" name="CuadroTexto 9">
            <a:extLst xmlns:a="http://schemas.openxmlformats.org/drawingml/2006/main">
              <a:ext uri="{FF2B5EF4-FFF2-40B4-BE49-F238E27FC236}">
                <a16:creationId xmlns:a16="http://schemas.microsoft.com/office/drawing/2014/main" id="{4F0AC628-8894-452C-B4BA-BCF96099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706" y="5370121"/>
            <a:ext cx="56137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Null</a:t>
            </a:r>
            <a:endParaRPr/>
          </a:p>
        </p:txBody>
      </p:sp>
      <p:cxnSp>
        <p:nvCxnSpPr>
          <p:cNvPr id="12" name="Conector recto de flecha 11">
            <a:extLst xmlns:a="http://schemas.openxmlformats.org/drawingml/2006/main">
              <a:ext uri="{FF2B5EF4-FFF2-40B4-BE49-F238E27FC236}">
                <a16:creationId xmlns:a16="http://schemas.microsoft.com/office/drawing/2014/main" id="{434C2F76-D888-4F04-963F-A12D7E333876}"/>
              </a:ext>
            </a:extLst>
          </p:cNvPr>
          <p:cNvCxnSpPr/>
          <p:nvPr/>
        </p:nvCxnSpPr>
        <p:spPr>
          <a:xfrm xmlns:a="http://schemas.openxmlformats.org/drawingml/2006/main" flipV="1">
            <a:off x="7266296" y="4632431"/>
            <a:ext cx="1531022" cy="866487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66D6CF30-B344-423F-A43D-61FA201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22" y="2223743"/>
            <a:ext cx="284885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inside</a:t>
            </a:r>
            <a:r>
              <a:rPr sz="1600"/>
              <a:t> sub-</a:t>
            </a:r>
            <a:r>
              <a:rPr sz="1600"/>
              <a:t>aperture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64186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D762DEE5-AA2D-4120-8E60-B3F6DD58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35086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997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Null Subtraction Imaging (NSI)</a:t>
            </a:r>
            <a:endParaRPr b="1"/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73EE67A-7B97-4812-8AC8-2838A2E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7" y="6163680"/>
            <a:ext cx="97706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al., IEEE TUFFC 66(1), 5–17 (2019). doi:10.1109/TUFFC.2018.2876285</a:t>
            </a: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4AF1C72A-7B91-4D6F-A7A5-4B9007DD4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f46319ec5a4f7f"/>
          <a:srcRect xmlns:a="http://schemas.openxmlformats.org/drawingml/2006/main" l="0" t="0" r="0" b="5783"/>
          <a:stretch xmlns:a="http://schemas.openxmlformats.org/drawingml/2006/main"/>
        </p:blipFill>
        <p:spPr>
          <a:xfrm xmlns:a="http://schemas.openxmlformats.org/drawingml/2006/main">
            <a:off x="1079496" y="2347202"/>
            <a:ext cx="5052394" cy="2818796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E537952C-D7C0-4FE8-B472-077C28BB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164" y="1555625"/>
            <a:ext cx="50136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 (2019): complementary receive apodizations</a:t>
            </a:r>
            <a:endParaRPr sz="1600" b="1"/>
          </a:p>
        </p:txBody>
      </p: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69C8588A-447B-45C3-A499-57CAF142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22" y="2223743"/>
            <a:ext cx="284885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inside</a:t>
            </a:r>
            <a:r>
              <a:rPr sz="1600"/>
              <a:t> sub-</a:t>
            </a:r>
            <a:r>
              <a:rPr sz="1600"/>
              <a:t>aperture</a:t>
            </a:r>
            <a:endParaRPr sz="1600"/>
          </a:p>
        </p:txBody>
      </p:sp>
      <p:pic>
        <p:nvPicPr>
          <p:cNvPr id="11" name="Imagen 10">
            <a:extLst xmlns:a="http://schemas.openxmlformats.org/drawingml/2006/main">
              <a:ext uri="{FF2B5EF4-FFF2-40B4-BE49-F238E27FC236}">
                <a16:creationId xmlns:a16="http://schemas.microsoft.com/office/drawing/2014/main" id="{41ED929B-791E-4CD6-922C-572F85FE7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fda0417cc42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3524" y="2591648"/>
            <a:ext cx="5693383" cy="2048794"/>
          </a:xfrm>
          <a:prstGeom xmlns:a="http://schemas.openxmlformats.org/drawingml/2006/main" prst="rect">
            <a:avLst/>
          </a:prstGeom>
        </p:spPr>
      </p:pic>
      <p:sp>
        <p:nvSpPr>
          <p:cNvPr id="6" name="Elipse 5">
            <a:extLst xmlns:a="http://schemas.openxmlformats.org/drawingml/2006/main">
              <a:ext uri="{FF2B5EF4-FFF2-40B4-BE49-F238E27FC236}">
                <a16:creationId xmlns:a16="http://schemas.microsoft.com/office/drawing/2014/main" id="{5DB018DF-16F4-4776-A417-FAF7B907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22" y="3367043"/>
            <a:ext cx="564022" cy="905854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CuadroTexto 13">
            <a:extLst xmlns:a="http://schemas.openxmlformats.org/drawingml/2006/main">
              <a:ext uri="{FF2B5EF4-FFF2-40B4-BE49-F238E27FC236}">
                <a16:creationId xmlns:a16="http://schemas.microsoft.com/office/drawing/2014/main" id="{760EEE72-DD34-4550-B816-588F221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129" y="2374571"/>
            <a:ext cx="171700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Beam</a:t>
            </a:r>
            <a:r>
              <a:rPr sz="1600"/>
              <a:t> </a:t>
            </a:r>
            <a:r>
              <a:rPr sz="1600"/>
              <a:t>profile</a:t>
            </a:r>
            <a:r>
              <a:rPr sz="1600"/>
              <a:t> / PSF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285843560"/>
      </p:ext>
    </p:extLst>
  </p:cSld>
</p:sld>
</file>

<file path=ppt/slides/slide8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18A08EB0-6A9F-4031-BD32-7A8363FA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35086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997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Null Subtraction Imaging (NSI)</a:t>
            </a:r>
            <a:endParaRPr b="1"/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03B6050-DAEE-4764-8058-CBA1CC24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7" y="6163680"/>
            <a:ext cx="97706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al., IEEE TUFFC 66(1), 5–17 (2019). doi:10.1109/TUFFC.2018.2876285</a:t>
            </a: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9A622687-8A9E-4A92-B9E3-1772BAF311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c76da5cded4407"/>
          <a:srcRect xmlns:a="http://schemas.openxmlformats.org/drawingml/2006/main" l="0" t="0" r="0" b="5783"/>
          <a:stretch xmlns:a="http://schemas.openxmlformats.org/drawingml/2006/main"/>
        </p:blipFill>
        <p:spPr>
          <a:xfrm xmlns:a="http://schemas.openxmlformats.org/drawingml/2006/main">
            <a:off x="1079496" y="2347202"/>
            <a:ext cx="5052394" cy="2818796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9B8C7B18-4E29-46F2-8D8E-E2083AAA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164" y="1555625"/>
            <a:ext cx="50136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 (2019): complementary receive apodizations</a:t>
            </a:r>
            <a:endParaRPr sz="1600" b="1"/>
          </a:p>
        </p:txBody>
      </p: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A493C281-91EC-4E70-A67B-CACD2C80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22" y="2223743"/>
            <a:ext cx="284885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inside</a:t>
            </a:r>
            <a:r>
              <a:rPr sz="1600"/>
              <a:t> sub-</a:t>
            </a:r>
            <a:r>
              <a:rPr sz="1600"/>
              <a:t>aperture</a:t>
            </a:r>
            <a:endParaRPr sz="1600"/>
          </a:p>
        </p:txBody>
      </p:sp>
      <p:sp>
        <p:nvSpPr>
          <p:cNvPr id="14" name="CuadroTexto 13">
            <a:extLst xmlns:a="http://schemas.openxmlformats.org/drawingml/2006/main">
              <a:ext uri="{FF2B5EF4-FFF2-40B4-BE49-F238E27FC236}">
                <a16:creationId xmlns:a16="http://schemas.microsoft.com/office/drawing/2014/main" id="{38C4EACB-1D0B-4FA9-B0A8-C68E94D7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129" y="2374571"/>
            <a:ext cx="171700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Beam</a:t>
            </a:r>
            <a:r>
              <a:rPr sz="1600"/>
              <a:t> </a:t>
            </a:r>
            <a:r>
              <a:rPr sz="1600"/>
              <a:t>profile</a:t>
            </a:r>
            <a:r>
              <a:rPr sz="1600"/>
              <a:t> / PSF</a:t>
            </a:r>
            <a:endParaRPr sz="1600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75C7FED7-8164-4180-BEE9-B8CEDFD1BB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573af9dda4b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2059" y="2713125"/>
            <a:ext cx="3720005" cy="31930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09617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877D38B7-AE30-4F55-AB05-E8501759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143" y="714196"/>
            <a:ext cx="542058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A </a:t>
            </a:r>
            <a:r>
              <a:rPr b="1"/>
              <a:t>problem</a:t>
            </a:r>
            <a:r>
              <a:rPr b="1"/>
              <a:t>: sub-</a:t>
            </a:r>
            <a:r>
              <a:rPr b="1"/>
              <a:t>aperture</a:t>
            </a:r>
            <a:r>
              <a:rPr b="1"/>
              <a:t> </a:t>
            </a:r>
            <a:r>
              <a:rPr b="1"/>
              <a:t>reduction</a:t>
            </a:r>
            <a:r>
              <a:rPr b="1"/>
              <a:t> </a:t>
            </a:r>
            <a:r>
              <a:rPr b="1"/>
              <a:t>close</a:t>
            </a:r>
            <a:r>
              <a:rPr b="1"/>
              <a:t> to </a:t>
            </a:r>
            <a:r>
              <a:rPr b="1"/>
              <a:t>array</a:t>
            </a:r>
            <a:r>
              <a:rPr b="1"/>
              <a:t> </a:t>
            </a:r>
            <a:r>
              <a:rPr b="1"/>
              <a:t>edges</a:t>
            </a:r>
            <a:endParaRPr b="1"/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38A6C1EF-430F-4492-A0C6-CF923C8B2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5065a87d64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173" y="1848947"/>
            <a:ext cx="3240000" cy="2753607"/>
          </a:xfrm>
          <a:prstGeom xmlns:a="http://schemas.openxmlformats.org/drawingml/2006/main" prst="rect">
            <a:avLst/>
          </a:prstGeom>
        </p:spPr>
      </p:pic>
      <p:pic>
        <p:nvPicPr>
          <p:cNvPr id="10" name="Imagen 9">
            <a:extLst xmlns:a="http://schemas.openxmlformats.org/drawingml/2006/main">
              <a:ext uri="{FF2B5EF4-FFF2-40B4-BE49-F238E27FC236}">
                <a16:creationId xmlns:a16="http://schemas.microsoft.com/office/drawing/2014/main" id="{15C2F51E-0F98-4B7B-BECB-7E9DD6776A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5b53993ee49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6144" y="2160927"/>
            <a:ext cx="3240000" cy="2441627"/>
          </a:xfrm>
          <a:prstGeom xmlns:a="http://schemas.openxmlformats.org/drawingml/2006/main" prst="rect">
            <a:avLst/>
          </a:prstGeom>
        </p:spPr>
      </p:pic>
      <p:cxnSp>
        <p:nvCxnSpPr>
          <p:cNvPr id="4" name="Conector recto de flecha 3">
            <a:extLst xmlns:a="http://schemas.openxmlformats.org/drawingml/2006/main">
              <a:ext uri="{FF2B5EF4-FFF2-40B4-BE49-F238E27FC236}">
                <a16:creationId xmlns:a16="http://schemas.microsoft.com/office/drawing/2014/main" id="{62D1561F-D933-4500-B602-88FEE7AA091A}"/>
              </a:ext>
            </a:extLst>
          </p:cNvPr>
          <p:cNvCxnSpPr/>
          <p:nvPr/>
        </p:nvCxnSpPr>
        <p:spPr>
          <a:xfrm xmlns:a="http://schemas.openxmlformats.org/drawingml/2006/main" flipH="1">
            <a:off x="7093009" y="1848947"/>
            <a:ext cx="170916" cy="31198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" name="Conector recto de flecha 5">
            <a:extLst xmlns:a="http://schemas.openxmlformats.org/drawingml/2006/main">
              <a:ext uri="{FF2B5EF4-FFF2-40B4-BE49-F238E27FC236}">
                <a16:creationId xmlns:a16="http://schemas.microsoft.com/office/drawing/2014/main" id="{D451D66D-A34A-4DA3-B4DC-BF7C268190F1}"/>
              </a:ext>
            </a:extLst>
          </p:cNvPr>
          <p:cNvCxnSpPr>
            <a:stCxn xmlns:a="http://schemas.openxmlformats.org/drawingml/2006/main" id="7" idx="3"/>
          </p:cNvCxnSpPr>
          <p:nvPr/>
        </p:nvCxnSpPr>
        <p:spPr>
          <a:xfrm xmlns:a="http://schemas.openxmlformats.org/drawingml/2006/main">
            <a:off x="8568944" y="1709159"/>
            <a:ext cx="1467200" cy="45176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CuadroTexto 6">
            <a:extLst xmlns:a="http://schemas.openxmlformats.org/drawingml/2006/main">
              <a:ext uri="{FF2B5EF4-FFF2-40B4-BE49-F238E27FC236}">
                <a16:creationId xmlns:a16="http://schemas.microsoft.com/office/drawing/2014/main" id="{F89E707C-7484-48B0-B5D3-41E94F0A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611" y="1555270"/>
            <a:ext cx="1309333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Aperture edges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999257539"/>
      </p:ext>
    </p:extLst>
  </p:cSld>
</p:sld>
</file>

<file path=ppt/slides/slide1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9E75A5C1-49A4-482D-8B42-B6846304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143" y="714196"/>
            <a:ext cx="542058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A </a:t>
            </a:r>
            <a:r>
              <a:rPr b="1"/>
              <a:t>problem</a:t>
            </a:r>
            <a:r>
              <a:rPr b="1"/>
              <a:t>: sub-</a:t>
            </a:r>
            <a:r>
              <a:rPr b="1"/>
              <a:t>aperture</a:t>
            </a:r>
            <a:r>
              <a:rPr b="1"/>
              <a:t> </a:t>
            </a:r>
            <a:r>
              <a:rPr b="1"/>
              <a:t>reduction</a:t>
            </a:r>
            <a:r>
              <a:rPr b="1"/>
              <a:t> </a:t>
            </a:r>
            <a:r>
              <a:rPr b="1"/>
              <a:t>close</a:t>
            </a:r>
            <a:r>
              <a:rPr b="1"/>
              <a:t> to </a:t>
            </a:r>
            <a:r>
              <a:rPr b="1"/>
              <a:t>array</a:t>
            </a:r>
            <a:r>
              <a:rPr b="1"/>
              <a:t> </a:t>
            </a:r>
            <a:r>
              <a:rPr b="1"/>
              <a:t>edges</a:t>
            </a:r>
            <a:endParaRPr b="1"/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B2DCBE42-2969-49BC-9BBE-DDA47F8CEB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4bef3155e41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173" y="1848947"/>
            <a:ext cx="3240000" cy="2753607"/>
          </a:xfrm>
          <a:prstGeom xmlns:a="http://schemas.openxmlformats.org/drawingml/2006/main" prst="rect">
            <a:avLst/>
          </a:prstGeom>
        </p:spPr>
      </p:pic>
      <p:pic>
        <p:nvPicPr>
          <p:cNvPr id="10" name="Imagen 9">
            <a:extLst xmlns:a="http://schemas.openxmlformats.org/drawingml/2006/main">
              <a:ext uri="{FF2B5EF4-FFF2-40B4-BE49-F238E27FC236}">
                <a16:creationId xmlns:a16="http://schemas.microsoft.com/office/drawing/2014/main" id="{23E63987-D862-4045-B842-2039316FC2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ea9f5ebc740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928" y="2182669"/>
            <a:ext cx="3347668" cy="24353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066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68F78975-A1A8-49F1-996F-53306A1F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143" y="714196"/>
            <a:ext cx="46056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Aperture clipping near array boundaries</a:t>
            </a:r>
            <a:endParaRPr b="1"/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EC414384-E9E0-438D-8D5A-19F8133103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2dfd13a3d4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173" y="1848947"/>
            <a:ext cx="3240000" cy="2753607"/>
          </a:xfrm>
          <a:prstGeom xmlns:a="http://schemas.openxmlformats.org/drawingml/2006/main" prst="rect">
            <a:avLst/>
          </a:prstGeom>
        </p:spPr>
      </p:pic>
      <p:pic>
        <p:nvPicPr>
          <p:cNvPr id="10" name="Imagen 9">
            <a:extLst xmlns:a="http://schemas.openxmlformats.org/drawingml/2006/main">
              <a:ext uri="{FF2B5EF4-FFF2-40B4-BE49-F238E27FC236}">
                <a16:creationId xmlns:a16="http://schemas.microsoft.com/office/drawing/2014/main" id="{A0B42EF1-5A6F-4B68-B131-2E11967495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12b69db0441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928" y="2182669"/>
            <a:ext cx="3347668" cy="2435370"/>
          </a:xfrm>
          <a:prstGeom xmlns:a="http://schemas.openxmlformats.org/drawingml/2006/main" prst="rect">
            <a:avLst/>
          </a:prstGeom>
        </p:spPr>
      </p:pic>
      <p:sp>
        <p:nvSpPr>
          <p:cNvPr id="3" name="CuadroTexto 2">
            <a:extLst xmlns:a="http://schemas.openxmlformats.org/drawingml/2006/main">
              <a:ext uri="{FF2B5EF4-FFF2-40B4-BE49-F238E27FC236}">
                <a16:creationId xmlns:a16="http://schemas.microsoft.com/office/drawing/2014/main" id="{4D5DCDB3-C155-49A3-8C8A-47FE13C1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122" y="1664281"/>
            <a:ext cx="3588067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Symmetric clipping preserves the NSI null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2525062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80C3A7D5-745A-4EA8-9234-8425AE45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505" y="830026"/>
            <a:ext cx="45802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Learned apodization fusion architecture</a:t>
            </a:r>
            <a:endParaRPr b="1"/>
          </a:p>
        </p:txBody>
      </p:sp>
      <p:pic>
        <p:nvPicPr>
          <p:cNvPr id="6" name="Imagen 5">
            <a:extLst xmlns:a="http://schemas.openxmlformats.org/drawingml/2006/main">
              <a:ext uri="{FF2B5EF4-FFF2-40B4-BE49-F238E27FC236}">
                <a16:creationId xmlns:a16="http://schemas.microsoft.com/office/drawing/2014/main" id="{66079BB1-FB85-4FC6-82D4-1552B5D0BA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1776d3eac4d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9499" y="2287827"/>
            <a:ext cx="8896172" cy="2625653"/>
          </a:xfrm>
          <a:prstGeom xmlns:a="http://schemas.openxmlformats.org/drawingml/2006/main" prst="rect">
            <a:avLst/>
          </a:prstGeom>
        </p:spPr>
      </p:pic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C9487CCA-349C-4216-A2B5-BE973409F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4f0a4a4a34f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6767" y="1500920"/>
            <a:ext cx="2076404" cy="288823"/>
          </a:xfrm>
          <a:prstGeom xmlns:a="http://schemas.openxmlformats.org/drawingml/2006/main" prst="rect">
            <a:avLst/>
          </a:prstGeom>
        </p:spPr>
      </p:pic>
      <p:cxnSp>
        <p:nvCxnSpPr>
          <p:cNvPr id="10" name="Conector recto de flecha 9">
            <a:extLst xmlns:a="http://schemas.openxmlformats.org/drawingml/2006/main">
              <a:ext uri="{FF2B5EF4-FFF2-40B4-BE49-F238E27FC236}">
                <a16:creationId xmlns:a16="http://schemas.microsoft.com/office/drawing/2014/main" id="{856F9401-87FD-4B41-8781-5BBF1F02AE68}"/>
              </a:ext>
            </a:extLst>
          </p:cNvPr>
          <p:cNvCxnSpPr/>
          <p:nvPr/>
        </p:nvCxnSpPr>
        <p:spPr>
          <a:xfrm xmlns:a="http://schemas.openxmlformats.org/drawingml/2006/main">
            <a:off x="6238430" y="1136591"/>
            <a:ext cx="153824" cy="4443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" name="Conector recto de flecha 11">
            <a:extLst xmlns:a="http://schemas.openxmlformats.org/drawingml/2006/main">
              <a:ext uri="{FF2B5EF4-FFF2-40B4-BE49-F238E27FC236}">
                <a16:creationId xmlns:a16="http://schemas.microsoft.com/office/drawing/2014/main" id="{FE5FD48D-D140-43C0-996C-572494B2065E}"/>
              </a:ext>
            </a:extLst>
          </p:cNvPr>
          <p:cNvCxnSpPr/>
          <p:nvPr/>
        </p:nvCxnSpPr>
        <p:spPr>
          <a:xfrm xmlns:a="http://schemas.openxmlformats.org/drawingml/2006/main">
            <a:off x="7272471" y="1136591"/>
            <a:ext cx="1316052" cy="170915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CuadroTexto 15">
            <a:extLst xmlns:a="http://schemas.openxmlformats.org/drawingml/2006/main">
              <a:ext uri="{FF2B5EF4-FFF2-40B4-BE49-F238E27FC236}">
                <a16:creationId xmlns:a16="http://schemas.microsoft.com/office/drawing/2014/main" id="{E69ADDFC-83AE-4BA8-AD13-35A1CECE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Evaluated model</a:t>
            </a:r>
            <a:endParaRPr/>
          </a:p>
          <a:p xmlns:a="http://schemas.openxmlformats.org/drawingml/2006/main">
            <a:pPr algn="ctr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 20260520_151111</a:t>
            </a:r>
            <a:endParaRPr/>
          </a:p>
        </p:txBody>
      </p:sp>
      <p:sp>
        <p:nvSpPr>
          <p:cNvPr id="17" name="CuadroTexto 16">
            <a:extLst xmlns:a="http://schemas.openxmlformats.org/drawingml/2006/main">
              <a:ext uri="{FF2B5EF4-FFF2-40B4-BE49-F238E27FC236}">
                <a16:creationId xmlns:a16="http://schemas.microsoft.com/office/drawing/2014/main" id="{1F9BA8C2-C9C2-4B34-A06F-F2489785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106" y="5512037"/>
            <a:ext cx="294036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[4 features, 16, 8, 4, 2 apodizations]</a:t>
            </a:r>
            <a:endParaRPr/>
          </a:p>
        </p:txBody>
      </p:sp>
      <p:sp>
        <p:nvSpPr>
          <p:cNvPr id="18" name="CuadroTexto 17">
            <a:extLst xmlns:a="http://schemas.openxmlformats.org/drawingml/2006/main">
              <a:ext uri="{FF2B5EF4-FFF2-40B4-BE49-F238E27FC236}">
                <a16:creationId xmlns:a16="http://schemas.microsoft.com/office/drawing/2014/main" id="{4EB894A9-4505-42BA-B666-5AFF204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497" y="5512037"/>
            <a:ext cx="225456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[2 images, 2, 1 final image]</a:t>
            </a:r>
            <a:endParaRPr/>
          </a:p>
        </p:txBody>
      </p:sp>
      <p:cxnSp>
        <p:nvCxnSpPr>
          <p:cNvPr id="20" name="Conector recto de flecha 19">
            <a:extLst xmlns:a="http://schemas.openxmlformats.org/drawingml/2006/main">
              <a:ext uri="{FF2B5EF4-FFF2-40B4-BE49-F238E27FC236}">
                <a16:creationId xmlns:a16="http://schemas.microsoft.com/office/drawing/2014/main" id="{815307B5-DF24-4294-846D-A01387C096FB}"/>
              </a:ext>
            </a:extLst>
          </p:cNvPr>
          <p:cNvCxnSpPr/>
          <p:nvPr/>
        </p:nvCxnSpPr>
        <p:spPr>
          <a:xfrm xmlns:a="http://schemas.openxmlformats.org/drawingml/2006/main">
            <a:off x="3700329" y="4802736"/>
            <a:ext cx="25637" cy="54693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2" name="Conector recto de flecha 21">
            <a:extLst xmlns:a="http://schemas.openxmlformats.org/drawingml/2006/main">
              <a:ext uri="{FF2B5EF4-FFF2-40B4-BE49-F238E27FC236}">
                <a16:creationId xmlns:a16="http://schemas.microsoft.com/office/drawing/2014/main" id="{2452EC4B-213B-4A22-A1B3-941205051A65}"/>
              </a:ext>
            </a:extLst>
          </p:cNvPr>
          <p:cNvCxnSpPr/>
          <p:nvPr/>
        </p:nvCxnSpPr>
        <p:spPr>
          <a:xfrm xmlns:a="http://schemas.openxmlformats.org/drawingml/2006/main">
            <a:off x="8981630" y="4349809"/>
            <a:ext cx="162370" cy="99985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3" name="feature-label-background">
            <a:extLst xmlns:a="http://schemas.openxmlformats.org/drawingml/2006/main">
              <a:ext uri="{FF2B5EF4-FFF2-40B4-BE49-F238E27FC236}">
                <a16:creationId xmlns:a16="http://schemas.microsoft.com/office/drawing/2014/main" id="{1D8B1596-B25C-40BE-B0A3-18267B6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819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valuated-feature-labels">
            <a:extLst xmlns:a="http://schemas.openxmlformats.org/drawingml/2006/main">
              <a:ext uri="{FF2B5EF4-FFF2-40B4-BE49-F238E27FC236}">
                <a16:creationId xmlns:a16="http://schemas.microsoft.com/office/drawing/2014/main" id="{F20AAECC-775A-4625-BBAE-82AF476E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43250"/>
            <a:ext cx="781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|x_rel| / z</a:t>
            </a:r>
          </a:p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|x| / z</a:t>
            </a:r>
          </a:p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</a:t>
            </a:r>
          </a:p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x_rel x / z²</a:t>
            </a:r>
          </a:p>
        </p:txBody>
      </p:sp>
      <p:sp>
        <p:nvSpPr>
          <p:cNvPr id="25" name="hide-unused-third-channel">
            <a:extLst xmlns:a="http://schemas.openxmlformats.org/drawingml/2006/main">
              <a:ext uri="{FF2B5EF4-FFF2-40B4-BE49-F238E27FC236}">
                <a16:creationId xmlns:a16="http://schemas.microsoft.com/office/drawing/2014/main" id="{96C3A247-4FC6-422C-ACAE-BFDFD214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052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2995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5B5AD20F-0697-460E-A0BB-3ECA7908C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a42b8b59ee423b"/>
          <a:srcRect xmlns:a="http://schemas.openxmlformats.org/drawingml/2006/main" l="0" t="7191" r="52746" b="46816"/>
          <a:stretch xmlns:a="http://schemas.openxmlformats.org/drawingml/2006/main"/>
        </p:blipFill>
        <p:spPr>
          <a:xfrm xmlns:a="http://schemas.openxmlformats.org/drawingml/2006/main">
            <a:off x="1880171" y="1160980"/>
            <a:ext cx="3801438" cy="3700000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4FBA6E12-06D3-4A20-AFD6-9B764C48EB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a42b8b59ee423b"/>
          <a:srcRect xmlns:a="http://schemas.openxmlformats.org/drawingml/2006/main" l="46654" t="53034" r="7952" b="0"/>
          <a:stretch xmlns:a="http://schemas.openxmlformats.org/drawingml/2006/main"/>
        </p:blipFill>
        <p:spPr>
          <a:xfrm xmlns:a="http://schemas.openxmlformats.org/drawingml/2006/main">
            <a:off x="5917914" y="1160980"/>
            <a:ext cx="3664187" cy="3791164"/>
          </a:xfrm>
          <a:prstGeom xmlns:a="http://schemas.openxmlformats.org/drawingml/2006/main" prst="rect">
            <a:avLst/>
          </a:prstGeom>
        </p:spPr>
      </p:pic>
      <p:sp>
        <p:nvSpPr>
          <p:cNvPr id="6" name="CuadroTexto 5">
            <a:extLst xmlns:a="http://schemas.openxmlformats.org/drawingml/2006/main">
              <a:ext uri="{FF2B5EF4-FFF2-40B4-BE49-F238E27FC236}">
                <a16:creationId xmlns:a16="http://schemas.microsoft.com/office/drawing/2014/main" id="{0F2422E0-E6E5-4BDD-A628-BC5F7FD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017" y="665640"/>
            <a:ext cx="38039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Synthetic training target and loss</a:t>
            </a:r>
            <a:endParaRPr b="1"/>
          </a:p>
        </p:txBody>
      </p:sp>
      <p:sp>
        <p:nvSpPr>
          <p:cNvPr id="7" name="CuadroTexto 6">
            <a:extLst xmlns:a="http://schemas.openxmlformats.org/drawingml/2006/main">
              <a:ext uri="{FF2B5EF4-FFF2-40B4-BE49-F238E27FC236}">
                <a16:creationId xmlns:a16="http://schemas.microsoft.com/office/drawing/2014/main" id="{FBC772CA-FC67-432F-9337-C9FE2530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495" y="5280917"/>
            <a:ext cx="9380306" cy="1318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Plane-wave simulations generated with PyMUST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Target: |I_DAS| multiplied by Gaussian masks centred on the reflectors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Loss: reflector-weighted MAE in linear amplitude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objective does not directly optimise FWHM, sidelobes, CNR or gCNR</a:t>
            </a:r>
          </a:p>
        </p:txBody>
      </p:sp>
    </p:spTree>
    <p:extLst>
      <p:ext uri="{BB962C8B-B14F-4D97-AF65-F5344CB8AC3E}">
        <p14:creationId xmlns:p14="http://schemas.microsoft.com/office/powerpoint/2010/main" val="29378007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uadroTexto 5">
            <a:extLst xmlns:a="http://schemas.openxmlformats.org/drawingml/2006/main">
              <a:ext uri="{FF2B5EF4-FFF2-40B4-BE49-F238E27FC236}">
                <a16:creationId xmlns:a16="http://schemas.microsoft.com/office/drawing/2014/main" id="{813A7009-A788-456E-800C-A29AD5F3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25" y="717011"/>
            <a:ext cx="441356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Numerical phantom: lateral resolution</a:t>
            </a:r>
            <a:endParaRPr b="1"/>
          </a:p>
        </p:txBody>
      </p:sp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D0AF9F9D-E925-4CBE-9594-8E3985D24F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ed1ee8b9e43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252" y="1306133"/>
            <a:ext cx="10950751" cy="2920200"/>
          </a:xfrm>
          <a:prstGeom xmlns:a="http://schemas.openxmlformats.org/drawingml/2006/main" prst="rect">
            <a:avLst/>
          </a:prstGeom>
        </p:spPr>
      </p:pic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D5CCA93C-E03F-4084-A7D3-6DDFCD71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07032" y="1510301"/>
            <a:ext cx="0" cy="2424703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731C87CB-F1A7-4FFB-83A7-00C7A97B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467" y="1125899"/>
            <a:ext cx="129095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99887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array boundary</a:t>
            </a:r>
            <a:endParaRPr sz="1600"/>
          </a:p>
        </p:txBody>
      </p:sp>
      <p:pic>
        <p:nvPicPr>
          <p:cNvPr id="12" name="Imagen 11">
            <a:extLst xmlns:a="http://schemas.openxmlformats.org/drawingml/2006/main">
              <a:ext uri="{FF2B5EF4-FFF2-40B4-BE49-F238E27FC236}">
                <a16:creationId xmlns:a16="http://schemas.microsoft.com/office/drawing/2014/main" id="{07FC1217-9475-47E7-AC52-C5E9370AE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5f49999a94a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4325" y="4452744"/>
            <a:ext cx="3240000" cy="2160000"/>
          </a:xfrm>
          <a:prstGeom xmlns:a="http://schemas.openxmlformats.org/drawingml/2006/main" prst="rect">
            <a:avLst/>
          </a:prstGeom>
        </p:spPr>
      </p:pic>
      <p:pic>
        <p:nvPicPr>
          <p:cNvPr id="13" name="Imagen 12">
            <a:extLst xmlns:a="http://schemas.openxmlformats.org/drawingml/2006/main">
              <a:ext uri="{FF2B5EF4-FFF2-40B4-BE49-F238E27FC236}">
                <a16:creationId xmlns:a16="http://schemas.microsoft.com/office/drawing/2014/main" id="{4CD2D124-9442-4565-9B8F-435DDA9E2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b5aab0a7b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1602" y="4452744"/>
            <a:ext cx="3239999" cy="2160000"/>
          </a:xfrm>
          <a:prstGeom xmlns:a="http://schemas.openxmlformats.org/drawingml/2006/main" prst="rect">
            <a:avLst/>
          </a:prstGeom>
        </p:spPr>
      </p:pic>
      <p:cxnSp>
        <p:nvCxnSpPr>
          <p:cNvPr id="15" name="Conector recto de flecha 14">
            <a:extLst xmlns:a="http://schemas.openxmlformats.org/drawingml/2006/main">
              <a:ext uri="{FF2B5EF4-FFF2-40B4-BE49-F238E27FC236}">
                <a16:creationId xmlns:a16="http://schemas.microsoft.com/office/drawing/2014/main" id="{C48ECD8B-1D3F-4DE1-8F70-18A8B1E97509}"/>
              </a:ext>
            </a:extLst>
          </p:cNvPr>
          <p:cNvCxnSpPr/>
          <p:nvPr/>
        </p:nvCxnSpPr>
        <p:spPr>
          <a:xfrm xmlns:a="http://schemas.openxmlformats.org/drawingml/2006/main" flipH="1">
            <a:off x="4818580" y="3698697"/>
            <a:ext cx="102741" cy="67809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" name="Conector recto de flecha 16">
            <a:extLst xmlns:a="http://schemas.openxmlformats.org/drawingml/2006/main">
              <a:ext uri="{FF2B5EF4-FFF2-40B4-BE49-F238E27FC236}">
                <a16:creationId xmlns:a16="http://schemas.microsoft.com/office/drawing/2014/main" id="{3BE2649B-BAF7-47B1-8B4A-AF54C01BA852}"/>
              </a:ext>
            </a:extLst>
          </p:cNvPr>
          <p:cNvCxnSpPr/>
          <p:nvPr/>
        </p:nvCxnSpPr>
        <p:spPr>
          <a:xfrm xmlns:a="http://schemas.openxmlformats.org/drawingml/2006/main">
            <a:off x="6431622" y="3647326"/>
            <a:ext cx="267129" cy="75924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" name="CuadroTexto 17">
            <a:extLst xmlns:a="http://schemas.openxmlformats.org/drawingml/2006/main">
              <a:ext uri="{FF2B5EF4-FFF2-40B4-BE49-F238E27FC236}">
                <a16:creationId xmlns:a16="http://schemas.microsoft.com/office/drawing/2014/main" id="{824DB83C-4DE5-42DF-AAA3-60EB199B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404" y="4932579"/>
            <a:ext cx="1818528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At this edge reflector, the proposed profile is narrower than NSI</a:t>
            </a:r>
            <a:endParaRPr sz="1400"/>
          </a:p>
        </p:txBody>
      </p:sp>
      <p:cxnSp>
        <p:nvCxnSpPr>
          <p:cNvPr id="20" name="Conector recto de flecha 19">
            <a:extLst xmlns:a="http://schemas.openxmlformats.org/drawingml/2006/main">
              <a:ext uri="{FF2B5EF4-FFF2-40B4-BE49-F238E27FC236}">
                <a16:creationId xmlns:a16="http://schemas.microsoft.com/office/drawing/2014/main" id="{C64EB19C-1C80-47E3-9FE5-E91E0C513565}"/>
              </a:ext>
            </a:extLst>
          </p:cNvPr>
          <p:cNvCxnSpPr/>
          <p:nvPr/>
        </p:nvCxnSpPr>
        <p:spPr>
          <a:xfrm xmlns:a="http://schemas.openxmlformats.org/drawingml/2006/main" flipH="1">
            <a:off x="8897420" y="5229546"/>
            <a:ext cx="523983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3941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uadroTexto 5">
            <a:extLst xmlns:a="http://schemas.openxmlformats.org/drawingml/2006/main">
              <a:ext uri="{FF2B5EF4-FFF2-40B4-BE49-F238E27FC236}">
                <a16:creationId xmlns:a16="http://schemas.microsoft.com/office/drawing/2014/main" id="{9166E1FB-DE87-449C-A92A-E7FCDF9F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25" y="717011"/>
            <a:ext cx="51993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Numerical phantom: edge amplitude stability</a:t>
            </a:r>
            <a:endParaRPr b="1"/>
          </a:p>
        </p:txBody>
      </p:sp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77F06541-B136-4CDF-B735-F5C766B23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6c43cf4c84c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252" y="1306133"/>
            <a:ext cx="10950751" cy="2920200"/>
          </a:xfrm>
          <a:prstGeom xmlns:a="http://schemas.openxmlformats.org/drawingml/2006/main" prst="rect">
            <a:avLst/>
          </a:prstGeom>
        </p:spPr>
      </p:pic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62B7122C-E1FA-425D-9140-6241F090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07032" y="1510301"/>
            <a:ext cx="0" cy="2424703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B9D1435B-79E2-4B12-9631-6537B7A6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467" y="1125899"/>
            <a:ext cx="129095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99887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array boundary</a:t>
            </a:r>
            <a:endParaRPr sz="1600"/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1CF8F687-9489-43BD-AB97-9F2D8CBE89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a12cecda74d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3418" y="3805092"/>
            <a:ext cx="3993586" cy="2852561"/>
          </a:xfrm>
          <a:prstGeom xmlns:a="http://schemas.openxmlformats.org/drawingml/2006/main" prst="rect">
            <a:avLst/>
          </a:prstGeom>
        </p:spPr>
      </p:pic>
      <p:cxnSp>
        <p:nvCxnSpPr>
          <p:cNvPr id="17" name="Conector recto de flecha 16">
            <a:extLst xmlns:a="http://schemas.openxmlformats.org/drawingml/2006/main">
              <a:ext uri="{FF2B5EF4-FFF2-40B4-BE49-F238E27FC236}">
                <a16:creationId xmlns:a16="http://schemas.microsoft.com/office/drawing/2014/main" id="{0F88C97D-1453-4866-B994-2F03A7DF611D}"/>
              </a:ext>
            </a:extLst>
          </p:cNvPr>
          <p:cNvCxnSpPr/>
          <p:nvPr/>
        </p:nvCxnSpPr>
        <p:spPr>
          <a:xfrm xmlns:a="http://schemas.openxmlformats.org/drawingml/2006/main">
            <a:off x="6369978" y="3825641"/>
            <a:ext cx="246579" cy="40069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" name="Rectángulo redondeado 3">
            <a:extLst xmlns:a="http://schemas.openxmlformats.org/drawingml/2006/main">
              <a:ext uri="{FF2B5EF4-FFF2-40B4-BE49-F238E27FC236}">
                <a16:creationId xmlns:a16="http://schemas.microsoft.com/office/drawing/2014/main" id="{2510860D-6860-483A-94B9-FD6FF436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479" y="1510301"/>
            <a:ext cx="565078" cy="2315340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CuadroTexto 15">
            <a:extLst xmlns:a="http://schemas.openxmlformats.org/drawingml/2006/main">
              <a:ext uri="{FF2B5EF4-FFF2-40B4-BE49-F238E27FC236}">
                <a16:creationId xmlns:a16="http://schemas.microsoft.com/office/drawing/2014/main" id="{E7219523-B749-4DD3-91E2-5785F25A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203" y="4753175"/>
            <a:ext cx="1818528" cy="109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31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1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Without subaperture normalisation, NSI peak amplitude decreases with depth near the boundary</a:t>
            </a:r>
            <a:endParaRPr sz="1400"/>
          </a:p>
        </p:txBody>
      </p:sp>
      <p:cxnSp>
        <p:nvCxnSpPr>
          <p:cNvPr id="10" name="Conector recto de flecha 9">
            <a:extLst xmlns:a="http://schemas.openxmlformats.org/drawingml/2006/main">
              <a:ext uri="{FF2B5EF4-FFF2-40B4-BE49-F238E27FC236}">
                <a16:creationId xmlns:a16="http://schemas.microsoft.com/office/drawing/2014/main" id="{188B4D68-8D97-479E-904F-8871FBF2D1CC}"/>
              </a:ext>
            </a:extLst>
          </p:cNvPr>
          <p:cNvCxnSpPr>
            <a:st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8435083" y="5122507"/>
            <a:ext cx="529120" cy="26115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12363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72768F0F-AB16-49D1-B2F5-706A5F09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292" y="616449"/>
            <a:ext cx="370236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PICMUS phantom: edge profiles</a:t>
            </a:r>
            <a:endParaRPr b="1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E312717A-9624-4731-A6B6-EEC04A615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a78638b424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9009" y="985781"/>
            <a:ext cx="8942931" cy="5548583"/>
          </a:xfrm>
          <a:prstGeom xmlns:a="http://schemas.openxmlformats.org/drawingml/2006/main" prst="rect">
            <a:avLst/>
          </a:prstGeom>
        </p:spPr>
      </p:pic>
      <p:cxnSp>
        <p:nvCxnSpPr>
          <p:cNvPr id="7" name="Conector recto de flecha 6">
            <a:extLst xmlns:a="http://schemas.openxmlformats.org/drawingml/2006/main">
              <a:ext uri="{FF2B5EF4-FFF2-40B4-BE49-F238E27FC236}">
                <a16:creationId xmlns:a16="http://schemas.microsoft.com/office/drawing/2014/main" id="{858EF398-8E31-492F-A594-F8B260EB680A}"/>
              </a:ext>
            </a:extLst>
          </p:cNvPr>
          <p:cNvCxnSpPr/>
          <p:nvPr/>
        </p:nvCxnSpPr>
        <p:spPr>
          <a:xfrm xmlns:a="http://schemas.openxmlformats.org/drawingml/2006/main" flipV="1">
            <a:off x="9339209" y="1058238"/>
            <a:ext cx="256854" cy="45206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CuadroTexto 7">
            <a:extLst xmlns:a="http://schemas.openxmlformats.org/drawingml/2006/main">
              <a:ext uri="{FF2B5EF4-FFF2-40B4-BE49-F238E27FC236}">
                <a16:creationId xmlns:a16="http://schemas.microsoft.com/office/drawing/2014/main" id="{00477FD2-2CBF-4741-BDC9-E0C09DCC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6858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Image appearance remains close to DAS</a:t>
            </a:r>
            <a:endParaRPr sz="1600"/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54674629-7F14-40DA-BAD7-4384A38D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8101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Selected edge profiles show modest narrowing</a:t>
            </a:r>
          </a:p>
        </p:txBody>
      </p:sp>
      <p:cxnSp>
        <p:nvCxnSpPr>
          <p:cNvPr id="13" name="Conector recto de flecha 12">
            <a:extLst xmlns:a="http://schemas.openxmlformats.org/drawingml/2006/main">
              <a:ext uri="{FF2B5EF4-FFF2-40B4-BE49-F238E27FC236}">
                <a16:creationId xmlns:a16="http://schemas.microsoft.com/office/drawing/2014/main" id="{AB03ED20-A4A1-47A3-B33E-7711F2BFB70D}"/>
              </a:ext>
            </a:extLst>
          </p:cNvPr>
          <p:cNvCxnSpPr/>
          <p:nvPr/>
        </p:nvCxnSpPr>
        <p:spPr>
          <a:xfrm xmlns:a="http://schemas.openxmlformats.org/drawingml/2006/main">
            <a:off x="4407613" y="3246634"/>
            <a:ext cx="1284270" cy="123289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81307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E1E5292D-53AA-4229-9A1D-18AB165E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417" y="616450"/>
            <a:ext cx="3743643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Conclusions and next evaluation</a:t>
            </a:r>
            <a:endParaRPr b="1"/>
          </a:p>
        </p:txBody>
      </p:sp>
      <p:sp>
        <p:nvSpPr>
          <p:cNvPr id="5" name="CuadroTexto 4">
            <a:extLst xmlns:a="http://schemas.openxmlformats.org/drawingml/2006/main">
              <a:ext uri="{FF2B5EF4-FFF2-40B4-BE49-F238E27FC236}">
                <a16:creationId xmlns:a16="http://schemas.microsoft.com/office/drawing/2014/main" id="{E74141D8-FC59-4D0C-BA7A-85BB0F0B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44" y="1356189"/>
            <a:ext cx="9123451" cy="2270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Two learned receive apodizations and pixel-wise fusion produce DAS-like images.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NSI remains sharper overall in the numerical phantom.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Near array boundaries, learned fusion preserves peak amplitude better in the current non-normalised comparison.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Next evaluation: report peak-normalised FWHM, sidelobes and CNR or gCNR separately for interior and boundary reflectors.</a:t>
            </a:r>
          </a:p>
        </p:txBody>
      </p:sp>
    </p:spTree>
    <p:extLst>
      <p:ext uri="{BB962C8B-B14F-4D97-AF65-F5344CB8AC3E}">
        <p14:creationId xmlns:p14="http://schemas.microsoft.com/office/powerpoint/2010/main" val="13538650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FC08275D-ACC2-4A2D-B1C8-597B2FC5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954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Questions</a:t>
            </a:r>
            <a:endParaRPr/>
          </a:p>
        </p:txBody>
      </p:sp>
      <p:sp>
        <p:nvSpPr>
          <p:cNvPr id="5" name="closing-takeaway">
            <a:extLst xmlns:a="http://schemas.openxmlformats.org/drawingml/2006/main">
              <a:ext uri="{FF2B5EF4-FFF2-40B4-BE49-F238E27FC236}">
                <a16:creationId xmlns:a16="http://schemas.microsoft.com/office/drawing/2014/main" id="{273C0C72-F551-489F-A20B-92F92529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14625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Learned fusion mitigates NSI amplitude loss near array boundaries, but it does not yet match NSI resolution overall.</a:t>
            </a:r>
          </a:p>
        </p:txBody>
      </p:sp>
      <p:sp>
        <p:nvSpPr>
          <p:cNvPr id="6" name="closing-contact">
            <a:extLst xmlns:a="http://schemas.openxmlformats.org/drawingml/2006/main">
              <a:ext uri="{FF2B5EF4-FFF2-40B4-BE49-F238E27FC236}">
                <a16:creationId xmlns:a16="http://schemas.microsoft.com/office/drawing/2014/main" id="{C5B3F060-953F-4811-9C1F-7F4E01C4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g.cosarinsky@csic.es</a:t>
            </a:r>
          </a:p>
        </p:txBody>
      </p:sp>
    </p:spTree>
    <p:extLst>
      <p:ext uri="{BB962C8B-B14F-4D97-AF65-F5344CB8AC3E}">
        <p14:creationId xmlns:p14="http://schemas.microsoft.com/office/powerpoint/2010/main" val="918868026"/>
      </p:ext>
    </p:extLst>
  </p:cSld>
</p:sld>
</file>

<file path=ppt/slides/slide1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9E04F7C7-CB19-464B-96E8-0AF96AD1AC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af13cae5a41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540" y="411822"/>
            <a:ext cx="5850276" cy="5850276"/>
          </a:xfrm>
          <a:prstGeom xmlns:a="http://schemas.openxmlformats.org/drawingml/2006/main" prst="rect">
            <a:avLst/>
          </a:prstGeom>
        </p:spPr>
      </p:pic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1FEE321A-75FC-443A-8FD3-ABF5A13BD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069a5d05944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797" y="1774755"/>
            <a:ext cx="3775913" cy="574443"/>
          </a:xfrm>
          <a:prstGeom xmlns:a="http://schemas.openxmlformats.org/drawingml/2006/main" prst="rect">
            <a:avLst/>
          </a:prstGeom>
        </p:spPr>
      </p:pic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61A90A13-EFAE-4686-BA88-A308F93A8A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4d4ddff0c4d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5144" y="2916784"/>
            <a:ext cx="3229324" cy="284680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18E73004-0DFD-48BE-8F94-91108CD61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62bf6fa314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641" y="4267414"/>
            <a:ext cx="4090827" cy="391296"/>
          </a:xfrm>
          <a:prstGeom xmlns:a="http://schemas.openxmlformats.org/drawingml/2006/main" prst="rect">
            <a:avLst/>
          </a:prstGeom>
        </p:spPr>
      </p:pic>
      <p:sp>
        <p:nvSpPr>
          <p:cNvPr id="20" name="Forma libre 19">
            <a:extLst xmlns:a="http://schemas.openxmlformats.org/drawingml/2006/main">
              <a:ext uri="{FF2B5EF4-FFF2-40B4-BE49-F238E27FC236}">
                <a16:creationId xmlns:a16="http://schemas.microsoft.com/office/drawing/2014/main" id="{D91A03E0-49E5-40D2-AD02-CD5BBF84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54" y="4658710"/>
            <a:ext cx="6154219" cy="1918216"/>
          </a:xfrm>
          <a:custGeom xmlns:a="http://schemas.openxmlformats.org/drawingml/2006/main">
            <a:gdLst>
              <a:gd name="connsiteX0" fmla="*/ 6637105 w 6637105"/>
              <a:gd name="connsiteY0" fmla="*/ 2476072 h 3546974"/>
              <a:gd name="connsiteX1" fmla="*/ 2126750 w 6637105"/>
              <a:gd name="connsiteY1" fmla="*/ 3421295 h 3546974"/>
              <a:gd name="connsiteX2" fmla="*/ 0 w 6637105"/>
              <a:gd name="connsiteY2" fmla="*/ 0 h 3546974"/>
            </a:gdLst>
            <a:rect l="l" t="t" r="r" b="b"/>
            <a:pathLst>
              <a:path w="6637105" h="3546974">
                <a:moveTo>
                  <a:pt x="6637105" y="2476072"/>
                </a:moveTo>
                <a:cubicBezTo>
                  <a:pt x="4935019" y="3155023"/>
                  <a:pt x="3232934" y="3833974"/>
                  <a:pt x="2126750" y="3421295"/>
                </a:cubicBezTo>
                <a:cubicBezTo>
                  <a:pt x="1020566" y="3008616"/>
                  <a:pt x="510283" y="1504308"/>
                  <a:pt x="0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Forma libre 20">
            <a:extLst xmlns:a="http://schemas.openxmlformats.org/drawingml/2006/main">
              <a:ext uri="{FF2B5EF4-FFF2-40B4-BE49-F238E27FC236}">
                <a16:creationId xmlns:a16="http://schemas.microsoft.com/office/drawing/2014/main" id="{290F37FC-C490-4445-BF32-83D056C6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21" y="4622496"/>
            <a:ext cx="1474340" cy="524426"/>
          </a:xfrm>
          <a:custGeom xmlns:a="http://schemas.openxmlformats.org/drawingml/2006/main">
            <a:gdLst>
              <a:gd name="connsiteX0" fmla="*/ 0 w 2208943"/>
              <a:gd name="connsiteY0" fmla="*/ 0 h 663548"/>
              <a:gd name="connsiteX1" fmla="*/ 1797977 w 2208943"/>
              <a:gd name="connsiteY1" fmla="*/ 636998 h 663548"/>
              <a:gd name="connsiteX2" fmla="*/ 2208943 w 2208943"/>
              <a:gd name="connsiteY2" fmla="*/ 482885 h 663548"/>
              <a:gd name="connsiteX0" fmla="*/ 0 w 2208943"/>
              <a:gd name="connsiteY0" fmla="*/ 0 h 524426"/>
              <a:gd name="connsiteX1" fmla="*/ 1170456 w 2208943"/>
              <a:gd name="connsiteY1" fmla="*/ 359595 h 524426"/>
              <a:gd name="connsiteX2" fmla="*/ 2208943 w 2208943"/>
              <a:gd name="connsiteY2" fmla="*/ 482885 h 524426"/>
            </a:gdLst>
            <a:rect l="l" t="t" r="r" b="b"/>
            <a:pathLst>
              <a:path w="2208943" h="524426">
                <a:moveTo>
                  <a:pt x="0" y="0"/>
                </a:moveTo>
                <a:cubicBezTo>
                  <a:pt x="714910" y="278258"/>
                  <a:pt x="802299" y="279114"/>
                  <a:pt x="1170456" y="359595"/>
                </a:cubicBezTo>
                <a:cubicBezTo>
                  <a:pt x="1538613" y="440076"/>
                  <a:pt x="2187538" y="600182"/>
                  <a:pt x="2208943" y="482885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23" name="Conector recto de flecha 22">
            <a:extLst xmlns:a="http://schemas.openxmlformats.org/drawingml/2006/main">
              <a:ext uri="{FF2B5EF4-FFF2-40B4-BE49-F238E27FC236}">
                <a16:creationId xmlns:a16="http://schemas.microsoft.com/office/drawing/2014/main" id="{159354AF-08DC-432E-9179-DAA2B8F31A4E}"/>
              </a:ext>
            </a:extLst>
          </p:cNvPr>
          <p:cNvCxnSpPr/>
          <p:nvPr/>
        </p:nvCxnSpPr>
        <p:spPr>
          <a:xfrm xmlns:a="http://schemas.openxmlformats.org/drawingml/2006/main" flipV="1">
            <a:off x="4274049" y="2424701"/>
            <a:ext cx="1387012" cy="49208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5" name="CuadroTexto 24">
            <a:extLst xmlns:a="http://schemas.openxmlformats.org/drawingml/2006/main">
              <a:ext uri="{FF2B5EF4-FFF2-40B4-BE49-F238E27FC236}">
                <a16:creationId xmlns:a16="http://schemas.microsoft.com/office/drawing/2014/main" id="{C5AFFFC4-1D3D-4FDF-8495-E5857F1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61" y="5119680"/>
            <a:ext cx="2681556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Weight</a:t>
            </a:r>
            <a:r>
              <a:rPr sz="1600"/>
              <a:t> to </a:t>
            </a:r>
            <a:r>
              <a:rPr sz="1600"/>
              <a:t>give</a:t>
            </a:r>
            <a:r>
              <a:rPr sz="1600"/>
              <a:t> more </a:t>
            </a:r>
            <a:r>
              <a:rPr sz="1600"/>
              <a:t>importance</a:t>
            </a:r>
            <a:r>
              <a:rPr sz="1600"/>
              <a:t> to </a:t>
            </a:r>
            <a:r>
              <a:rPr sz="1600"/>
              <a:t>reflectors</a:t>
            </a:r>
            <a:r>
              <a:rPr sz="1600"/>
              <a:t> vs </a:t>
            </a:r>
            <a:r>
              <a:rPr sz="1600"/>
              <a:t>background</a:t>
            </a:r>
            <a:endParaRPr sz="1600"/>
          </a:p>
        </p:txBody>
      </p:sp>
      <p:cxnSp>
        <p:nvCxnSpPr>
          <p:cNvPr id="27" name="Conector recto de flecha 26">
            <a:extLst xmlns:a="http://schemas.openxmlformats.org/drawingml/2006/main">
              <a:ext uri="{FF2B5EF4-FFF2-40B4-BE49-F238E27FC236}">
                <a16:creationId xmlns:a16="http://schemas.microsoft.com/office/drawing/2014/main" id="{36B1CA9C-8322-454F-ABB7-ABF8AF2C794C}"/>
              </a:ext>
            </a:extLst>
          </p:cNvPr>
          <p:cNvCxnSpPr>
            <a:stCxn xmlns:a="http://schemas.openxmlformats.org/drawingml/2006/main" id="25" idx="0"/>
          </p:cNvCxnSpPr>
          <p:nvPr/>
        </p:nvCxnSpPr>
        <p:spPr>
          <a:xfrm xmlns:a="http://schemas.openxmlformats.org/drawingml/2006/main" flipV="1">
            <a:off x="2073239" y="4658710"/>
            <a:ext cx="291959" cy="46097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031158"/>
      </p:ext>
    </p:extLst>
  </p:cSld>
</p:sld>
</file>

<file path=ppt/slides/slide2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FA984261-2DF0-41A1-90CB-EDABA3490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d3de0836440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352" y="714917"/>
            <a:ext cx="4869387" cy="2337306"/>
          </a:xfrm>
          <a:prstGeom xmlns:a="http://schemas.openxmlformats.org/drawingml/2006/main" prst="rect">
            <a:avLst/>
          </a:prstGeom>
        </p:spPr>
      </p:pic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05C04C3F-E65C-438D-8435-BEF326725C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fe9661f5a46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222" y="3577129"/>
            <a:ext cx="4917518" cy="2360409"/>
          </a:xfrm>
          <a:prstGeom xmlns:a="http://schemas.openxmlformats.org/drawingml/2006/main" prst="rect">
            <a:avLst/>
          </a:prstGeom>
        </p:spPr>
      </p:pic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FC556D65-407F-4267-9D53-4403CBDA02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2519f0bef4c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97932" y="2106202"/>
            <a:ext cx="6365696" cy="21218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21894"/>
      </p:ext>
    </p:extLst>
  </p:cSld>
</p:sld>
</file>

<file path=ppt/slides/slide2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179C1E97-5C41-45AA-8BAD-F6E9E60D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505" y="830026"/>
            <a:ext cx="419243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Proposed</a:t>
            </a:r>
            <a:r>
              <a:rPr b="1"/>
              <a:t> </a:t>
            </a:r>
            <a:r>
              <a:rPr b="1"/>
              <a:t>framework</a:t>
            </a:r>
            <a:r>
              <a:rPr b="1"/>
              <a:t>: </a:t>
            </a:r>
            <a:r>
              <a:rPr b="1"/>
              <a:t>learning</a:t>
            </a:r>
            <a:r>
              <a:rPr b="1"/>
              <a:t> and </a:t>
            </a:r>
            <a:r>
              <a:rPr b="1"/>
              <a:t>mixing</a:t>
            </a:r>
            <a:endParaRPr b="1"/>
          </a:p>
        </p:txBody>
      </p:sp>
      <p:pic>
        <p:nvPicPr>
          <p:cNvPr id="6" name="Imagen 5">
            <a:extLst xmlns:a="http://schemas.openxmlformats.org/drawingml/2006/main">
              <a:ext uri="{FF2B5EF4-FFF2-40B4-BE49-F238E27FC236}">
                <a16:creationId xmlns:a16="http://schemas.microsoft.com/office/drawing/2014/main" id="{9D47F1C3-B039-4E66-9069-51ACA11C9D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be1a7033c4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9499" y="2287827"/>
            <a:ext cx="8896172" cy="2625653"/>
          </a:xfrm>
          <a:prstGeom xmlns:a="http://schemas.openxmlformats.org/drawingml/2006/main" prst="rect">
            <a:avLst/>
          </a:prstGeom>
        </p:spPr>
      </p:pic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A146ABBE-82F3-4EB8-86BD-82540D0E84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dec6315454a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6767" y="1500920"/>
            <a:ext cx="2076404" cy="288823"/>
          </a:xfrm>
          <a:prstGeom xmlns:a="http://schemas.openxmlformats.org/drawingml/2006/main" prst="rect">
            <a:avLst/>
          </a:prstGeom>
        </p:spPr>
      </p:pic>
      <p:cxnSp>
        <p:nvCxnSpPr>
          <p:cNvPr id="10" name="Conector recto de flecha 9">
            <a:extLst xmlns:a="http://schemas.openxmlformats.org/drawingml/2006/main">
              <a:ext uri="{FF2B5EF4-FFF2-40B4-BE49-F238E27FC236}">
                <a16:creationId xmlns:a16="http://schemas.microsoft.com/office/drawing/2014/main" id="{2F56C4D4-4E02-43A4-A846-61ACC6E52BFC}"/>
              </a:ext>
            </a:extLst>
          </p:cNvPr>
          <p:cNvCxnSpPr/>
          <p:nvPr/>
        </p:nvCxnSpPr>
        <p:spPr>
          <a:xfrm xmlns:a="http://schemas.openxmlformats.org/drawingml/2006/main">
            <a:off x="6238430" y="1136591"/>
            <a:ext cx="153824" cy="4443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" name="Conector recto de flecha 11">
            <a:extLst xmlns:a="http://schemas.openxmlformats.org/drawingml/2006/main">
              <a:ext uri="{FF2B5EF4-FFF2-40B4-BE49-F238E27FC236}">
                <a16:creationId xmlns:a16="http://schemas.microsoft.com/office/drawing/2014/main" id="{DD4B5F32-E6D6-4B47-B725-F7E79094532E}"/>
              </a:ext>
            </a:extLst>
          </p:cNvPr>
          <p:cNvCxnSpPr/>
          <p:nvPr/>
        </p:nvCxnSpPr>
        <p:spPr>
          <a:xfrm xmlns:a="http://schemas.openxmlformats.org/drawingml/2006/main">
            <a:off x="7272471" y="1136591"/>
            <a:ext cx="1316052" cy="170915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CuadroTexto 15">
            <a:extLst xmlns:a="http://schemas.openxmlformats.org/drawingml/2006/main">
              <a:ext uri="{FF2B5EF4-FFF2-40B4-BE49-F238E27FC236}">
                <a16:creationId xmlns:a16="http://schemas.microsoft.com/office/drawing/2014/main" id="{00FCA021-237E-4F6A-B98F-FADD0DFE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83" y="5235038"/>
            <a:ext cx="1324908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Example</a:t>
            </a:r>
            <a:r>
              <a:t> </a:t>
            </a:r>
            <a:r>
              <a:t>(</a:t>
            </a:r>
            <a:r>
              <a:t>layers</a:t>
            </a:r>
            <a:r>
              <a:t> and </a:t>
            </a:r>
            <a:r>
              <a:t>neurons</a:t>
            </a:r>
            <a:r>
              <a:t>) </a:t>
            </a:r>
            <a:endParaRPr/>
          </a:p>
        </p:txBody>
      </p:sp>
      <p:sp>
        <p:nvSpPr>
          <p:cNvPr id="17" name="CuadroTexto 16">
            <a:extLst xmlns:a="http://schemas.openxmlformats.org/drawingml/2006/main">
              <a:ext uri="{FF2B5EF4-FFF2-40B4-BE49-F238E27FC236}">
                <a16:creationId xmlns:a16="http://schemas.microsoft.com/office/drawing/2014/main" id="{78A561D5-3C47-4FA1-9216-CE69CE90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106" y="5512037"/>
            <a:ext cx="294036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[4 features, 16, 8, 4, 2 apodizations]</a:t>
            </a:r>
            <a:endParaRPr/>
          </a:p>
        </p:txBody>
      </p:sp>
      <p:sp>
        <p:nvSpPr>
          <p:cNvPr id="18" name="CuadroTexto 17">
            <a:extLst xmlns:a="http://schemas.openxmlformats.org/drawingml/2006/main">
              <a:ext uri="{FF2B5EF4-FFF2-40B4-BE49-F238E27FC236}">
                <a16:creationId xmlns:a16="http://schemas.microsoft.com/office/drawing/2014/main" id="{6F5DB931-3EF1-4C82-9ADF-25F8E7E5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497" y="5512037"/>
            <a:ext cx="297805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[2 (</a:t>
            </a:r>
            <a:r>
              <a:t>images</a:t>
            </a:r>
            <a:r>
              <a:t>), 2, 1 (final </a:t>
            </a:r>
            <a:r>
              <a:t>image</a:t>
            </a:r>
            <a:r>
              <a:t>)]</a:t>
            </a:r>
            <a:endParaRPr/>
          </a:p>
        </p:txBody>
      </p:sp>
      <p:cxnSp>
        <p:nvCxnSpPr>
          <p:cNvPr id="20" name="Conector recto de flecha 19">
            <a:extLst xmlns:a="http://schemas.openxmlformats.org/drawingml/2006/main">
              <a:ext uri="{FF2B5EF4-FFF2-40B4-BE49-F238E27FC236}">
                <a16:creationId xmlns:a16="http://schemas.microsoft.com/office/drawing/2014/main" id="{5050F1E4-25FD-49DC-8E10-33874E36AABB}"/>
              </a:ext>
            </a:extLst>
          </p:cNvPr>
          <p:cNvCxnSpPr/>
          <p:nvPr/>
        </p:nvCxnSpPr>
        <p:spPr>
          <a:xfrm xmlns:a="http://schemas.openxmlformats.org/drawingml/2006/main">
            <a:off x="3700329" y="4802736"/>
            <a:ext cx="25637" cy="54693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2" name="Conector recto de flecha 21">
            <a:extLst xmlns:a="http://schemas.openxmlformats.org/drawingml/2006/main">
              <a:ext uri="{FF2B5EF4-FFF2-40B4-BE49-F238E27FC236}">
                <a16:creationId xmlns:a16="http://schemas.microsoft.com/office/drawing/2014/main" id="{902DEED4-C6AB-439F-97F6-73983C93753F}"/>
              </a:ext>
            </a:extLst>
          </p:cNvPr>
          <p:cNvCxnSpPr/>
          <p:nvPr/>
        </p:nvCxnSpPr>
        <p:spPr>
          <a:xfrm xmlns:a="http://schemas.openxmlformats.org/drawingml/2006/main">
            <a:off x="8981630" y="4349809"/>
            <a:ext cx="162370" cy="99985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" name="Elipse 2">
            <a:extLst xmlns:a="http://schemas.openxmlformats.org/drawingml/2006/main">
              <a:ext uri="{FF2B5EF4-FFF2-40B4-BE49-F238E27FC236}">
                <a16:creationId xmlns:a16="http://schemas.microsoft.com/office/drawing/2014/main" id="{507FB714-AF64-4D34-9E7B-33B8061A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80" y="2100866"/>
            <a:ext cx="1914483" cy="2999574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D8F4C0FD-1774-4793-A82D-668F9C94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7915"/>
            <a:ext cx="654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ReLU</a:t>
            </a:r>
            <a:endParaRPr/>
          </a:p>
        </p:txBody>
      </p:sp>
      <p:sp>
        <p:nvSpPr>
          <p:cNvPr id="14" name="Elipse 13">
            <a:extLst xmlns:a="http://schemas.openxmlformats.org/drawingml/2006/main">
              <a:ext uri="{FF2B5EF4-FFF2-40B4-BE49-F238E27FC236}">
                <a16:creationId xmlns:a16="http://schemas.microsoft.com/office/drawing/2014/main" id="{DF7A89DB-D8F1-4F34-A79A-6B61E106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094" y="2722971"/>
            <a:ext cx="589885" cy="2190509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CuadroTexto 14">
            <a:extLst xmlns:a="http://schemas.openxmlformats.org/drawingml/2006/main">
              <a:ext uri="{FF2B5EF4-FFF2-40B4-BE49-F238E27FC236}">
                <a16:creationId xmlns:a16="http://schemas.microsoft.com/office/drawing/2014/main" id="{0E5DEC12-8DAF-4A50-B287-8E7A7968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378" y="4774544"/>
            <a:ext cx="61305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tanh</a:t>
            </a:r>
            <a:endParaRPr/>
          </a:p>
        </p:txBody>
      </p:sp>
      <p:sp>
        <p:nvSpPr>
          <p:cNvPr id="19" name="CuadroTexto 18">
            <a:extLst xmlns:a="http://schemas.openxmlformats.org/drawingml/2006/main">
              <a:ext uri="{FF2B5EF4-FFF2-40B4-BE49-F238E27FC236}">
                <a16:creationId xmlns:a16="http://schemas.microsoft.com/office/drawing/2014/main" id="{82D18093-5A1F-4452-86FF-152AAE70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682" y="2905343"/>
            <a:ext cx="654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ReLU</a:t>
            </a:r>
            <a:endParaRPr/>
          </a:p>
        </p:txBody>
      </p:sp>
      <p:sp>
        <p:nvSpPr>
          <p:cNvPr id="21" name="Elipse 20">
            <a:extLst xmlns:a="http://schemas.openxmlformats.org/drawingml/2006/main">
              <a:ext uri="{FF2B5EF4-FFF2-40B4-BE49-F238E27FC236}">
                <a16:creationId xmlns:a16="http://schemas.microsoft.com/office/drawing/2014/main" id="{4C46ED29-6B8F-4F9D-B1BB-2A8E8444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524" y="3092303"/>
            <a:ext cx="1213502" cy="1151237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826951"/>
      </p:ext>
    </p:extLst>
  </p:cSld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2026-10-15T14:41:35.4170000Z</dcterms:created>
  <dcterms:modified xsi:type="dcterms:W3CDTF">2026-10-15T14:41:35.4170000Z</dcterms:modified>
</coreProperties>
</file>