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4398a240a243b1" /><Relationship Type="http://schemas.openxmlformats.org/officeDocument/2006/relationships/extended-properties" Target="/docProps/app.xml" Id="R849a65fabb1643ed" /><Relationship Type="http://schemas.openxmlformats.org/officeDocument/2006/relationships/officeDocument" Target="/ppt/presentation.xml" Id="R3850181639574f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730acfa4fd452c"/>
  </p:sldMasterIdLst>
  <p:notesMasterIdLst>
    <p:notesMasterId xmlns:r="http://schemas.openxmlformats.org/officeDocument/2006/relationships" r:id="Rcff8884c08824444"/>
  </p:notesMasterIdLst>
  <p:sldIdLst>
    <p:sldId xmlns:r="http://schemas.openxmlformats.org/officeDocument/2006/relationships" id="256" r:id="R1bf781242118478b"/>
    <p:sldId xmlns:r="http://schemas.openxmlformats.org/officeDocument/2006/relationships" id="257" r:id="Rb6fe5a8f93594fc3"/>
    <p:sldId xmlns:r="http://schemas.openxmlformats.org/officeDocument/2006/relationships" id="258" r:id="R1824bbb8056f4704"/>
    <p:sldId xmlns:r="http://schemas.openxmlformats.org/officeDocument/2006/relationships" id="259" r:id="Re8bbd344ea78422c"/>
    <p:sldId xmlns:r="http://schemas.openxmlformats.org/officeDocument/2006/relationships" id="260" r:id="Rb3003334ba094a89"/>
    <p:sldId xmlns:r="http://schemas.openxmlformats.org/officeDocument/2006/relationships" id="261" r:id="R4fcebcc18b8f4ff0"/>
    <p:sldId xmlns:r="http://schemas.openxmlformats.org/officeDocument/2006/relationships" id="262" r:id="R448b82e4f36a452d"/>
    <p:sldId xmlns:r="http://schemas.openxmlformats.org/officeDocument/2006/relationships" id="263" r:id="R853f48ae9e5c427a"/>
    <p:sldId xmlns:r="http://schemas.openxmlformats.org/officeDocument/2006/relationships" id="264" r:id="Rc1114a89d237432d"/>
    <p:sldId xmlns:r="http://schemas.openxmlformats.org/officeDocument/2006/relationships" id="265" r:id="Rcf62928c049941c9"/>
    <p:sldId xmlns:r="http://schemas.openxmlformats.org/officeDocument/2006/relationships" id="266" r:id="Rf536f088198a4137"/>
    <p:sldId xmlns:r="http://schemas.openxmlformats.org/officeDocument/2006/relationships" id="267" r:id="Ra038795511c24e36"/>
    <p:sldId xmlns:r="http://schemas.openxmlformats.org/officeDocument/2006/relationships" id="268" r:id="R237316b331674787"/>
    <p:sldId xmlns:r="http://schemas.openxmlformats.org/officeDocument/2006/relationships" id="269" r:id="R78e8a1aca49a4d43"/>
    <p:sldId xmlns:r="http://schemas.openxmlformats.org/officeDocument/2006/relationships" id="270" r:id="Rf13a9160cd274894"/>
    <p:sldId xmlns:r="http://schemas.openxmlformats.org/officeDocument/2006/relationships" id="271" r:id="Rfc3b7c3d43d044e8"/>
    <p:sldId xmlns:r="http://schemas.openxmlformats.org/officeDocument/2006/relationships" id="272" r:id="R754173a89d4b481d"/>
    <p:sldId xmlns:r="http://schemas.openxmlformats.org/officeDocument/2006/relationships" id="273" r:id="Rce45aed61272480d"/>
    <p:sldId xmlns:r="http://schemas.openxmlformats.org/officeDocument/2006/relationships" id="274" r:id="Re59dc20a3d8045ee"/>
    <p:sldId xmlns:r="http://schemas.openxmlformats.org/officeDocument/2006/relationships" id="275" r:id="Rf09c1fc97d3f4ad4"/>
    <p:sldId xmlns:r="http://schemas.openxmlformats.org/officeDocument/2006/relationships" id="276" r:id="R592f764882c44681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ab1c6dc67c4dbd" /><Relationship Type="http://schemas.openxmlformats.org/officeDocument/2006/relationships/slideMaster" Target="/ppt/slideMasters/slideMaster1.xml" Id="R1a730acfa4fd452c" /><Relationship Type="http://schemas.openxmlformats.org/officeDocument/2006/relationships/notesMaster" Target="/ppt/notesMasters/notesMaster1.xml" Id="Rcff8884c08824444" /><Relationship Type="http://schemas.openxmlformats.org/officeDocument/2006/relationships/presProps" Target="/ppt/presProps.xml" Id="R5afabc03506540a7" /><Relationship Type="http://schemas.openxmlformats.org/officeDocument/2006/relationships/viewProps" Target="/ppt/viewProps.xml" Id="R23966bb9a9c54056" /><Relationship Type="http://schemas.openxmlformats.org/officeDocument/2006/relationships/tableStyles" Target="/ppt/tableStyles.xml" Id="R97dba6b661b84a43" /><Relationship Type="http://schemas.openxmlformats.org/officeDocument/2006/relationships/slide" Target="/ppt/slides/slide1.xml" Id="R1bf781242118478b" /><Relationship Type="http://schemas.openxmlformats.org/officeDocument/2006/relationships/slide" Target="/ppt/slides/slide2.xml" Id="Rb6fe5a8f93594fc3" /><Relationship Type="http://schemas.openxmlformats.org/officeDocument/2006/relationships/slide" Target="/ppt/slides/slide3.xml" Id="R1824bbb8056f4704" /><Relationship Type="http://schemas.openxmlformats.org/officeDocument/2006/relationships/slide" Target="/ppt/slides/slide4.xml" Id="Re8bbd344ea78422c" /><Relationship Type="http://schemas.openxmlformats.org/officeDocument/2006/relationships/slide" Target="/ppt/slides/slide5.xml" Id="Rb3003334ba094a89" /><Relationship Type="http://schemas.openxmlformats.org/officeDocument/2006/relationships/slide" Target="/ppt/slides/slide6.xml" Id="R4fcebcc18b8f4ff0" /><Relationship Type="http://schemas.openxmlformats.org/officeDocument/2006/relationships/slide" Target="/ppt/slides/slide7.xml" Id="R448b82e4f36a452d" /><Relationship Type="http://schemas.openxmlformats.org/officeDocument/2006/relationships/slide" Target="/ppt/slides/slide8.xml" Id="R853f48ae9e5c427a" /><Relationship Type="http://schemas.openxmlformats.org/officeDocument/2006/relationships/slide" Target="/ppt/slides/slide9.xml" Id="Rc1114a89d237432d" /><Relationship Type="http://schemas.openxmlformats.org/officeDocument/2006/relationships/slide" Target="/ppt/slides/slide10.xml" Id="Rcf62928c049941c9" /><Relationship Type="http://schemas.openxmlformats.org/officeDocument/2006/relationships/slide" Target="/ppt/slides/slide11.xml" Id="Rf536f088198a4137" /><Relationship Type="http://schemas.openxmlformats.org/officeDocument/2006/relationships/slide" Target="/ppt/slides/slide12.xml" Id="Ra038795511c24e36" /><Relationship Type="http://schemas.openxmlformats.org/officeDocument/2006/relationships/slide" Target="/ppt/slides/slide13.xml" Id="R237316b331674787" /><Relationship Type="http://schemas.openxmlformats.org/officeDocument/2006/relationships/slide" Target="/ppt/slides/slide14.xml" Id="R78e8a1aca49a4d43" /><Relationship Type="http://schemas.openxmlformats.org/officeDocument/2006/relationships/slide" Target="/ppt/slides/slide15.xml" Id="Rf13a9160cd274894" /><Relationship Type="http://schemas.openxmlformats.org/officeDocument/2006/relationships/slide" Target="/ppt/slides/slide16.xml" Id="Rfc3b7c3d43d044e8" /><Relationship Type="http://schemas.openxmlformats.org/officeDocument/2006/relationships/slide" Target="/ppt/slides/slide17.xml" Id="R754173a89d4b481d" /><Relationship Type="http://schemas.openxmlformats.org/officeDocument/2006/relationships/slide" Target="/ppt/slides/slide18.xml" Id="Rce45aed61272480d" /><Relationship Type="http://schemas.openxmlformats.org/officeDocument/2006/relationships/slide" Target="/ppt/slides/slide19.xml" Id="Re59dc20a3d8045ee" /><Relationship Type="http://schemas.openxmlformats.org/officeDocument/2006/relationships/slide" Target="/ppt/slides/slide20.xml" Id="Rf09c1fc97d3f4ad4" /><Relationship Type="http://schemas.openxmlformats.org/officeDocument/2006/relationships/slide" Target="/ppt/slides/slide21.xml" Id="R592f764882c446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d181aa065644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41ebc6731142e4" /><Relationship Type="http://schemas.openxmlformats.org/officeDocument/2006/relationships/notesMaster" Target="/ppt/notesMasters/notesMaster1.xml" Id="R3cd61068a05349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a8164fbfcf4caa" /><Relationship Type="http://schemas.openxmlformats.org/officeDocument/2006/relationships/notesMaster" Target="/ppt/notesMasters/notesMaster1.xml" Id="Rc429a3a9119e44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857b43da5848f8" /><Relationship Type="http://schemas.openxmlformats.org/officeDocument/2006/relationships/notesMaster" Target="/ppt/notesMasters/notesMaster1.xml" Id="R606ea6b613f149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3868f87db347c1" /><Relationship Type="http://schemas.openxmlformats.org/officeDocument/2006/relationships/notesMaster" Target="/ppt/notesMasters/notesMaster1.xml" Id="R4513790f8e9b45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0b1e7597f0464a" /><Relationship Type="http://schemas.openxmlformats.org/officeDocument/2006/relationships/notesMaster" Target="/ppt/notesMasters/notesMaster1.xml" Id="R7efebd5045aa4d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d83228185243a8" /><Relationship Type="http://schemas.openxmlformats.org/officeDocument/2006/relationships/notesMaster" Target="/ppt/notesMasters/notesMaster1.xml" Id="Rcf7a7a88ea2645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349e59b51a4399" /><Relationship Type="http://schemas.openxmlformats.org/officeDocument/2006/relationships/notesMaster" Target="/ppt/notesMasters/notesMaster1.xml" Id="R0417ff15235a4c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80f8f30d37496d" /><Relationship Type="http://schemas.openxmlformats.org/officeDocument/2006/relationships/notesMaster" Target="/ppt/notesMasters/notesMaster1.xml" Id="Re5b2fc63f70b47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a60b97608a4f85" /><Relationship Type="http://schemas.openxmlformats.org/officeDocument/2006/relationships/notesMaster" Target="/ppt/notesMasters/notesMaster1.xml" Id="R9fa2359259df42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2b6ccdc01040ad" /><Relationship Type="http://schemas.openxmlformats.org/officeDocument/2006/relationships/notesMaster" Target="/ppt/notesMasters/notesMaster1.xml" Id="Rf02bde5b43df4f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f44ff8f8344551" /><Relationship Type="http://schemas.openxmlformats.org/officeDocument/2006/relationships/notesMaster" Target="/ppt/notesMasters/notesMaster1.xml" Id="Rf74cd018e30040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6c5a1c772c43f1" /><Relationship Type="http://schemas.openxmlformats.org/officeDocument/2006/relationships/notesMaster" Target="/ppt/notesMasters/notesMaster1.xml" Id="Rf1455c012aec44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4cb86df06f48cf" /><Relationship Type="http://schemas.openxmlformats.org/officeDocument/2006/relationships/notesMaster" Target="/ppt/notesMasters/notesMaster1.xml" Id="R1df907b4837a49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231f541df345f0" /><Relationship Type="http://schemas.openxmlformats.org/officeDocument/2006/relationships/notesMaster" Target="/ppt/notesMasters/notesMaster1.xml" Id="Rfb9b1ef8208c41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96a64c4ab94421" /><Relationship Type="http://schemas.openxmlformats.org/officeDocument/2006/relationships/notesMaster" Target="/ppt/notesMasters/notesMaster1.xml" Id="Rf7e8e51391fe43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bf242be39c4b30" /><Relationship Type="http://schemas.openxmlformats.org/officeDocument/2006/relationships/notesMaster" Target="/ppt/notesMasters/notesMaster1.xml" Id="R41bd24a10fae435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c3e9a1d73d84faf" /><Relationship Type="http://schemas.openxmlformats.org/officeDocument/2006/relationships/notesMaster" Target="/ppt/notesMasters/notesMaster1.xml" Id="Rb35422e8427841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ea4a707d4714168" /><Relationship Type="http://schemas.openxmlformats.org/officeDocument/2006/relationships/notesMaster" Target="/ppt/notesMasters/notesMaster1.xml" Id="R3b9ad3c61a2f40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b02a601bb95412a" /><Relationship Type="http://schemas.openxmlformats.org/officeDocument/2006/relationships/notesMaster" Target="/ppt/notesMasters/notesMaster1.xml" Id="Re21abbef03ab499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abfaacfb3cb47e4" /><Relationship Type="http://schemas.openxmlformats.org/officeDocument/2006/relationships/notesMaster" Target="/ppt/notesMasters/notesMaster1.xml" Id="R4ae5c0083b86475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2b0300a00014744" /><Relationship Type="http://schemas.openxmlformats.org/officeDocument/2006/relationships/notesMaster" Target="/ppt/notesMasters/notesMaster1.xml" Id="R5d314e2aa6564a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Kim, P.; Kang, J.; Song, T.-K. A Pseudo-Dynamic Delay Calculation Using Optimal Zone Segmentation for Ultra-Compact Ultrasound Imaging Systems. Electronics 2019, 8, 242. https://doi.org/10.3390/electronics8020242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R. Delaunay, C. Hennersperger, and S. Wörz, Learning Continuous Receive Apodization Weights via Implicit Neural Representation for Ultrafast ICE Ultrasound Imaging. IEEE IUS 2025. doi:10.1109/IUS62464.2025.11201299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A. Agarwal, J. Reeg, A. S. Podkowa, and M. L. Oelze, Improving Spatial Resolution Using Incoherent Subtraction of Receive Beams Having Different Apodizations. IEEE TUFFC 66(1), 5–17, 2019. doi:10.1109/TUFFC.2018.2876285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A. Agarwal, J. Reeg, A. S. Podkowa, and M. L. Oelze, Improving Spatial Resolution Using Incoherent Subtraction of Receive Beams Having Different Apodizations. IEEE TUFFC 66(1), 5–17, 2019. doi:10.1109/TUFFC.2018.2876285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A. Agarwal, J. Reeg, A. S. Podkowa, and M. L. Oelze, Improving Spatial Resolution Using Incoherent Subtraction of Receive Beams Having Different Apodizations. IEEE TUFFC 66(1), 5–17, 2019. doi:10.1109/TUFFC.2018.2876285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and parameters correspond to training run 20260520_151111: four physical features, hidden layers 16-8-4, two apodization channels, tanh apodization output, hard boxcar F-number 0.5.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PyMUST: https://www.biomecardio.com/MUST/index.html. The target and loss emphasize reflector recovery and background suppression; they do not directly optimize FWHM, sidelobes, CNR or gCNR.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 amplitude cautiously: the evaluated NSI configuration uses normalize_by_n_subap: false. Peak-normalized profiles should be used for resolution comparisons.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836549b7046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b7b204da149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2c17b885743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dcc43048948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7a5480ed04c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72a3b49a3403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2cab30aac412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f778948b54cc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c26d446ea4ed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d175ffb80407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b39436fe340fe" /></Relationships>
</file>

<file path=ppt/slideLayouts/slideLayout1.xml><?xml version="1.0" encoding="utf-8"?>
<p:sldLayout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2D86061F-5E8F-4A8F-B40B-BF987F3ECA6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D8E78608-5CE6-4779-9082-45167A65E7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Haga clic para editar el estilo de subtítulo del patrón</a:t>
            </a:r>
            <a:endParaRPr/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09F6B18A-14BF-459F-B4EE-ACE9329DD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E56CCD0D-8C01-4BB2-ABC2-A04F2C0651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EECEF815-849D-41F9-9A0C-6C6AD6A93D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33260F6C-57F0-412B-9A2D-1AF606D82D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3456A30D-0A4A-4B13-8B63-BA6BDE11957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99B28393-ED89-4212-BD2E-D8C74518F1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DAB6CE72-B25C-4CB0-9F65-6E93DA94E6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D426E0CB-1E61-4B53-9C8E-CFD29633AC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B01DDB94-EC9E-4818-9B51-485A7A0910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EB9912EA-1CB2-4B7E-9206-04A768F630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7F26EB1D-3A0F-4981-A4CE-54B61EF7FB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60067F11-C15D-48F9-957D-268BFE8942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B788EE97-D657-402F-BE27-906546316F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A99DD50-9E4E-4F77-BDF7-EEB9D9211B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FAB83D81-AC03-440B-A9B9-8B21781A2E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contenido 3">
            <a:extLst xmlns:a="http://schemas.openxmlformats.org/drawingml/2006/main">
              <a:ext uri="{FF2B5EF4-FFF2-40B4-BE49-F238E27FC236}">
                <a16:creationId xmlns:a16="http://schemas.microsoft.com/office/drawing/2014/main" id="{4E86F436-7C3E-4D9C-B4BB-B865C4362A0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44ECF8F5-722D-465C-A9DF-9495508212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42D14E5A-433E-4725-BBF1-3F1C6D52E0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20A659DB-882B-4459-BC5A-B135BFEEAE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7EF86910-83E3-4830-A6F5-93BAA27F29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8D8AE1B6-1EDC-4147-9B4C-8889E54B06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</p:txBody>
      </p:sp>
      <p:sp>
        <p:nvSpPr>
          <p:cNvPr id="4" name="Marcador de contenido 3">
            <a:extLst xmlns:a="http://schemas.openxmlformats.org/drawingml/2006/main">
              <a:ext uri="{FF2B5EF4-FFF2-40B4-BE49-F238E27FC236}">
                <a16:creationId xmlns:a16="http://schemas.microsoft.com/office/drawing/2014/main" id="{8B131065-CA54-4624-BA90-D83EE02731F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5" name="Marcador de texto 4">
            <a:extLst xmlns:a="http://schemas.openxmlformats.org/drawingml/2006/main">
              <a:ext uri="{FF2B5EF4-FFF2-40B4-BE49-F238E27FC236}">
                <a16:creationId xmlns:a16="http://schemas.microsoft.com/office/drawing/2014/main" id="{C3429A45-C472-4BD4-9C19-2BF3A59F444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</p:txBody>
      </p:sp>
      <p:sp>
        <p:nvSpPr>
          <p:cNvPr id="6" name="Marcador de contenido 5">
            <a:extLst xmlns:a="http://schemas.openxmlformats.org/drawingml/2006/main">
              <a:ext uri="{FF2B5EF4-FFF2-40B4-BE49-F238E27FC236}">
                <a16:creationId xmlns:a16="http://schemas.microsoft.com/office/drawing/2014/main" id="{F843D44E-1751-4E4D-A345-C1373D4144F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7" name="Marcador de fecha 6">
            <a:extLst xmlns:a="http://schemas.openxmlformats.org/drawingml/2006/main">
              <a:ext uri="{FF2B5EF4-FFF2-40B4-BE49-F238E27FC236}">
                <a16:creationId xmlns:a16="http://schemas.microsoft.com/office/drawing/2014/main" id="{EC995C06-354B-4791-B3B5-5BEC910C43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8" name="Marcador de pie de página 7">
            <a:extLst xmlns:a="http://schemas.openxmlformats.org/drawingml/2006/main">
              <a:ext uri="{FF2B5EF4-FFF2-40B4-BE49-F238E27FC236}">
                <a16:creationId xmlns:a16="http://schemas.microsoft.com/office/drawing/2014/main" id="{EAB9A6E2-77FE-4EA8-9CA1-935A90490A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FEE06C0A-A6F4-4776-B990-02E5C132AC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85A037A-30DA-4009-9D49-66DF20974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fecha 2">
            <a:extLst xmlns:a="http://schemas.openxmlformats.org/drawingml/2006/main">
              <a:ext uri="{FF2B5EF4-FFF2-40B4-BE49-F238E27FC236}">
                <a16:creationId xmlns:a16="http://schemas.microsoft.com/office/drawing/2014/main" id="{3830E5BD-44A7-415F-AF09-8ED4F5BCC6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4" name="Marcador de pie de página 3">
            <a:extLst xmlns:a="http://schemas.openxmlformats.org/drawingml/2006/main">
              <a:ext uri="{FF2B5EF4-FFF2-40B4-BE49-F238E27FC236}">
                <a16:creationId xmlns:a16="http://schemas.microsoft.com/office/drawing/2014/main" id="{C205CCFD-5F99-48B2-9DD0-998705421B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Marcador de número de diapositiva 4">
            <a:extLst xmlns:a="http://schemas.openxmlformats.org/drawingml/2006/main">
              <a:ext uri="{FF2B5EF4-FFF2-40B4-BE49-F238E27FC236}">
                <a16:creationId xmlns:a16="http://schemas.microsoft.com/office/drawing/2014/main" id="{155BEC26-E6F3-4F15-A784-8B19F9AAD6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rcador de fecha 1">
            <a:extLst xmlns:a="http://schemas.openxmlformats.org/drawingml/2006/main">
              <a:ext uri="{FF2B5EF4-FFF2-40B4-BE49-F238E27FC236}">
                <a16:creationId xmlns:a16="http://schemas.microsoft.com/office/drawing/2014/main" id="{F53B2041-2B34-4794-A39E-FF8564E8E2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3" name="Marcador de pie de página 2">
            <a:extLst xmlns:a="http://schemas.openxmlformats.org/drawingml/2006/main">
              <a:ext uri="{FF2B5EF4-FFF2-40B4-BE49-F238E27FC236}">
                <a16:creationId xmlns:a16="http://schemas.microsoft.com/office/drawing/2014/main" id="{E7A63036-4DDE-4B73-91EA-AE7A2B776E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Marcador de número de diapositiva 3">
            <a:extLst xmlns:a="http://schemas.openxmlformats.org/drawingml/2006/main">
              <a:ext uri="{FF2B5EF4-FFF2-40B4-BE49-F238E27FC236}">
                <a16:creationId xmlns:a16="http://schemas.microsoft.com/office/drawing/2014/main" id="{ACD4928F-CD00-4600-86B6-8044B1D632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B82EDDDA-3B6F-463E-B158-D1F4588E66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98A2B3F7-DE26-43FC-BB9A-CBA40815289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texto 3">
            <a:extLst xmlns:a="http://schemas.openxmlformats.org/drawingml/2006/main">
              <a:ext uri="{FF2B5EF4-FFF2-40B4-BE49-F238E27FC236}">
                <a16:creationId xmlns:a16="http://schemas.microsoft.com/office/drawing/2014/main" id="{1102374B-D025-438E-9CA6-97186C7096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87406685-6403-4908-8673-FC362A1478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578C67F4-A10A-4708-8A68-F853770729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4ED9CA2C-F6C8-40E5-B756-E618B2F00F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9AC72E62-D3EF-4944-8565-52F5EC0BF2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posición de imagen 2">
            <a:extLst xmlns:a="http://schemas.openxmlformats.org/drawingml/2006/main">
              <a:ext uri="{FF2B5EF4-FFF2-40B4-BE49-F238E27FC236}">
                <a16:creationId xmlns:a16="http://schemas.microsoft.com/office/drawing/2014/main" id="{654DA25F-DD86-4260-8613-027453AF59D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Marcador de texto 3">
            <a:extLst xmlns:a="http://schemas.openxmlformats.org/drawingml/2006/main">
              <a:ext uri="{FF2B5EF4-FFF2-40B4-BE49-F238E27FC236}">
                <a16:creationId xmlns:a16="http://schemas.microsoft.com/office/drawing/2014/main" id="{E865FAE6-050F-4E75-90EA-9474B6BD96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FADB0347-0017-4EA0-922B-C3D1245B0F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2BF61F8B-205F-4BFA-8866-FE3FDDDBF3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52C48AE1-9815-4DC9-8B1C-A8799739B7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D90A7018-135F-43A7-BBFB-61823A770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texto vertical 2">
            <a:extLst xmlns:a="http://schemas.openxmlformats.org/drawingml/2006/main">
              <a:ext uri="{FF2B5EF4-FFF2-40B4-BE49-F238E27FC236}">
                <a16:creationId xmlns:a16="http://schemas.microsoft.com/office/drawing/2014/main" id="{B2E953A7-45BD-4BF7-BC8C-3C21DFD42B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A006B4FF-B449-4A0B-A157-EBFAE7AE84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1DB750AC-EECA-4500-920E-9AE1AC8C7E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754FC03D-D6AB-4868-81BD-195EA3A62A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vertical 1">
            <a:extLst xmlns:a="http://schemas.openxmlformats.org/drawingml/2006/main">
              <a:ext uri="{FF2B5EF4-FFF2-40B4-BE49-F238E27FC236}">
                <a16:creationId xmlns:a16="http://schemas.microsoft.com/office/drawing/2014/main" id="{286F3FCC-F9AF-4BAA-9ED4-2F0375D045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texto vertical 2">
            <a:extLst xmlns:a="http://schemas.openxmlformats.org/drawingml/2006/main">
              <a:ext uri="{FF2B5EF4-FFF2-40B4-BE49-F238E27FC236}">
                <a16:creationId xmlns:a16="http://schemas.microsoft.com/office/drawing/2014/main" id="{720A9BBC-1D2D-4100-A2E8-23FEA44EC5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20BC7F57-A674-4648-8022-2B83C3F56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0B6F3A83-A661-471E-B4F3-C275481103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A831AF6B-9458-431A-A68C-D365C501D8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9a203b3b1c42ca" /><Relationship Type="http://schemas.openxmlformats.org/officeDocument/2006/relationships/slideLayout" Target="/ppt/slideLayouts/slideLayout1.xml" Id="Rdb20cef112fa402e" /><Relationship Type="http://schemas.openxmlformats.org/officeDocument/2006/relationships/slideLayout" Target="/ppt/slideLayouts/slideLayout2.xml" Id="Ra7c3f9f0942d417c" /><Relationship Type="http://schemas.openxmlformats.org/officeDocument/2006/relationships/slideLayout" Target="/ppt/slideLayouts/slideLayout3.xml" Id="Rc784719dd35e4407" /><Relationship Type="http://schemas.openxmlformats.org/officeDocument/2006/relationships/slideLayout" Target="/ppt/slideLayouts/slideLayout4.xml" Id="Ra3ad76fa608c4d6a" /><Relationship Type="http://schemas.openxmlformats.org/officeDocument/2006/relationships/slideLayout" Target="/ppt/slideLayouts/slideLayout5.xml" Id="R129de7e50e1d4f06" /><Relationship Type="http://schemas.openxmlformats.org/officeDocument/2006/relationships/slideLayout" Target="/ppt/slideLayouts/slideLayout6.xml" Id="Reb7ef9a5b6a742f1" /><Relationship Type="http://schemas.openxmlformats.org/officeDocument/2006/relationships/slideLayout" Target="/ppt/slideLayouts/slideLayout7.xml" Id="R01a5a705b42247d8" /><Relationship Type="http://schemas.openxmlformats.org/officeDocument/2006/relationships/slideLayout" Target="/ppt/slideLayouts/slideLayout8.xml" Id="Rbb22b78616544eb5" /><Relationship Type="http://schemas.openxmlformats.org/officeDocument/2006/relationships/slideLayout" Target="/ppt/slideLayouts/slideLayout9.xml" Id="R2b63e626a29d4822" /><Relationship Type="http://schemas.openxmlformats.org/officeDocument/2006/relationships/slideLayout" Target="/ppt/slideLayouts/slideLayout10.xml" Id="R2f757c506c354bb4" /><Relationship Type="http://schemas.openxmlformats.org/officeDocument/2006/relationships/slideLayout" Target="/ppt/slideLayouts/slideLayout11.xml" Id="R2f23f62680f0443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rcador de título 1">
            <a:extLst xmlns:a="http://schemas.openxmlformats.org/drawingml/2006/main">
              <a:ext uri="{FF2B5EF4-FFF2-40B4-BE49-F238E27FC236}">
                <a16:creationId xmlns:a16="http://schemas.microsoft.com/office/drawing/2014/main" id="{58094F90-158E-4BCE-9121-EFBA60FC3D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6FF3C43E-D8E8-4B94-89C8-168E5E49FE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48E57C68-AF0D-40FB-B47A-84F32B4EFC5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53E5F5B4-A5E5-4A55-9F4F-737AF0D5E6C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EA2D48C8-A415-4C85-9702-29F2B649074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20cef112fa402e"/>
    <p:sldLayoutId xmlns:r="http://schemas.openxmlformats.org/officeDocument/2006/relationships" id="2147483650" r:id="Ra7c3f9f0942d417c"/>
    <p:sldLayoutId xmlns:r="http://schemas.openxmlformats.org/officeDocument/2006/relationships" id="2147483651" r:id="Rc784719dd35e4407"/>
    <p:sldLayoutId xmlns:r="http://schemas.openxmlformats.org/officeDocument/2006/relationships" id="2147483652" r:id="Ra3ad76fa608c4d6a"/>
    <p:sldLayoutId xmlns:r="http://schemas.openxmlformats.org/officeDocument/2006/relationships" id="2147483653" r:id="R129de7e50e1d4f06"/>
    <p:sldLayoutId xmlns:r="http://schemas.openxmlformats.org/officeDocument/2006/relationships" id="2147483654" r:id="Reb7ef9a5b6a742f1"/>
    <p:sldLayoutId xmlns:r="http://schemas.openxmlformats.org/officeDocument/2006/relationships" id="2147483655" r:id="R01a5a705b42247d8"/>
    <p:sldLayoutId xmlns:r="http://schemas.openxmlformats.org/officeDocument/2006/relationships" id="2147483656" r:id="Rbb22b78616544eb5"/>
    <p:sldLayoutId xmlns:r="http://schemas.openxmlformats.org/officeDocument/2006/relationships" id="2147483657" r:id="R2b63e626a29d4822"/>
    <p:sldLayoutId xmlns:r="http://schemas.openxmlformats.org/officeDocument/2006/relationships" id="2147483658" r:id="R2f757c506c354bb4"/>
    <p:sldLayoutId xmlns:r="http://schemas.openxmlformats.org/officeDocument/2006/relationships" id="2147483659" r:id="R2f23f62680f0443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dc530cb724e2d" /><Relationship Type="http://schemas.openxmlformats.org/officeDocument/2006/relationships/image" Target="/ppt/media/image.png" Id="R53782f1c628643c5" /><Relationship Type="http://schemas.openxmlformats.org/officeDocument/2006/relationships/image" Target="/ppt/media/image2.png" Id="R62733dae2ca945ca" /><Relationship Type="http://schemas.openxmlformats.org/officeDocument/2006/relationships/notesSlide" Target="/ppt/notesSlides/notesSlide1.xml" Id="Rcc29df5707954a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63775efd9c47e1" /><Relationship Type="http://schemas.openxmlformats.org/officeDocument/2006/relationships/image" Target="/ppt/media/image3.png" Id="R63e511d69e714825" /><Relationship Type="http://schemas.openxmlformats.org/officeDocument/2006/relationships/image" Target="/ppt/media/image4.png" Id="R45422ad9ba3c4998" /><Relationship Type="http://schemas.openxmlformats.org/officeDocument/2006/relationships/image" Target="/ppt/media/image5.png" Id="Rafa5c81e42044f76" /><Relationship Type="http://schemas.openxmlformats.org/officeDocument/2006/relationships/notesSlide" Target="/ppt/notesSlides/notesSlide2.xml" Id="R84def46f2fa147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a445cb78074f55" /><Relationship Type="http://schemas.openxmlformats.org/officeDocument/2006/relationships/image" Target="/ppt/media/image6.png" Id="Rd8ec04ff3c5a4e74" /><Relationship Type="http://schemas.openxmlformats.org/officeDocument/2006/relationships/image" Target="/ppt/media/image7.png" Id="R49b7545646244501" /><Relationship Type="http://schemas.openxmlformats.org/officeDocument/2006/relationships/notesSlide" Target="/ppt/notesSlides/notesSlide3.xml" Id="Reb6056330b9243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94520469aa45a6" /><Relationship Type="http://schemas.openxmlformats.org/officeDocument/2006/relationships/image" Target="/ppt/media/image8.png" Id="R166a9fd86ba042b8" /><Relationship Type="http://schemas.openxmlformats.org/officeDocument/2006/relationships/image" Target="/ppt/media/image9.png" Id="Rd5e7533430d24aa0" /><Relationship Type="http://schemas.openxmlformats.org/officeDocument/2006/relationships/image" Target="/ppt/media/image10.png" Id="Ra03bd6c8660a45f9" /><Relationship Type="http://schemas.openxmlformats.org/officeDocument/2006/relationships/notesSlide" Target="/ppt/notesSlides/notesSlide4.xml" Id="Rfa2880ab69d042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ae7e2aafde43ed" /><Relationship Type="http://schemas.openxmlformats.org/officeDocument/2006/relationships/image" Target="/ppt/media/image11.png" Id="Raf490d4e5aab4cb6" /><Relationship Type="http://schemas.openxmlformats.org/officeDocument/2006/relationships/notesSlide" Target="/ppt/notesSlides/notesSlide5.xml" Id="R59f57212266149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35b64519824176" /><Relationship Type="http://schemas.openxmlformats.org/officeDocument/2006/relationships/image" Target="/ppt/media/image12.png" Id="Rc1ed9b552b614bf5" /><Relationship Type="http://schemas.openxmlformats.org/officeDocument/2006/relationships/image" Target="/ppt/media/image13.png" Id="R09a689f63ff44006" /><Relationship Type="http://schemas.openxmlformats.org/officeDocument/2006/relationships/notesSlide" Target="/ppt/notesSlides/notesSlide6.xml" Id="R2869fce0b2e048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418db839a94728" /><Relationship Type="http://schemas.openxmlformats.org/officeDocument/2006/relationships/image" Target="/ppt/media/image12.png" Id="R7b71afa6955a49fd" /><Relationship Type="http://schemas.openxmlformats.org/officeDocument/2006/relationships/image" Target="/ppt/media/image14.png" Id="R3218f3ce70d1418b" /><Relationship Type="http://schemas.openxmlformats.org/officeDocument/2006/relationships/notesSlide" Target="/ppt/notesSlides/notesSlide7.xml" Id="R3f8e59048a464d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1718c45ef645f5" /><Relationship Type="http://schemas.openxmlformats.org/officeDocument/2006/relationships/image" Target="/ppt/media/image12.png" Id="Re617025a80a54259" /><Relationship Type="http://schemas.openxmlformats.org/officeDocument/2006/relationships/image" Target="/ppt/media/image15.png" Id="R1bfb934597704893" /><Relationship Type="http://schemas.openxmlformats.org/officeDocument/2006/relationships/notesSlide" Target="/ppt/notesSlides/notesSlide8.xml" Id="R472333c51e1147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42745c1d63405f" /><Relationship Type="http://schemas.openxmlformats.org/officeDocument/2006/relationships/image" Target="/ppt/media/image16.png" Id="R6153c0fff4194a5d" /><Relationship Type="http://schemas.openxmlformats.org/officeDocument/2006/relationships/image" Target="/ppt/media/image17.png" Id="R27ee6a0a66e54183" /><Relationship Type="http://schemas.openxmlformats.org/officeDocument/2006/relationships/notesSlide" Target="/ppt/notesSlides/notesSlide9.xml" Id="Rbfab3e5f2f254f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6ddaa322344948" /><Relationship Type="http://schemas.openxmlformats.org/officeDocument/2006/relationships/image" Target="/ppt/media/image16.png" Id="Rdb2f8ddde4324fd2" /><Relationship Type="http://schemas.openxmlformats.org/officeDocument/2006/relationships/image" Target="/ppt/media/image18.png" Id="Re931e09cf1e54094" /><Relationship Type="http://schemas.openxmlformats.org/officeDocument/2006/relationships/notesSlide" Target="/ppt/notesSlides/notesSlide10.xml" Id="R67e0083d28224f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32fbedd0ec46f8" /><Relationship Type="http://schemas.openxmlformats.org/officeDocument/2006/relationships/image" Target="/ppt/media/image16.png" Id="R6617d701e9b949da" /><Relationship Type="http://schemas.openxmlformats.org/officeDocument/2006/relationships/image" Target="/ppt/media/image19.png" Id="R9bfc104aee1f4adc" /><Relationship Type="http://schemas.openxmlformats.org/officeDocument/2006/relationships/notesSlide" Target="/ppt/notesSlides/notesSlide11.xml" Id="Ra423f50911184d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d292536a6f4367" /><Relationship Type="http://schemas.openxmlformats.org/officeDocument/2006/relationships/image" Target="/ppt/media/image20.png" Id="R52b46c6729ca44bb" /><Relationship Type="http://schemas.openxmlformats.org/officeDocument/2006/relationships/image" Target="/ppt/media/image21.png" Id="R0a1280694c944d72" /><Relationship Type="http://schemas.openxmlformats.org/officeDocument/2006/relationships/notesSlide" Target="/ppt/notesSlides/notesSlide12.xml" Id="R62dcec5e29c34a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96da26093b4451" /><Relationship Type="http://schemas.openxmlformats.org/officeDocument/2006/relationships/image" Target="/ppt/media/image22.png" Id="R4e752d742b3641b4" /><Relationship Type="http://schemas.openxmlformats.org/officeDocument/2006/relationships/notesSlide" Target="/ppt/notesSlides/notesSlide13.xml" Id="R12e936635a5f48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5fe750d362465d" /><Relationship Type="http://schemas.openxmlformats.org/officeDocument/2006/relationships/image" Target="/ppt/media/image23.png" Id="R149428b4bcb34b90" /><Relationship Type="http://schemas.openxmlformats.org/officeDocument/2006/relationships/image" Target="/ppt/media/image24.png" Id="R5103fc1f68a64cab" /><Relationship Type="http://schemas.openxmlformats.org/officeDocument/2006/relationships/image" Target="/ppt/media/image25.png" Id="R58707c0fb6034843" /><Relationship Type="http://schemas.openxmlformats.org/officeDocument/2006/relationships/notesSlide" Target="/ppt/notesSlides/notesSlide14.xml" Id="R6509a21b458140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775d89823f47ab" /><Relationship Type="http://schemas.openxmlformats.org/officeDocument/2006/relationships/image" Target="/ppt/media/image23.png" Id="Rae76c90195b64c89" /><Relationship Type="http://schemas.openxmlformats.org/officeDocument/2006/relationships/image" Target="/ppt/media/image26.png" Id="R0d4bfcbdabaf42dc" /><Relationship Type="http://schemas.openxmlformats.org/officeDocument/2006/relationships/notesSlide" Target="/ppt/notesSlides/notesSlide15.xml" Id="Rd8d2b6a9eb2c4df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b9b72be6d447b8" /><Relationship Type="http://schemas.openxmlformats.org/officeDocument/2006/relationships/image" Target="/ppt/media/image27.png" Id="Rd7cc0e14bb7c42a0" /><Relationship Type="http://schemas.openxmlformats.org/officeDocument/2006/relationships/notesSlide" Target="/ppt/notesSlides/notesSlide16.xml" Id="R68e1eddf61cc40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d217530c3b419b" /><Relationship Type="http://schemas.openxmlformats.org/officeDocument/2006/relationships/notesSlide" Target="/ppt/notesSlides/notesSlide17.xml" Id="Rea399949cf034c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6cb30f1cfb4fc7" /><Relationship Type="http://schemas.openxmlformats.org/officeDocument/2006/relationships/notesSlide" Target="/ppt/notesSlides/notesSlide18.xml" Id="Rc7c7af75471e48f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33ed3d1ffe481c" /><Relationship Type="http://schemas.openxmlformats.org/officeDocument/2006/relationships/image" Target="/ppt/media/image28.png" Id="R9e9a68c7533145c4" /><Relationship Type="http://schemas.openxmlformats.org/officeDocument/2006/relationships/image" Target="/ppt/media/image29.png" Id="R009ae12ff0834774" /><Relationship Type="http://schemas.openxmlformats.org/officeDocument/2006/relationships/image" Target="/ppt/media/image30.png" Id="R5542a50e91ab4a01" /><Relationship Type="http://schemas.openxmlformats.org/officeDocument/2006/relationships/image" Target="/ppt/media/image31.png" Id="R04257137243f419c" /><Relationship Type="http://schemas.openxmlformats.org/officeDocument/2006/relationships/notesSlide" Target="/ppt/notesSlides/notesSlide19.xml" Id="Rd4d8eafb2957478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d0aeae90304923" /><Relationship Type="http://schemas.openxmlformats.org/officeDocument/2006/relationships/image" Target="/ppt/media/image32.png" Id="Ra054da50d7cf4d5a" /><Relationship Type="http://schemas.openxmlformats.org/officeDocument/2006/relationships/image" Target="/ppt/media/image33.png" Id="R3f65eaae3f9c4387" /><Relationship Type="http://schemas.openxmlformats.org/officeDocument/2006/relationships/image" Target="/ppt/media/image34.png" Id="R64fda2ede1944236" /><Relationship Type="http://schemas.openxmlformats.org/officeDocument/2006/relationships/notesSlide" Target="/ppt/notesSlides/notesSlide20.xml" Id="Rcf75ea1f150c4d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69e6e95e534244" /><Relationship Type="http://schemas.openxmlformats.org/officeDocument/2006/relationships/image" Target="/ppt/media/image20.png" Id="R0765b256ca244a87" /><Relationship Type="http://schemas.openxmlformats.org/officeDocument/2006/relationships/image" Target="/ppt/media/image21.png" Id="Re8ff13aa5e3a49e6" /><Relationship Type="http://schemas.openxmlformats.org/officeDocument/2006/relationships/notesSlide" Target="/ppt/notesSlides/notesSlide21.xml" Id="R57fc30f16bda4b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1092D4D8-1138-4CD5-8F48-7102D8A7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72" y="2112057"/>
            <a:ext cx="8388681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/>
              <a:t>Learned Apodization Fusion for Robust Ultrasound Beamforming Near Array Boundaries</a:t>
            </a:r>
          </a:p>
          <a:p xmlns:a="http://schemas.openxmlformats.org/drawingml/2006/main">
            <a:pPr algn="ctr">
              <a:buNone/>
            </a:pPr>
            <a:endParaRPr sz="2800"/>
          </a:p>
          <a:p xmlns:a="http://schemas.openxmlformats.org/drawingml/2006/main">
            <a:pPr algn="ctr">
              <a:buNone/>
            </a:pPr>
            <a:r>
              <a:rPr sz="1600" u="sng"/>
              <a:t>Guillermo Cosarinsky</a:t>
            </a:r>
            <a:r>
              <a:rPr sz="1600" u="sng" baseline="30000"/>
              <a:t>1</a:t>
            </a:r>
            <a:r>
              <a:rPr sz="1600"/>
              <a:t>, Mario Muñoz</a:t>
            </a:r>
            <a:r>
              <a:rPr sz="1600" baseline="30000"/>
              <a:t>1</a:t>
            </a:r>
            <a:r>
              <a:rPr sz="1600"/>
              <a:t>, Adrián Rubio</a:t>
            </a:r>
            <a:r>
              <a:rPr sz="1600" baseline="30000"/>
              <a:t>1</a:t>
            </a:r>
            <a:r>
              <a:rPr sz="1600"/>
              <a:t>, Laura Monelleo</a:t>
            </a:r>
            <a:r>
              <a:rPr sz="1600" baseline="30000"/>
              <a:t>1</a:t>
            </a:r>
            <a:r>
              <a:rPr sz="1600"/>
              <a:t>, Jorge F. </a:t>
            </a:r>
            <a:r>
              <a:rPr sz="1600"/>
              <a:t>Cruza</a:t>
            </a:r>
            <a:r>
              <a:rPr sz="1600" baseline="30000"/>
              <a:t>1</a:t>
            </a:r>
          </a:p>
          <a:p xmlns:a="http://schemas.openxmlformats.org/drawingml/2006/main">
            <a:pPr algn="ctr">
              <a:buNone/>
            </a:pPr>
            <a:endParaRPr sz="1600" baseline="30000"/>
          </a:p>
          <a:p xmlns:a="http://schemas.openxmlformats.org/drawingml/2006/main">
            <a:pPr algn="ctr">
              <a:buNone/>
            </a:pPr>
            <a:r>
              <a:rPr sz="1600" i="1" baseline="30000"/>
              <a:t>1</a:t>
            </a:r>
            <a:r>
              <a:rPr sz="1600" i="1"/>
              <a:t>Ultrasonic and Nuclear Technology Group (GTUN), Institute for Physical and Information Technologies (ITEFI), Spanish National Research Council (CSIC), c/Serrano 144, 28006 Madrid, Spain</a:t>
            </a:r>
            <a:endParaRPr sz="1600"/>
          </a:p>
          <a:p xmlns:a="http://schemas.openxmlformats.org/drawingml/2006/main">
            <a:pPr algn="ctr">
              <a:buNone/>
            </a:pPr>
            <a:r>
              <a:rPr i="1"/>
              <a:t> </a:t>
            </a:r>
            <a:endParaRPr/>
          </a:p>
          <a:p xmlns:a="http://schemas.openxmlformats.org/drawingml/2006/main">
            <a:pPr algn="ctr">
              <a:buNone/>
            </a:pPr>
            <a:r>
              <a:rPr sz="1400"/>
              <a:t>Corresponding author email: </a:t>
            </a:r>
            <a:r>
              <a:rPr sz="1400" i="1"/>
              <a:t>g.cosarinsky@csic.es</a:t>
            </a:r>
            <a:endParaRPr sz="1400"/>
          </a:p>
          <a:p xmlns:a="http://schemas.openxmlformats.org/drawingml/2006/main">
            <a:endParaRPr/>
          </a:p>
        </p:txBody>
      </p:sp>
      <p:pic>
        <p:nvPicPr>
          <p:cNvPr id="7" name="Imagen 6">
            <a:extLst xmlns:a="http://schemas.openxmlformats.org/drawingml/2006/main">
              <a:ext uri="{FF2B5EF4-FFF2-40B4-BE49-F238E27FC236}">
                <a16:creationId xmlns:a16="http://schemas.microsoft.com/office/drawing/2014/main" id="{E355F525-EC81-49CF-813C-32D02114C6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82f1c628643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1259" y="5251378"/>
            <a:ext cx="2170696" cy="389766"/>
          </a:xfrm>
          <a:prstGeom xmlns:a="http://schemas.openxmlformats.org/drawingml/2006/main" prst="rect">
            <a:avLst/>
          </a:prstGeom>
        </p:spPr>
      </p:pic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B5988744-5D76-441D-A6C8-C5D4C2962A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33dae2ca945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1576" y="316195"/>
            <a:ext cx="8668110" cy="11754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719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400093C6-F4E3-4FF8-BDDC-7977BB13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295" y="4878062"/>
            <a:ext cx="5612056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Kim et al., Electronics 8, 242 (2019). doi:10.3390/electronics8020242</a:t>
            </a:r>
            <a:endParaRPr sz="900"/>
          </a:p>
        </p:txBody>
      </p:sp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970AF104-732B-462B-9F57-757F77A221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511d69e7148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0296" y="1662036"/>
            <a:ext cx="5244586" cy="3124932"/>
          </a:xfrm>
          <a:prstGeom xmlns:a="http://schemas.openxmlformats.org/drawingml/2006/main" prst="rect">
            <a:avLst/>
          </a:prstGeom>
        </p:spPr>
      </p:pic>
      <p:sp>
        <p:nvSpPr>
          <p:cNvPr id="6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281B2C8-D769-4486-8318-CE9BE209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75" y="-144463"/>
            <a:ext cx="304800" cy="3048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0DE6B174-1A79-4F91-BB30-07E9AD22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798" y="3899989"/>
            <a:ext cx="214398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Apodization</a:t>
            </a:r>
            <a:r>
              <a:t> </a:t>
            </a:r>
            <a:r>
              <a:t>function</a:t>
            </a:r>
            <a:endParaRPr/>
          </a:p>
        </p:txBody>
      </p:sp>
      <p:sp>
        <p:nvSpPr>
          <p:cNvPr id="10" name="Rectángulo redondeado 9">
            <a:extLst xmlns:a="http://schemas.openxmlformats.org/drawingml/2006/main">
              <a:ext uri="{FF2B5EF4-FFF2-40B4-BE49-F238E27FC236}">
                <a16:creationId xmlns:a16="http://schemas.microsoft.com/office/drawing/2014/main" id="{F58B61EE-4327-4260-829A-84BE09D6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066" y="3186446"/>
            <a:ext cx="815618" cy="360059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uadroTexto 10">
            <a:extLst xmlns:a="http://schemas.openxmlformats.org/drawingml/2006/main">
              <a:ext uri="{FF2B5EF4-FFF2-40B4-BE49-F238E27FC236}">
                <a16:creationId xmlns:a16="http://schemas.microsoft.com/office/drawing/2014/main" id="{67744E47-8F32-4B43-A3F9-F6531321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967" y="2169043"/>
            <a:ext cx="3653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Delayed</a:t>
            </a:r>
            <a:r>
              <a:rPr sz="1600"/>
              <a:t> </a:t>
            </a:r>
            <a:r>
              <a:rPr sz="1600"/>
              <a:t>signals</a:t>
            </a:r>
            <a:r>
              <a:rPr sz="1600"/>
              <a:t> </a:t>
            </a:r>
            <a:r>
              <a:rPr sz="1600"/>
              <a:t>from</a:t>
            </a:r>
            <a:r>
              <a:rPr sz="1600"/>
              <a:t> </a:t>
            </a:r>
            <a:r>
              <a:rPr sz="1600"/>
              <a:t>each</a:t>
            </a:r>
            <a:r>
              <a:rPr sz="1600"/>
              <a:t> </a:t>
            </a:r>
            <a:r>
              <a:rPr sz="1600"/>
              <a:t>array</a:t>
            </a:r>
            <a:r>
              <a:rPr sz="1600"/>
              <a:t> </a:t>
            </a:r>
            <a:r>
              <a:rPr sz="1600"/>
              <a:t>element</a:t>
            </a:r>
            <a:r>
              <a:rPr sz="1600"/>
              <a:t> j</a:t>
            </a:r>
            <a:endParaRPr sz="1600"/>
          </a:p>
        </p:txBody>
      </p:sp>
      <p:cxnSp>
        <p:nvCxnSpPr>
          <p:cNvPr id="13" name="Conector recto de flecha 12">
            <a:extLst xmlns:a="http://schemas.openxmlformats.org/drawingml/2006/main">
              <a:ext uri="{FF2B5EF4-FFF2-40B4-BE49-F238E27FC236}">
                <a16:creationId xmlns:a16="http://schemas.microsoft.com/office/drawing/2014/main" id="{7B1EB77B-A2E3-4A10-8788-A73E364797B9}"/>
              </a:ext>
            </a:extLst>
          </p:cNvPr>
          <p:cNvCxnSpPr/>
          <p:nvPr/>
        </p:nvCxnSpPr>
        <p:spPr>
          <a:xfrm xmlns:a="http://schemas.openxmlformats.org/drawingml/2006/main" flipH="1">
            <a:off x="9913122" y="2435552"/>
            <a:ext cx="239282" cy="68639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" name="Rectángulo redondeado 13">
            <a:extLst xmlns:a="http://schemas.openxmlformats.org/drawingml/2006/main">
              <a:ext uri="{FF2B5EF4-FFF2-40B4-BE49-F238E27FC236}">
                <a16:creationId xmlns:a16="http://schemas.microsoft.com/office/drawing/2014/main" id="{2AE15325-93D7-4B23-9E25-09C9F985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8919" y="3168219"/>
            <a:ext cx="1623701" cy="360059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CuadroTexto 14">
            <a:extLst xmlns:a="http://schemas.openxmlformats.org/drawingml/2006/main">
              <a:ext uri="{FF2B5EF4-FFF2-40B4-BE49-F238E27FC236}">
                <a16:creationId xmlns:a16="http://schemas.microsoft.com/office/drawing/2014/main" id="{479C00A4-9223-4F91-B96F-963F4CA7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383" y="714196"/>
            <a:ext cx="4427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Receive beamforming and apodization</a:t>
            </a:r>
            <a:endParaRPr b="1"/>
          </a:p>
        </p:txBody>
      </p:sp>
      <p:pic>
        <p:nvPicPr>
          <p:cNvPr id="17" name="Imagen 16">
            <a:extLst xmlns:a="http://schemas.openxmlformats.org/drawingml/2006/main">
              <a:ext uri="{FF2B5EF4-FFF2-40B4-BE49-F238E27FC236}">
                <a16:creationId xmlns:a16="http://schemas.microsoft.com/office/drawing/2014/main" id="{D070F202-9936-4535-8C84-D5156021D3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22ad9ba3c49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3307" y="3074134"/>
            <a:ext cx="3905250" cy="628650"/>
          </a:xfrm>
          <a:prstGeom xmlns:a="http://schemas.openxmlformats.org/drawingml/2006/main" prst="rect">
            <a:avLst/>
          </a:prstGeom>
        </p:spPr>
      </p:pic>
      <p:cxnSp>
        <p:nvCxnSpPr>
          <p:cNvPr id="3" name="Conector recto de flecha 2">
            <a:extLst xmlns:a="http://schemas.openxmlformats.org/drawingml/2006/main">
              <a:ext uri="{FF2B5EF4-FFF2-40B4-BE49-F238E27FC236}">
                <a16:creationId xmlns:a16="http://schemas.microsoft.com/office/drawing/2014/main" id="{970DDEBF-6A5E-42C6-A5A6-2F2A5FC21909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8921809" y="3546505"/>
            <a:ext cx="179462" cy="353484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7" name="Imagen 6">
            <a:extLst xmlns:a="http://schemas.openxmlformats.org/drawingml/2006/main">
              <a:ext uri="{FF2B5EF4-FFF2-40B4-BE49-F238E27FC236}">
                <a16:creationId xmlns:a16="http://schemas.microsoft.com/office/drawing/2014/main" id="{D1781C9D-F13A-4D74-B457-D28D6C20A9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a5c81e42044f76"/>
          <a:srcRect xmlns:a="http://schemas.openxmlformats.org/drawingml/2006/main" l="1321" t="19367" r="71732" b="6409"/>
          <a:stretch xmlns:a="http://schemas.openxmlformats.org/drawingml/2006/main"/>
        </p:blipFill>
        <p:spPr>
          <a:xfrm xmlns:a="http://schemas.openxmlformats.org/drawingml/2006/main" rot="18328162" flipV="1">
            <a:off x="757630" y="38965"/>
            <a:ext cx="1146761" cy="2039449"/>
          </a:xfrm>
          <a:prstGeom xmlns:a="http://schemas.openxmlformats.org/drawingml/2006/main" prst="rect">
            <a:avLst/>
          </a:prstGeom>
        </p:spPr>
      </p:pic>
      <p:sp>
        <p:nvSpPr>
          <p:cNvPr id="8" name="Elipse 7">
            <a:extLst xmlns:a="http://schemas.openxmlformats.org/drawingml/2006/main">
              <a:ext uri="{FF2B5EF4-FFF2-40B4-BE49-F238E27FC236}">
                <a16:creationId xmlns:a16="http://schemas.microsoft.com/office/drawing/2014/main" id="{B53C5A8A-AEDB-4587-BB06-F965BAC9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302211">
            <a:off x="1484922" y="1352668"/>
            <a:ext cx="1144809" cy="365460"/>
          </a:xfrm>
          <a:prstGeom xmlns:a="http://schemas.openxmlformats.org/drawingml/2006/main" prst="ellipse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cxnSp>
        <p:nvCxnSpPr>
          <p:cNvPr id="16" name="Conector recto de flecha 15">
            <a:extLst xmlns:a="http://schemas.openxmlformats.org/drawingml/2006/main">
              <a:ext uri="{FF2B5EF4-FFF2-40B4-BE49-F238E27FC236}">
                <a16:creationId xmlns:a16="http://schemas.microsoft.com/office/drawing/2014/main" id="{96273B43-5DDB-4520-8AEF-70B6B0417155}"/>
              </a:ext>
            </a:extLst>
          </p:cNvPr>
          <p:cNvCxnSpPr>
            <a:stCxn xmlns:a="http://schemas.openxmlformats.org/drawingml/2006/main" id="8" idx="4"/>
          </p:cNvCxnSpPr>
          <p:nvPr/>
        </p:nvCxnSpPr>
        <p:spPr>
          <a:xfrm xmlns:a="http://schemas.openxmlformats.org/drawingml/2006/main">
            <a:off x="2206943" y="1640303"/>
            <a:ext cx="664444" cy="692699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6803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n 7">
            <a:extLst xmlns:a="http://schemas.openxmlformats.org/drawingml/2006/main">
              <a:ext uri="{FF2B5EF4-FFF2-40B4-BE49-F238E27FC236}">
                <a16:creationId xmlns:a16="http://schemas.microsoft.com/office/drawing/2014/main" id="{3E6FBDEC-B921-4BF6-8D2A-5EAF53A55B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c04ff3c5a4e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09871" y="3039601"/>
            <a:ext cx="3813162" cy="679644"/>
          </a:xfrm>
          <a:prstGeom xmlns:a="http://schemas.openxmlformats.org/drawingml/2006/main" prst="rect">
            <a:avLst/>
          </a:prstGeom>
        </p:spPr>
      </p:pic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8DCE0315-4679-4032-9718-8C8014FC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798" y="3899989"/>
            <a:ext cx="192180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Apodization</a:t>
            </a:r>
            <a:r>
              <a:rPr sz="1600"/>
              <a:t> </a:t>
            </a:r>
            <a:r>
              <a:rPr sz="1600"/>
              <a:t>function</a:t>
            </a:r>
            <a:endParaRPr sz="1600"/>
          </a:p>
        </p:txBody>
      </p:sp>
      <p:sp>
        <p:nvSpPr>
          <p:cNvPr id="11" name="CuadroTexto 10">
            <a:extLst xmlns:a="http://schemas.openxmlformats.org/drawingml/2006/main">
              <a:ext uri="{FF2B5EF4-FFF2-40B4-BE49-F238E27FC236}">
                <a16:creationId xmlns:a16="http://schemas.microsoft.com/office/drawing/2014/main" id="{E00463D6-D1C5-4DBF-9F93-4BDBBAA8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967" y="2169043"/>
            <a:ext cx="3653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Delayed</a:t>
            </a:r>
            <a:r>
              <a:rPr sz="1600"/>
              <a:t> </a:t>
            </a:r>
            <a:r>
              <a:rPr sz="1600"/>
              <a:t>signals</a:t>
            </a:r>
            <a:r>
              <a:rPr sz="1600"/>
              <a:t> </a:t>
            </a:r>
            <a:r>
              <a:rPr sz="1600"/>
              <a:t>from</a:t>
            </a:r>
            <a:r>
              <a:rPr sz="1600"/>
              <a:t> </a:t>
            </a:r>
            <a:r>
              <a:rPr sz="1600"/>
              <a:t>each</a:t>
            </a:r>
            <a:r>
              <a:rPr sz="1600"/>
              <a:t> </a:t>
            </a:r>
            <a:r>
              <a:rPr sz="1600"/>
              <a:t>array</a:t>
            </a:r>
            <a:r>
              <a:rPr sz="1600"/>
              <a:t> </a:t>
            </a:r>
            <a:r>
              <a:rPr sz="1600"/>
              <a:t>element</a:t>
            </a:r>
            <a:r>
              <a:rPr sz="1600"/>
              <a:t> j</a:t>
            </a:r>
            <a:endParaRPr sz="1600"/>
          </a:p>
        </p:txBody>
      </p:sp>
      <p:cxnSp>
        <p:nvCxnSpPr>
          <p:cNvPr id="13" name="Conector recto de flecha 12">
            <a:extLst xmlns:a="http://schemas.openxmlformats.org/drawingml/2006/main">
              <a:ext uri="{FF2B5EF4-FFF2-40B4-BE49-F238E27FC236}">
                <a16:creationId xmlns:a16="http://schemas.microsoft.com/office/drawing/2014/main" id="{BBA64595-1E4C-4ECD-AE8C-A5439C228E9F}"/>
              </a:ext>
            </a:extLst>
          </p:cNvPr>
          <p:cNvCxnSpPr/>
          <p:nvPr/>
        </p:nvCxnSpPr>
        <p:spPr>
          <a:xfrm xmlns:a="http://schemas.openxmlformats.org/drawingml/2006/main" flipH="1">
            <a:off x="9913122" y="2435552"/>
            <a:ext cx="239282" cy="68639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CuadroTexto 14">
            <a:extLst xmlns:a="http://schemas.openxmlformats.org/drawingml/2006/main">
              <a:ext uri="{FF2B5EF4-FFF2-40B4-BE49-F238E27FC236}">
                <a16:creationId xmlns:a16="http://schemas.microsoft.com/office/drawing/2014/main" id="{4C2C2312-CC02-456C-AA86-B092C966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154" y="705651"/>
            <a:ext cx="522954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Apodization controls resolution and sidelobes</a:t>
            </a:r>
            <a:endParaRPr b="1"/>
          </a:p>
        </p:txBody>
      </p:sp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70689756-D46D-473B-BE77-2B1997D63E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75456462445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0196" y="1602971"/>
            <a:ext cx="6299439" cy="4199626"/>
          </a:xfrm>
          <a:prstGeom xmlns:a="http://schemas.openxmlformats.org/drawingml/2006/main" prst="rect">
            <a:avLst/>
          </a:prstGeom>
        </p:spPr>
      </p:pic>
      <p:sp>
        <p:nvSpPr>
          <p:cNvPr id="3" name="CuadroTexto 2">
            <a:extLst xmlns:a="http://schemas.openxmlformats.org/drawingml/2006/main">
              <a:ext uri="{FF2B5EF4-FFF2-40B4-BE49-F238E27FC236}">
                <a16:creationId xmlns:a16="http://schemas.microsoft.com/office/drawing/2014/main" id="{8F24E9F9-5CF4-484F-81B0-BF14F6C9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266" y="5802597"/>
            <a:ext cx="2929255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Resolution and sidelobe trade-off</a:t>
            </a:r>
            <a:endParaRPr sz="1600"/>
          </a:p>
        </p:txBody>
      </p:sp>
      <p:cxnSp>
        <p:nvCxnSpPr>
          <p:cNvPr id="16" name="Conector recto de flecha 15">
            <a:extLst xmlns:a="http://schemas.openxmlformats.org/drawingml/2006/main">
              <a:ext uri="{FF2B5EF4-FFF2-40B4-BE49-F238E27FC236}">
                <a16:creationId xmlns:a16="http://schemas.microsoft.com/office/drawing/2014/main" id="{C9428A36-47ED-4EF9-B310-85C185915BD2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8921809" y="3546505"/>
            <a:ext cx="179462" cy="353484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7761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CC10D41C-E4BA-4909-B1DF-5BEB11EC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958" y="739834"/>
            <a:ext cx="3030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Dynamic receive aperture</a:t>
            </a:r>
            <a:endParaRPr b="1"/>
          </a:p>
        </p:txBody>
      </p:sp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AE832FE0-4597-494D-8828-6E947ABBF8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a9fd86ba042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687386" y="1939897"/>
            <a:ext cx="8407840" cy="3179034"/>
          </a:xfrm>
          <a:prstGeom xmlns:a="http://schemas.openxmlformats.org/drawingml/2006/main" prst="rect">
            <a:avLst/>
          </a:prstGeom>
        </p:spPr>
      </p:pic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0A17BEBD-E430-4721-8A60-BF78EEE6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811" y="5498159"/>
            <a:ext cx="5183505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F-number controls the active subaperture at each focal point</a:t>
            </a:r>
            <a:endParaRPr sz="1600"/>
          </a:p>
        </p:txBody>
      </p:sp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261E1047-E1B4-4EB4-A4C0-B10EF3471B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7533430d24a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56218" y="1688442"/>
            <a:ext cx="1182213" cy="224318"/>
          </a:xfrm>
          <a:prstGeom xmlns:a="http://schemas.openxmlformats.org/drawingml/2006/main" prst="rect">
            <a:avLst/>
          </a:prstGeom>
        </p:spPr>
      </p:pic>
      <p:pic>
        <p:nvPicPr>
          <p:cNvPr id="6" name="Imagen 5">
            <a:extLst xmlns:a="http://schemas.openxmlformats.org/drawingml/2006/main">
              <a:ext uri="{FF2B5EF4-FFF2-40B4-BE49-F238E27FC236}">
                <a16:creationId xmlns:a16="http://schemas.microsoft.com/office/drawing/2014/main" id="{C51561F2-D582-4F35-905C-5C8642170C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bd6c8660a45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2248" y="5070110"/>
            <a:ext cx="626646" cy="1854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73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71F655BE-9323-49DE-B2CF-C054F2C9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94" y="731288"/>
            <a:ext cx="470566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Learning continuous apodization weights</a:t>
            </a:r>
            <a:endParaRPr b="1"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46774CC-1EDC-4853-A9AB-3FACDD71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223" y="4570411"/>
            <a:ext cx="8556726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Delaunay et al., IEEE IUS 2025. doi:10.1109/IUS62464.2025.11201299</a:t>
            </a:r>
          </a:p>
        </p:txBody>
      </p:sp>
      <p:pic>
        <p:nvPicPr>
          <p:cNvPr id="8" name="Imagen 7">
            <a:extLst xmlns:a="http://schemas.openxmlformats.org/drawingml/2006/main">
              <a:ext uri="{FF2B5EF4-FFF2-40B4-BE49-F238E27FC236}">
                <a16:creationId xmlns:a16="http://schemas.microsoft.com/office/drawing/2014/main" id="{0BD9C6AA-4032-4305-8C15-69E6E18E7A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90d4e5aab4c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72561" y="1929952"/>
            <a:ext cx="8711939" cy="24569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2818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8DD9F959-58ED-4FAF-920E-FB6D8C44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94" y="731288"/>
            <a:ext cx="35086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9997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Null Subtraction Imaging (NSI)</a:t>
            </a:r>
            <a:endParaRPr b="1"/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0F31EC46-8EE2-4A80-A9BC-920D9B5F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657" y="6163680"/>
            <a:ext cx="977069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al., IEEE TUFFC 66(1), 5–17 (2019). doi:10.1109/TUFFC.2018.2876285</a:t>
            </a:r>
          </a:p>
        </p:txBody>
      </p:sp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7693F033-861F-4FCD-B179-359CC0997A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ed9b552b614bf5"/>
          <a:srcRect xmlns:a="http://schemas.openxmlformats.org/drawingml/2006/main" l="0" t="0" r="0" b="5783"/>
          <a:stretch xmlns:a="http://schemas.openxmlformats.org/drawingml/2006/main"/>
        </p:blipFill>
        <p:spPr>
          <a:xfrm xmlns:a="http://schemas.openxmlformats.org/drawingml/2006/main">
            <a:off x="1079496" y="2347202"/>
            <a:ext cx="5052394" cy="2818796"/>
          </a:xfrm>
          <a:prstGeom xmlns:a="http://schemas.openxmlformats.org/drawingml/2006/main" prst="rect">
            <a:avLst/>
          </a:prstGeom>
        </p:spPr>
      </p:pic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DC994372-9E51-492D-A0BA-C5580077B7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689f63ff440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428" y="2129863"/>
            <a:ext cx="4351972" cy="3424924"/>
          </a:xfrm>
          <a:prstGeom xmlns:a="http://schemas.openxmlformats.org/drawingml/2006/main" prst="rect">
            <a:avLst/>
          </a:prstGeom>
        </p:spPr>
      </p:pic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E7E716F0-C69B-4CC5-AFD6-2F36DC85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164" y="1555625"/>
            <a:ext cx="5013643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 (2019): complementary receive apodizations</a:t>
            </a:r>
            <a:endParaRPr sz="1600" b="1"/>
          </a:p>
        </p:txBody>
      </p:sp>
      <p:sp>
        <p:nvSpPr>
          <p:cNvPr id="10" name="CuadroTexto 9">
            <a:extLst xmlns:a="http://schemas.openxmlformats.org/drawingml/2006/main">
              <a:ext uri="{FF2B5EF4-FFF2-40B4-BE49-F238E27FC236}">
                <a16:creationId xmlns:a16="http://schemas.microsoft.com/office/drawing/2014/main" id="{99B7A11A-66CF-4564-97B1-08B19F8C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706" y="5370121"/>
            <a:ext cx="56137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Null</a:t>
            </a:r>
            <a:endParaRPr/>
          </a:p>
        </p:txBody>
      </p:sp>
      <p:cxnSp>
        <p:nvCxnSpPr>
          <p:cNvPr id="12" name="Conector recto de flecha 11">
            <a:extLst xmlns:a="http://schemas.openxmlformats.org/drawingml/2006/main">
              <a:ext uri="{FF2B5EF4-FFF2-40B4-BE49-F238E27FC236}">
                <a16:creationId xmlns:a16="http://schemas.microsoft.com/office/drawing/2014/main" id="{96872E8E-5270-4647-B524-D94DE63A5D99}"/>
              </a:ext>
            </a:extLst>
          </p:cNvPr>
          <p:cNvCxnSpPr/>
          <p:nvPr/>
        </p:nvCxnSpPr>
        <p:spPr>
          <a:xfrm xmlns:a="http://schemas.openxmlformats.org/drawingml/2006/main" flipV="1">
            <a:off x="7266296" y="4632431"/>
            <a:ext cx="1531022" cy="866487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CuadroTexto 12">
            <a:extLst xmlns:a="http://schemas.openxmlformats.org/drawingml/2006/main">
              <a:ext uri="{FF2B5EF4-FFF2-40B4-BE49-F238E27FC236}">
                <a16:creationId xmlns:a16="http://schemas.microsoft.com/office/drawing/2014/main" id="{974EB39D-415D-476E-BBC4-3163289D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722" y="2223743"/>
            <a:ext cx="284885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Apodization</a:t>
            </a:r>
            <a:r>
              <a:rPr sz="1600"/>
              <a:t> </a:t>
            </a:r>
            <a:r>
              <a:rPr sz="1600"/>
              <a:t>inside</a:t>
            </a:r>
            <a:r>
              <a:rPr sz="1600"/>
              <a:t> sub-</a:t>
            </a:r>
            <a:r>
              <a:rPr sz="1600"/>
              <a:t>aperture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64186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807100F4-4180-4655-B65E-5C81DF5D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94" y="731288"/>
            <a:ext cx="35086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9997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Null Subtraction Imaging (NSI)</a:t>
            </a:r>
            <a:endParaRPr b="1"/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2CAF651C-A852-498C-9C50-CDC752A1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657" y="6163680"/>
            <a:ext cx="977069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al., IEEE TUFFC 66(1), 5–17 (2019). doi:10.1109/TUFFC.2018.2876285</a:t>
            </a:r>
          </a:p>
        </p:txBody>
      </p:sp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8D0B4A78-D193-4003-9C83-E8E60FCE37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b71afa6955a49fd"/>
          <a:srcRect xmlns:a="http://schemas.openxmlformats.org/drawingml/2006/main" l="0" t="0" r="0" b="5783"/>
          <a:stretch xmlns:a="http://schemas.openxmlformats.org/drawingml/2006/main"/>
        </p:blipFill>
        <p:spPr>
          <a:xfrm xmlns:a="http://schemas.openxmlformats.org/drawingml/2006/main">
            <a:off x="1079496" y="2347202"/>
            <a:ext cx="5052394" cy="2818796"/>
          </a:xfrm>
          <a:prstGeom xmlns:a="http://schemas.openxmlformats.org/drawingml/2006/main" prst="rect">
            <a:avLst/>
          </a:prstGeom>
        </p:spPr>
      </p:pic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42942367-B0A2-4F59-84BF-3C8C3044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164" y="1555625"/>
            <a:ext cx="5013643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 (2019): complementary receive apodizations</a:t>
            </a:r>
            <a:endParaRPr sz="1600" b="1"/>
          </a:p>
        </p:txBody>
      </p:sp>
      <p:sp>
        <p:nvSpPr>
          <p:cNvPr id="13" name="CuadroTexto 12">
            <a:extLst xmlns:a="http://schemas.openxmlformats.org/drawingml/2006/main">
              <a:ext uri="{FF2B5EF4-FFF2-40B4-BE49-F238E27FC236}">
                <a16:creationId xmlns:a16="http://schemas.microsoft.com/office/drawing/2014/main" id="{102BA699-F8EA-4A41-8921-139D061B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722" y="2223743"/>
            <a:ext cx="284885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Apodization</a:t>
            </a:r>
            <a:r>
              <a:rPr sz="1600"/>
              <a:t> </a:t>
            </a:r>
            <a:r>
              <a:rPr sz="1600"/>
              <a:t>inside</a:t>
            </a:r>
            <a:r>
              <a:rPr sz="1600"/>
              <a:t> sub-</a:t>
            </a:r>
            <a:r>
              <a:rPr sz="1600"/>
              <a:t>aperture</a:t>
            </a:r>
            <a:endParaRPr sz="1600"/>
          </a:p>
        </p:txBody>
      </p:sp>
      <p:pic>
        <p:nvPicPr>
          <p:cNvPr id="11" name="Imagen 10">
            <a:extLst xmlns:a="http://schemas.openxmlformats.org/drawingml/2006/main">
              <a:ext uri="{FF2B5EF4-FFF2-40B4-BE49-F238E27FC236}">
                <a16:creationId xmlns:a16="http://schemas.microsoft.com/office/drawing/2014/main" id="{8994F63A-8780-4BCD-B5A5-FAC9F84348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8f3ce70d141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3524" y="2591648"/>
            <a:ext cx="5693383" cy="2048794"/>
          </a:xfrm>
          <a:prstGeom xmlns:a="http://schemas.openxmlformats.org/drawingml/2006/main" prst="rect">
            <a:avLst/>
          </a:prstGeom>
        </p:spPr>
      </p:pic>
      <p:sp>
        <p:nvSpPr>
          <p:cNvPr id="6" name="Elipse 5">
            <a:extLst xmlns:a="http://schemas.openxmlformats.org/drawingml/2006/main">
              <a:ext uri="{FF2B5EF4-FFF2-40B4-BE49-F238E27FC236}">
                <a16:creationId xmlns:a16="http://schemas.microsoft.com/office/drawing/2014/main" id="{8C92A551-EE63-4EEF-AD9C-16CE66FF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622" y="3367043"/>
            <a:ext cx="564022" cy="905854"/>
          </a:xfrm>
          <a:prstGeom xmlns:a="http://schemas.openxmlformats.org/drawingml/2006/main" prst="ellipse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CuadroTexto 13">
            <a:extLst xmlns:a="http://schemas.openxmlformats.org/drawingml/2006/main">
              <a:ext uri="{FF2B5EF4-FFF2-40B4-BE49-F238E27FC236}">
                <a16:creationId xmlns:a16="http://schemas.microsoft.com/office/drawing/2014/main" id="{55A23706-D390-49FE-9F22-0E3DB298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129" y="2374571"/>
            <a:ext cx="171700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Beam</a:t>
            </a:r>
            <a:r>
              <a:rPr sz="1600"/>
              <a:t> </a:t>
            </a:r>
            <a:r>
              <a:rPr sz="1600"/>
              <a:t>profile</a:t>
            </a:r>
            <a:r>
              <a:rPr sz="1600"/>
              <a:t> / PSF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4285843560"/>
      </p:ext>
    </p:extLst>
  </p:cSld>
</p:sld>
</file>

<file path=ppt/slides/slide8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22969323-4F5A-49EC-88DC-723DB813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94" y="731288"/>
            <a:ext cx="35086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9997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Null Subtraction Imaging (NSI)</a:t>
            </a:r>
            <a:endParaRPr b="1"/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02786018-DA6D-4F7F-90D3-6017BCFA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657" y="6163680"/>
            <a:ext cx="977069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al., IEEE TUFFC 66(1), 5–17 (2019). doi:10.1109/TUFFC.2018.2876285</a:t>
            </a:r>
          </a:p>
        </p:txBody>
      </p:sp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E145C624-6856-4ED9-AFAA-CBF0FD0598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17025a80a54259"/>
          <a:srcRect xmlns:a="http://schemas.openxmlformats.org/drawingml/2006/main" l="0" t="0" r="0" b="5783"/>
          <a:stretch xmlns:a="http://schemas.openxmlformats.org/drawingml/2006/main"/>
        </p:blipFill>
        <p:spPr>
          <a:xfrm xmlns:a="http://schemas.openxmlformats.org/drawingml/2006/main">
            <a:off x="1079496" y="2347202"/>
            <a:ext cx="5052394" cy="2818796"/>
          </a:xfrm>
          <a:prstGeom xmlns:a="http://schemas.openxmlformats.org/drawingml/2006/main" prst="rect">
            <a:avLst/>
          </a:prstGeom>
        </p:spPr>
      </p:pic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C73A31C0-FE7A-49CC-825B-FAED2D29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164" y="1555625"/>
            <a:ext cx="5013643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 (2019): complementary receive apodizations</a:t>
            </a:r>
            <a:endParaRPr sz="1600" b="1"/>
          </a:p>
        </p:txBody>
      </p:sp>
      <p:sp>
        <p:nvSpPr>
          <p:cNvPr id="13" name="CuadroTexto 12">
            <a:extLst xmlns:a="http://schemas.openxmlformats.org/drawingml/2006/main">
              <a:ext uri="{FF2B5EF4-FFF2-40B4-BE49-F238E27FC236}">
                <a16:creationId xmlns:a16="http://schemas.microsoft.com/office/drawing/2014/main" id="{CDCBDF32-1CA4-449A-B57D-0B0371A7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722" y="2223743"/>
            <a:ext cx="284885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Apodization</a:t>
            </a:r>
            <a:r>
              <a:rPr sz="1600"/>
              <a:t> </a:t>
            </a:r>
            <a:r>
              <a:rPr sz="1600"/>
              <a:t>inside</a:t>
            </a:r>
            <a:r>
              <a:rPr sz="1600"/>
              <a:t> sub-</a:t>
            </a:r>
            <a:r>
              <a:rPr sz="1600"/>
              <a:t>aperture</a:t>
            </a:r>
            <a:endParaRPr sz="1600"/>
          </a:p>
        </p:txBody>
      </p:sp>
      <p:sp>
        <p:nvSpPr>
          <p:cNvPr id="14" name="CuadroTexto 13">
            <a:extLst xmlns:a="http://schemas.openxmlformats.org/drawingml/2006/main">
              <a:ext uri="{FF2B5EF4-FFF2-40B4-BE49-F238E27FC236}">
                <a16:creationId xmlns:a16="http://schemas.microsoft.com/office/drawing/2014/main" id="{BA36C9DD-D936-4BAA-8BD6-6EF00A7C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129" y="2374571"/>
            <a:ext cx="171700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Beam</a:t>
            </a:r>
            <a:r>
              <a:rPr sz="1600"/>
              <a:t> </a:t>
            </a:r>
            <a:r>
              <a:rPr sz="1600"/>
              <a:t>profile</a:t>
            </a:r>
            <a:r>
              <a:rPr sz="1600"/>
              <a:t> / PSF</a:t>
            </a:r>
            <a:endParaRPr sz="1600"/>
          </a:p>
        </p:txBody>
      </p:sp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CB51B2DA-AA19-4CEE-8C05-52B4C38AD9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b9345977048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2059" y="2713125"/>
            <a:ext cx="3720005" cy="31930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09617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15D80C34-7BC6-4BEA-9820-22500A16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143" y="714196"/>
            <a:ext cx="542058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A </a:t>
            </a:r>
            <a:r>
              <a:rPr b="1"/>
              <a:t>problem</a:t>
            </a:r>
            <a:r>
              <a:rPr b="1"/>
              <a:t>: sub-</a:t>
            </a:r>
            <a:r>
              <a:rPr b="1"/>
              <a:t>aperture</a:t>
            </a:r>
            <a:r>
              <a:rPr b="1"/>
              <a:t> </a:t>
            </a:r>
            <a:r>
              <a:rPr b="1"/>
              <a:t>reduction</a:t>
            </a:r>
            <a:r>
              <a:rPr b="1"/>
              <a:t> </a:t>
            </a:r>
            <a:r>
              <a:rPr b="1"/>
              <a:t>close</a:t>
            </a:r>
            <a:r>
              <a:rPr b="1"/>
              <a:t> to </a:t>
            </a:r>
            <a:r>
              <a:rPr b="1"/>
              <a:t>array</a:t>
            </a:r>
            <a:r>
              <a:rPr b="1"/>
              <a:t> </a:t>
            </a:r>
            <a:r>
              <a:rPr b="1"/>
              <a:t>edges</a:t>
            </a:r>
            <a:endParaRPr b="1"/>
          </a:p>
        </p:txBody>
      </p:sp>
      <p:pic>
        <p:nvPicPr>
          <p:cNvPr id="8" name="Imagen 7">
            <a:extLst xmlns:a="http://schemas.openxmlformats.org/drawingml/2006/main">
              <a:ext uri="{FF2B5EF4-FFF2-40B4-BE49-F238E27FC236}">
                <a16:creationId xmlns:a16="http://schemas.microsoft.com/office/drawing/2014/main" id="{84A6CAD3-94FA-4BE2-89F4-55D699119C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3c0fff4194a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5173" y="1848947"/>
            <a:ext cx="3240000" cy="2753607"/>
          </a:xfrm>
          <a:prstGeom xmlns:a="http://schemas.openxmlformats.org/drawingml/2006/main" prst="rect">
            <a:avLst/>
          </a:prstGeom>
        </p:spPr>
      </p:pic>
      <p:pic>
        <p:nvPicPr>
          <p:cNvPr id="10" name="Imagen 9">
            <a:extLst xmlns:a="http://schemas.openxmlformats.org/drawingml/2006/main">
              <a:ext uri="{FF2B5EF4-FFF2-40B4-BE49-F238E27FC236}">
                <a16:creationId xmlns:a16="http://schemas.microsoft.com/office/drawing/2014/main" id="{46564769-C9FE-430A-8C99-57E44EEEC6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e6a0a66e541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96144" y="2160927"/>
            <a:ext cx="3240000" cy="2441627"/>
          </a:xfrm>
          <a:prstGeom xmlns:a="http://schemas.openxmlformats.org/drawingml/2006/main" prst="rect">
            <a:avLst/>
          </a:prstGeom>
        </p:spPr>
      </p:pic>
      <p:cxnSp>
        <p:nvCxnSpPr>
          <p:cNvPr id="4" name="Conector recto de flecha 3">
            <a:extLst xmlns:a="http://schemas.openxmlformats.org/drawingml/2006/main">
              <a:ext uri="{FF2B5EF4-FFF2-40B4-BE49-F238E27FC236}">
                <a16:creationId xmlns:a16="http://schemas.microsoft.com/office/drawing/2014/main" id="{1116D803-480D-4550-8A13-E328188EA2BB}"/>
              </a:ext>
            </a:extLst>
          </p:cNvPr>
          <p:cNvCxnSpPr/>
          <p:nvPr/>
        </p:nvCxnSpPr>
        <p:spPr>
          <a:xfrm xmlns:a="http://schemas.openxmlformats.org/drawingml/2006/main" flipH="1">
            <a:off x="7093009" y="1848947"/>
            <a:ext cx="170916" cy="31198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" name="Conector recto de flecha 5">
            <a:extLst xmlns:a="http://schemas.openxmlformats.org/drawingml/2006/main">
              <a:ext uri="{FF2B5EF4-FFF2-40B4-BE49-F238E27FC236}">
                <a16:creationId xmlns:a16="http://schemas.microsoft.com/office/drawing/2014/main" id="{EA28C038-0153-43A0-BBA7-F953372D1F66}"/>
              </a:ext>
            </a:extLst>
          </p:cNvPr>
          <p:cNvCxnSpPr>
            <a:stCxn xmlns:a="http://schemas.openxmlformats.org/drawingml/2006/main" id="7" idx="3"/>
          </p:cNvCxnSpPr>
          <p:nvPr/>
        </p:nvCxnSpPr>
        <p:spPr>
          <a:xfrm xmlns:a="http://schemas.openxmlformats.org/drawingml/2006/main">
            <a:off x="8568944" y="1709159"/>
            <a:ext cx="1467200" cy="45176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" name="CuadroTexto 6">
            <a:extLst xmlns:a="http://schemas.openxmlformats.org/drawingml/2006/main">
              <a:ext uri="{FF2B5EF4-FFF2-40B4-BE49-F238E27FC236}">
                <a16:creationId xmlns:a16="http://schemas.microsoft.com/office/drawing/2014/main" id="{CD292216-7A5C-4AB4-B787-1E4976BD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611" y="1555270"/>
            <a:ext cx="1309333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Aperture edges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999257539"/>
      </p:ext>
    </p:extLst>
  </p:cSld>
</p:sld>
</file>

<file path=ppt/slides/slide10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39FFAAA9-FFD3-4579-9E9E-12CC42EA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143" y="714196"/>
            <a:ext cx="542058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A </a:t>
            </a:r>
            <a:r>
              <a:rPr b="1"/>
              <a:t>problem</a:t>
            </a:r>
            <a:r>
              <a:rPr b="1"/>
              <a:t>: sub-</a:t>
            </a:r>
            <a:r>
              <a:rPr b="1"/>
              <a:t>aperture</a:t>
            </a:r>
            <a:r>
              <a:rPr b="1"/>
              <a:t> </a:t>
            </a:r>
            <a:r>
              <a:rPr b="1"/>
              <a:t>reduction</a:t>
            </a:r>
            <a:r>
              <a:rPr b="1"/>
              <a:t> </a:t>
            </a:r>
            <a:r>
              <a:rPr b="1"/>
              <a:t>close</a:t>
            </a:r>
            <a:r>
              <a:rPr b="1"/>
              <a:t> to </a:t>
            </a:r>
            <a:r>
              <a:rPr b="1"/>
              <a:t>array</a:t>
            </a:r>
            <a:r>
              <a:rPr b="1"/>
              <a:t> </a:t>
            </a:r>
            <a:r>
              <a:rPr b="1"/>
              <a:t>edges</a:t>
            </a:r>
            <a:endParaRPr b="1"/>
          </a:p>
        </p:txBody>
      </p:sp>
      <p:pic>
        <p:nvPicPr>
          <p:cNvPr id="8" name="Imagen 7">
            <a:extLst xmlns:a="http://schemas.openxmlformats.org/drawingml/2006/main">
              <a:ext uri="{FF2B5EF4-FFF2-40B4-BE49-F238E27FC236}">
                <a16:creationId xmlns:a16="http://schemas.microsoft.com/office/drawing/2014/main" id="{DF3DC4AF-5230-418A-8D10-B7A408AC08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f8ddde4324f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5173" y="1848947"/>
            <a:ext cx="3240000" cy="2753607"/>
          </a:xfrm>
          <a:prstGeom xmlns:a="http://schemas.openxmlformats.org/drawingml/2006/main" prst="rect">
            <a:avLst/>
          </a:prstGeom>
        </p:spPr>
      </p:pic>
      <p:pic>
        <p:nvPicPr>
          <p:cNvPr id="10" name="Imagen 9">
            <a:extLst xmlns:a="http://schemas.openxmlformats.org/drawingml/2006/main">
              <a:ext uri="{FF2B5EF4-FFF2-40B4-BE49-F238E27FC236}">
                <a16:creationId xmlns:a16="http://schemas.microsoft.com/office/drawing/2014/main" id="{65DB4721-63DF-4047-9330-11CC82A3FB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1e09cf1e540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928" y="2182669"/>
            <a:ext cx="3347668" cy="24353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0066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296B14B9-A31D-46E7-A29C-685F66E7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143" y="714196"/>
            <a:ext cx="46056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Aperture clipping near array boundaries</a:t>
            </a:r>
            <a:endParaRPr b="1"/>
          </a:p>
        </p:txBody>
      </p:sp>
      <p:pic>
        <p:nvPicPr>
          <p:cNvPr id="8" name="Imagen 7">
            <a:extLst xmlns:a="http://schemas.openxmlformats.org/drawingml/2006/main">
              <a:ext uri="{FF2B5EF4-FFF2-40B4-BE49-F238E27FC236}">
                <a16:creationId xmlns:a16="http://schemas.microsoft.com/office/drawing/2014/main" id="{435063D6-A527-44CB-917A-DFCE97EF7A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7d701e9b949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5173" y="1848947"/>
            <a:ext cx="3240000" cy="2753607"/>
          </a:xfrm>
          <a:prstGeom xmlns:a="http://schemas.openxmlformats.org/drawingml/2006/main" prst="rect">
            <a:avLst/>
          </a:prstGeom>
        </p:spPr>
      </p:pic>
      <p:pic>
        <p:nvPicPr>
          <p:cNvPr id="10" name="Imagen 9">
            <a:extLst xmlns:a="http://schemas.openxmlformats.org/drawingml/2006/main">
              <a:ext uri="{FF2B5EF4-FFF2-40B4-BE49-F238E27FC236}">
                <a16:creationId xmlns:a16="http://schemas.microsoft.com/office/drawing/2014/main" id="{CC44F82E-C940-4035-960F-B5120C8307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c104aee1f4a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928" y="2182669"/>
            <a:ext cx="3347668" cy="2435370"/>
          </a:xfrm>
          <a:prstGeom xmlns:a="http://schemas.openxmlformats.org/drawingml/2006/main" prst="rect">
            <a:avLst/>
          </a:prstGeom>
        </p:spPr>
      </p:pic>
      <p:sp>
        <p:nvSpPr>
          <p:cNvPr id="3" name="CuadroTexto 2">
            <a:extLst xmlns:a="http://schemas.openxmlformats.org/drawingml/2006/main">
              <a:ext uri="{FF2B5EF4-FFF2-40B4-BE49-F238E27FC236}">
                <a16:creationId xmlns:a16="http://schemas.microsoft.com/office/drawing/2014/main" id="{0B8CEA35-0FBB-4301-BA70-664845F3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122" y="1664281"/>
            <a:ext cx="3588067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Symmetric clipping preserves the NSI null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2525062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1264FCC5-311B-445A-A499-3CA2A7BD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505" y="830026"/>
            <a:ext cx="45802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Learned apodization fusion architecture</a:t>
            </a:r>
            <a:endParaRPr b="1"/>
          </a:p>
        </p:txBody>
      </p:sp>
      <p:pic>
        <p:nvPicPr>
          <p:cNvPr id="6" name="Imagen 5">
            <a:extLst xmlns:a="http://schemas.openxmlformats.org/drawingml/2006/main">
              <a:ext uri="{FF2B5EF4-FFF2-40B4-BE49-F238E27FC236}">
                <a16:creationId xmlns:a16="http://schemas.microsoft.com/office/drawing/2014/main" id="{FF0C06CE-F06A-4358-989A-D4C016DB6B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46c6729ca44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9499" y="2287827"/>
            <a:ext cx="8896172" cy="2625653"/>
          </a:xfrm>
          <a:prstGeom xmlns:a="http://schemas.openxmlformats.org/drawingml/2006/main" prst="rect">
            <a:avLst/>
          </a:prstGeom>
        </p:spPr>
      </p:pic>
      <p:pic>
        <p:nvPicPr>
          <p:cNvPr id="7" name="Imagen 6">
            <a:extLst xmlns:a="http://schemas.openxmlformats.org/drawingml/2006/main">
              <a:ext uri="{FF2B5EF4-FFF2-40B4-BE49-F238E27FC236}">
                <a16:creationId xmlns:a16="http://schemas.microsoft.com/office/drawing/2014/main" id="{C084DE9A-B38F-4EFB-B53A-C587D9D344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280694c944d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86767" y="1500920"/>
            <a:ext cx="2076404" cy="288823"/>
          </a:xfrm>
          <a:prstGeom xmlns:a="http://schemas.openxmlformats.org/drawingml/2006/main" prst="rect">
            <a:avLst/>
          </a:prstGeom>
        </p:spPr>
      </p:pic>
      <p:cxnSp>
        <p:nvCxnSpPr>
          <p:cNvPr id="10" name="Conector recto de flecha 9">
            <a:extLst xmlns:a="http://schemas.openxmlformats.org/drawingml/2006/main">
              <a:ext uri="{FF2B5EF4-FFF2-40B4-BE49-F238E27FC236}">
                <a16:creationId xmlns:a16="http://schemas.microsoft.com/office/drawing/2014/main" id="{2742514B-BE63-4F1F-A10D-75861ECDA29A}"/>
              </a:ext>
            </a:extLst>
          </p:cNvPr>
          <p:cNvCxnSpPr/>
          <p:nvPr/>
        </p:nvCxnSpPr>
        <p:spPr>
          <a:xfrm xmlns:a="http://schemas.openxmlformats.org/drawingml/2006/main">
            <a:off x="6238430" y="1136591"/>
            <a:ext cx="153824" cy="44438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2" name="Conector recto de flecha 11">
            <a:extLst xmlns:a="http://schemas.openxmlformats.org/drawingml/2006/main">
              <a:ext uri="{FF2B5EF4-FFF2-40B4-BE49-F238E27FC236}">
                <a16:creationId xmlns:a16="http://schemas.microsoft.com/office/drawing/2014/main" id="{3743ED58-A7E1-41AA-8186-B78248234C8A}"/>
              </a:ext>
            </a:extLst>
          </p:cNvPr>
          <p:cNvCxnSpPr/>
          <p:nvPr/>
        </p:nvCxnSpPr>
        <p:spPr>
          <a:xfrm xmlns:a="http://schemas.openxmlformats.org/drawingml/2006/main">
            <a:off x="7272471" y="1136591"/>
            <a:ext cx="1316052" cy="1709159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CuadroTexto 15">
            <a:extLst xmlns:a="http://schemas.openxmlformats.org/drawingml/2006/main">
              <a:ext uri="{FF2B5EF4-FFF2-40B4-BE49-F238E27FC236}">
                <a16:creationId xmlns:a16="http://schemas.microsoft.com/office/drawing/2014/main" id="{D621FEFF-16EA-424F-815D-2EBFCC93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83" y="5235038"/>
            <a:ext cx="1324908" cy="11772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Evaluated model</a:t>
            </a:r>
            <a:endParaRPr/>
          </a:p>
          <a:p xmlns:a="http://schemas.openxmlformats.org/drawingml/2006/main">
            <a:pPr algn="ctr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run 20260520_151111</a:t>
            </a:r>
            <a:endParaRPr/>
          </a:p>
        </p:txBody>
      </p:sp>
      <p:sp>
        <p:nvSpPr>
          <p:cNvPr id="17" name="CuadroTexto 16">
            <a:extLst xmlns:a="http://schemas.openxmlformats.org/drawingml/2006/main">
              <a:ext uri="{FF2B5EF4-FFF2-40B4-BE49-F238E27FC236}">
                <a16:creationId xmlns:a16="http://schemas.microsoft.com/office/drawing/2014/main" id="{CDBE8DEC-65E6-43F0-A3C8-0EC58C30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106" y="5512037"/>
            <a:ext cx="294036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[4 features, 16, 8, 4, 2 apodizations]</a:t>
            </a:r>
            <a:endParaRPr/>
          </a:p>
        </p:txBody>
      </p:sp>
      <p:sp>
        <p:nvSpPr>
          <p:cNvPr id="18" name="CuadroTexto 17">
            <a:extLst xmlns:a="http://schemas.openxmlformats.org/drawingml/2006/main">
              <a:ext uri="{FF2B5EF4-FFF2-40B4-BE49-F238E27FC236}">
                <a16:creationId xmlns:a16="http://schemas.microsoft.com/office/drawing/2014/main" id="{5679DC64-D249-4576-B868-4C57EAAF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497" y="5512037"/>
            <a:ext cx="225456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[2 images, 2, 1 final image]</a:t>
            </a:r>
            <a:endParaRPr/>
          </a:p>
        </p:txBody>
      </p:sp>
      <p:cxnSp>
        <p:nvCxnSpPr>
          <p:cNvPr id="20" name="Conector recto de flecha 19">
            <a:extLst xmlns:a="http://schemas.openxmlformats.org/drawingml/2006/main">
              <a:ext uri="{FF2B5EF4-FFF2-40B4-BE49-F238E27FC236}">
                <a16:creationId xmlns:a16="http://schemas.microsoft.com/office/drawing/2014/main" id="{4A536654-31F9-48C3-B09F-A83E9D191F43}"/>
              </a:ext>
            </a:extLst>
          </p:cNvPr>
          <p:cNvCxnSpPr/>
          <p:nvPr/>
        </p:nvCxnSpPr>
        <p:spPr>
          <a:xfrm xmlns:a="http://schemas.openxmlformats.org/drawingml/2006/main">
            <a:off x="3700329" y="4802736"/>
            <a:ext cx="25637" cy="54693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2" name="Conector recto de flecha 21">
            <a:extLst xmlns:a="http://schemas.openxmlformats.org/drawingml/2006/main">
              <a:ext uri="{FF2B5EF4-FFF2-40B4-BE49-F238E27FC236}">
                <a16:creationId xmlns:a16="http://schemas.microsoft.com/office/drawing/2014/main" id="{DC1E75EF-378E-4675-A2D3-925DAB510374}"/>
              </a:ext>
            </a:extLst>
          </p:cNvPr>
          <p:cNvCxnSpPr/>
          <p:nvPr/>
        </p:nvCxnSpPr>
        <p:spPr>
          <a:xfrm xmlns:a="http://schemas.openxmlformats.org/drawingml/2006/main">
            <a:off x="8981630" y="4349809"/>
            <a:ext cx="162370" cy="99985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3" name="feature-label-background">
            <a:extLst xmlns:a="http://schemas.openxmlformats.org/drawingml/2006/main">
              <a:ext uri="{FF2B5EF4-FFF2-40B4-BE49-F238E27FC236}">
                <a16:creationId xmlns:a16="http://schemas.microsoft.com/office/drawing/2014/main" id="{245E2446-929C-4C1A-AA65-2A9C0819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05150"/>
            <a:ext cx="9810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evaluated-feature-labels">
            <a:extLst xmlns:a="http://schemas.openxmlformats.org/drawingml/2006/main">
              <a:ext uri="{FF2B5EF4-FFF2-40B4-BE49-F238E27FC236}">
                <a16:creationId xmlns:a16="http://schemas.microsoft.com/office/drawing/2014/main" id="{8A2710D7-E2B7-4097-B9DE-80D76EB3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143250"/>
            <a:ext cx="1123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2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12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|x−x_f| / z</a:t>
            </a:r>
          </a:p>
          <a:p xmlns:a="http://schemas.openxmlformats.org/drawingml/2006/main">
            <a:pPr algn="r">
              <a:defRPr sz="12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|x| / z</a:t>
            </a:r>
          </a:p>
          <a:p xmlns:a="http://schemas.openxmlformats.org/drawingml/2006/main">
            <a:pPr algn="r">
              <a:defRPr sz="12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</a:t>
            </a:r>
          </a:p>
          <a:p xmlns:a="http://schemas.openxmlformats.org/drawingml/2006/main">
            <a:pPr algn="r">
              <a:defRPr sz="12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(x−x_f)x / z²</a:t>
            </a:r>
          </a:p>
        </p:txBody>
      </p:sp>
    </p:spTree>
    <p:extLst>
      <p:ext uri="{BB962C8B-B14F-4D97-AF65-F5344CB8AC3E}">
        <p14:creationId xmlns:p14="http://schemas.microsoft.com/office/powerpoint/2010/main" val="4229956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9C410474-E2A2-4AB1-BCD7-69FF3E8297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752d742b3641b4"/>
          <a:srcRect xmlns:a="http://schemas.openxmlformats.org/drawingml/2006/main" l="0" t="7191" r="52746" b="46816"/>
          <a:stretch xmlns:a="http://schemas.openxmlformats.org/drawingml/2006/main"/>
        </p:blipFill>
        <p:spPr>
          <a:xfrm xmlns:a="http://schemas.openxmlformats.org/drawingml/2006/main">
            <a:off x="1880171" y="1160980"/>
            <a:ext cx="3801438" cy="3700000"/>
          </a:xfrm>
          <a:prstGeom xmlns:a="http://schemas.openxmlformats.org/drawingml/2006/main" prst="rect">
            <a:avLst/>
          </a:prstGeom>
        </p:spPr>
      </p:pic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E4E5DA19-DEB4-4F75-99EF-51A6B4F4D3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752d742b3641b4"/>
          <a:srcRect xmlns:a="http://schemas.openxmlformats.org/drawingml/2006/main" l="46654" t="53034" r="7952" b="0"/>
          <a:stretch xmlns:a="http://schemas.openxmlformats.org/drawingml/2006/main"/>
        </p:blipFill>
        <p:spPr>
          <a:xfrm xmlns:a="http://schemas.openxmlformats.org/drawingml/2006/main">
            <a:off x="5917914" y="1160980"/>
            <a:ext cx="3664187" cy="3791164"/>
          </a:xfrm>
          <a:prstGeom xmlns:a="http://schemas.openxmlformats.org/drawingml/2006/main" prst="rect">
            <a:avLst/>
          </a:prstGeom>
        </p:spPr>
      </p:pic>
      <p:sp>
        <p:nvSpPr>
          <p:cNvPr id="6" name="CuadroTexto 5">
            <a:extLst xmlns:a="http://schemas.openxmlformats.org/drawingml/2006/main">
              <a:ext uri="{FF2B5EF4-FFF2-40B4-BE49-F238E27FC236}">
                <a16:creationId xmlns:a16="http://schemas.microsoft.com/office/drawing/2014/main" id="{41A93A49-440C-4432-A65B-A7AEE630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017" y="665640"/>
            <a:ext cx="380396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Synthetic training target and loss</a:t>
            </a:r>
            <a:endParaRPr b="1"/>
          </a:p>
        </p:txBody>
      </p:sp>
      <p:sp>
        <p:nvSpPr>
          <p:cNvPr id="7" name="CuadroTexto 6">
            <a:extLst xmlns:a="http://schemas.openxmlformats.org/drawingml/2006/main">
              <a:ext uri="{FF2B5EF4-FFF2-40B4-BE49-F238E27FC236}">
                <a16:creationId xmlns:a16="http://schemas.microsoft.com/office/drawing/2014/main" id="{C774E692-1B8F-43A5-A9F4-431128B2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495" y="5280917"/>
            <a:ext cx="9380306" cy="1318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Plane-wave simulations generated with PyMUST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Target: |I_DAS| multiplied by Gaussian masks centred on the reflectors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Loss: reflector-weighted MAE in linear amplitude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objective does not directly optimise FWHM, sidelobes, CNR or gCNR</a:t>
            </a:r>
          </a:p>
        </p:txBody>
      </p:sp>
    </p:spTree>
    <p:extLst>
      <p:ext uri="{BB962C8B-B14F-4D97-AF65-F5344CB8AC3E}">
        <p14:creationId xmlns:p14="http://schemas.microsoft.com/office/powerpoint/2010/main" val="293780075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uadroTexto 5">
            <a:extLst xmlns:a="http://schemas.openxmlformats.org/drawingml/2006/main">
              <a:ext uri="{FF2B5EF4-FFF2-40B4-BE49-F238E27FC236}">
                <a16:creationId xmlns:a16="http://schemas.microsoft.com/office/drawing/2014/main" id="{28E7CD24-B402-4AA6-83FC-8FE4A797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325" y="717011"/>
            <a:ext cx="441356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Numerical phantom: lateral resolution</a:t>
            </a:r>
            <a:endParaRPr b="1"/>
          </a:p>
        </p:txBody>
      </p:sp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63B99767-A873-4102-949F-A091A23EC1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428b4bcb34b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252" y="1306133"/>
            <a:ext cx="10950751" cy="2920200"/>
          </a:xfrm>
          <a:prstGeom xmlns:a="http://schemas.openxmlformats.org/drawingml/2006/main" prst="rect">
            <a:avLst/>
          </a:prstGeom>
        </p:spPr>
      </p:pic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654104EC-6C12-4107-ABCD-85DC4736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07032" y="1510301"/>
            <a:ext cx="0" cy="2424703"/>
          </a:xfrm>
          <a:prstGeom xmlns:a="http://schemas.openxmlformats.org/drawingml/2006/main" prst="line">
            <a:avLst/>
          </a:prstGeom>
          <a:ln xmlns:a="http://schemas.openxmlformats.org/drawingml/2006/main">
            <a:prstDash val="dash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uadroTexto 10">
            <a:extLst xmlns:a="http://schemas.openxmlformats.org/drawingml/2006/main">
              <a:ext uri="{FF2B5EF4-FFF2-40B4-BE49-F238E27FC236}">
                <a16:creationId xmlns:a16="http://schemas.microsoft.com/office/drawing/2014/main" id="{B64DC772-4AE2-41EF-BE38-B7488BEF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467" y="1125899"/>
            <a:ext cx="1290955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99887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array boundary</a:t>
            </a:r>
            <a:endParaRPr sz="1600"/>
          </a:p>
        </p:txBody>
      </p:sp>
      <p:pic>
        <p:nvPicPr>
          <p:cNvPr id="12" name="Imagen 11">
            <a:extLst xmlns:a="http://schemas.openxmlformats.org/drawingml/2006/main">
              <a:ext uri="{FF2B5EF4-FFF2-40B4-BE49-F238E27FC236}">
                <a16:creationId xmlns:a16="http://schemas.microsoft.com/office/drawing/2014/main" id="{D8BE2A95-FB0A-4342-A7E8-7E2FF0779B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3fc1f68a64c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4325" y="4452744"/>
            <a:ext cx="3240000" cy="2160000"/>
          </a:xfrm>
          <a:prstGeom xmlns:a="http://schemas.openxmlformats.org/drawingml/2006/main" prst="rect">
            <a:avLst/>
          </a:prstGeom>
        </p:spPr>
      </p:pic>
      <p:pic>
        <p:nvPicPr>
          <p:cNvPr id="13" name="Imagen 12">
            <a:extLst xmlns:a="http://schemas.openxmlformats.org/drawingml/2006/main">
              <a:ext uri="{FF2B5EF4-FFF2-40B4-BE49-F238E27FC236}">
                <a16:creationId xmlns:a16="http://schemas.microsoft.com/office/drawing/2014/main" id="{C6654782-0D05-4592-A1F6-2CA1A59370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07c0fb6034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1602" y="4452744"/>
            <a:ext cx="3239999" cy="2160000"/>
          </a:xfrm>
          <a:prstGeom xmlns:a="http://schemas.openxmlformats.org/drawingml/2006/main" prst="rect">
            <a:avLst/>
          </a:prstGeom>
        </p:spPr>
      </p:pic>
      <p:cxnSp>
        <p:nvCxnSpPr>
          <p:cNvPr id="15" name="Conector recto de flecha 14">
            <a:extLst xmlns:a="http://schemas.openxmlformats.org/drawingml/2006/main">
              <a:ext uri="{FF2B5EF4-FFF2-40B4-BE49-F238E27FC236}">
                <a16:creationId xmlns:a16="http://schemas.microsoft.com/office/drawing/2014/main" id="{BD336972-655F-4E90-A2F3-FED387F9BA8B}"/>
              </a:ext>
            </a:extLst>
          </p:cNvPr>
          <p:cNvCxnSpPr/>
          <p:nvPr/>
        </p:nvCxnSpPr>
        <p:spPr>
          <a:xfrm xmlns:a="http://schemas.openxmlformats.org/drawingml/2006/main" flipH="1">
            <a:off x="4818580" y="3698697"/>
            <a:ext cx="102741" cy="678094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7" name="Conector recto de flecha 16">
            <a:extLst xmlns:a="http://schemas.openxmlformats.org/drawingml/2006/main">
              <a:ext uri="{FF2B5EF4-FFF2-40B4-BE49-F238E27FC236}">
                <a16:creationId xmlns:a16="http://schemas.microsoft.com/office/drawing/2014/main" id="{8602A82A-ED38-44D9-AEF0-38A524BBA5EC}"/>
              </a:ext>
            </a:extLst>
          </p:cNvPr>
          <p:cNvCxnSpPr/>
          <p:nvPr/>
        </p:nvCxnSpPr>
        <p:spPr>
          <a:xfrm xmlns:a="http://schemas.openxmlformats.org/drawingml/2006/main">
            <a:off x="6431622" y="3647326"/>
            <a:ext cx="267129" cy="75924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8" name="CuadroTexto 17">
            <a:extLst xmlns:a="http://schemas.openxmlformats.org/drawingml/2006/main">
              <a:ext uri="{FF2B5EF4-FFF2-40B4-BE49-F238E27FC236}">
                <a16:creationId xmlns:a16="http://schemas.microsoft.com/office/drawing/2014/main" id="{ED572A31-E261-41C2-903F-36789CB4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1404" y="4932579"/>
            <a:ext cx="1818528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At this edge reflector, the proposed profile is narrower than NSI</a:t>
            </a:r>
            <a:endParaRPr sz="1400"/>
          </a:p>
        </p:txBody>
      </p:sp>
      <p:cxnSp>
        <p:nvCxnSpPr>
          <p:cNvPr id="20" name="Conector recto de flecha 19">
            <a:extLst xmlns:a="http://schemas.openxmlformats.org/drawingml/2006/main">
              <a:ext uri="{FF2B5EF4-FFF2-40B4-BE49-F238E27FC236}">
                <a16:creationId xmlns:a16="http://schemas.microsoft.com/office/drawing/2014/main" id="{1242EAE2-D91A-498A-A170-EB4BF7AC424D}"/>
              </a:ext>
            </a:extLst>
          </p:cNvPr>
          <p:cNvCxnSpPr/>
          <p:nvPr/>
        </p:nvCxnSpPr>
        <p:spPr>
          <a:xfrm xmlns:a="http://schemas.openxmlformats.org/drawingml/2006/main" flipH="1">
            <a:off x="8897420" y="5229546"/>
            <a:ext cx="523983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39414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uadroTexto 5">
            <a:extLst xmlns:a="http://schemas.openxmlformats.org/drawingml/2006/main">
              <a:ext uri="{FF2B5EF4-FFF2-40B4-BE49-F238E27FC236}">
                <a16:creationId xmlns:a16="http://schemas.microsoft.com/office/drawing/2014/main" id="{DC5A93D3-CE54-47B1-A807-638C14D1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325" y="717011"/>
            <a:ext cx="51993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Numerical phantom: edge amplitude stability</a:t>
            </a:r>
            <a:endParaRPr b="1"/>
          </a:p>
        </p:txBody>
      </p:sp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D21D1C8B-E5A4-4560-8D20-CE90539A11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6c90195b64c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252" y="1306133"/>
            <a:ext cx="10950751" cy="2920200"/>
          </a:xfrm>
          <a:prstGeom xmlns:a="http://schemas.openxmlformats.org/drawingml/2006/main" prst="rect">
            <a:avLst/>
          </a:prstGeom>
        </p:spPr>
      </p:pic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D36A82A6-5E22-4FB1-89D3-F71F8924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07032" y="1510301"/>
            <a:ext cx="0" cy="2424703"/>
          </a:xfrm>
          <a:prstGeom xmlns:a="http://schemas.openxmlformats.org/drawingml/2006/main" prst="line">
            <a:avLst/>
          </a:prstGeom>
          <a:ln xmlns:a="http://schemas.openxmlformats.org/drawingml/2006/main">
            <a:prstDash val="dash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uadroTexto 10">
            <a:extLst xmlns:a="http://schemas.openxmlformats.org/drawingml/2006/main">
              <a:ext uri="{FF2B5EF4-FFF2-40B4-BE49-F238E27FC236}">
                <a16:creationId xmlns:a16="http://schemas.microsoft.com/office/drawing/2014/main" id="{06F696CC-0D30-4DF8-9C4D-22E43D76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467" y="1125899"/>
            <a:ext cx="1290955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99887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array boundary</a:t>
            </a:r>
            <a:endParaRPr sz="1600"/>
          </a:p>
        </p:txBody>
      </p:sp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E7C98B5D-45E1-41DE-8784-3D0F4291EE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bfcbdabaf42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3418" y="3805092"/>
            <a:ext cx="3993586" cy="2852561"/>
          </a:xfrm>
          <a:prstGeom xmlns:a="http://schemas.openxmlformats.org/drawingml/2006/main" prst="rect">
            <a:avLst/>
          </a:prstGeom>
        </p:spPr>
      </p:pic>
      <p:cxnSp>
        <p:nvCxnSpPr>
          <p:cNvPr id="17" name="Conector recto de flecha 16">
            <a:extLst xmlns:a="http://schemas.openxmlformats.org/drawingml/2006/main">
              <a:ext uri="{FF2B5EF4-FFF2-40B4-BE49-F238E27FC236}">
                <a16:creationId xmlns:a16="http://schemas.microsoft.com/office/drawing/2014/main" id="{A8608EEE-677E-47AF-9913-A6C341D010E4}"/>
              </a:ext>
            </a:extLst>
          </p:cNvPr>
          <p:cNvCxnSpPr/>
          <p:nvPr/>
        </p:nvCxnSpPr>
        <p:spPr>
          <a:xfrm xmlns:a="http://schemas.openxmlformats.org/drawingml/2006/main">
            <a:off x="6369978" y="3825641"/>
            <a:ext cx="246579" cy="400692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" name="Rectángulo redondeado 3">
            <a:extLst xmlns:a="http://schemas.openxmlformats.org/drawingml/2006/main">
              <a:ext uri="{FF2B5EF4-FFF2-40B4-BE49-F238E27FC236}">
                <a16:creationId xmlns:a16="http://schemas.microsoft.com/office/drawing/2014/main" id="{A260D0F9-4975-479A-897A-D7728124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479" y="1510301"/>
            <a:ext cx="565078" cy="2315340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CuadroTexto 15">
            <a:extLst xmlns:a="http://schemas.openxmlformats.org/drawingml/2006/main">
              <a:ext uri="{FF2B5EF4-FFF2-40B4-BE49-F238E27FC236}">
                <a16:creationId xmlns:a16="http://schemas.microsoft.com/office/drawing/2014/main" id="{F8EC5B30-F625-4A08-A89A-50F3E362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203" y="4753175"/>
            <a:ext cx="1818528" cy="1091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31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1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Without subaperture normalisation, NSI peak amplitude decreases with depth near the boundary</a:t>
            </a:r>
            <a:endParaRPr sz="1400"/>
          </a:p>
        </p:txBody>
      </p:sp>
      <p:cxnSp>
        <p:nvCxnSpPr>
          <p:cNvPr id="10" name="Conector recto de flecha 9">
            <a:extLst xmlns:a="http://schemas.openxmlformats.org/drawingml/2006/main">
              <a:ext uri="{FF2B5EF4-FFF2-40B4-BE49-F238E27FC236}">
                <a16:creationId xmlns:a16="http://schemas.microsoft.com/office/drawing/2014/main" id="{0E7F14F8-E5A5-4777-B5EA-5F1A5750B8A0}"/>
              </a:ext>
            </a:extLst>
          </p:cNvPr>
          <p:cNvCxnSpPr>
            <a:stCxn xmlns:a="http://schemas.openxmlformats.org/drawingml/2006/main" id="16" idx="1"/>
          </p:cNvCxnSpPr>
          <p:nvPr/>
        </p:nvCxnSpPr>
        <p:spPr>
          <a:xfrm xmlns:a="http://schemas.openxmlformats.org/drawingml/2006/main" flipH="1">
            <a:off x="8435083" y="5122507"/>
            <a:ext cx="529120" cy="26115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12363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35B2F24A-0FB6-4219-8BA4-9D8107E3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292" y="616449"/>
            <a:ext cx="370236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PICMUS phantom: edge profiles</a:t>
            </a:r>
            <a:endParaRPr b="1"/>
          </a:p>
        </p:txBody>
      </p:sp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2BF8D8C2-5BF1-432B-9B53-9CDCC590C9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c0e14bb7c42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9009" y="985781"/>
            <a:ext cx="8942931" cy="5548583"/>
          </a:xfrm>
          <a:prstGeom xmlns:a="http://schemas.openxmlformats.org/drawingml/2006/main" prst="rect">
            <a:avLst/>
          </a:prstGeom>
        </p:spPr>
      </p:pic>
      <p:cxnSp>
        <p:nvCxnSpPr>
          <p:cNvPr id="7" name="Conector recto de flecha 6">
            <a:extLst xmlns:a="http://schemas.openxmlformats.org/drawingml/2006/main">
              <a:ext uri="{FF2B5EF4-FFF2-40B4-BE49-F238E27FC236}">
                <a16:creationId xmlns:a16="http://schemas.microsoft.com/office/drawing/2014/main" id="{22ADB742-F4EB-403D-AAB2-48EEEE93B4BC}"/>
              </a:ext>
            </a:extLst>
          </p:cNvPr>
          <p:cNvCxnSpPr/>
          <p:nvPr/>
        </p:nvCxnSpPr>
        <p:spPr>
          <a:xfrm xmlns:a="http://schemas.openxmlformats.org/drawingml/2006/main" flipV="1">
            <a:off x="9339209" y="1058238"/>
            <a:ext cx="256854" cy="45206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" name="CuadroTexto 7">
            <a:extLst xmlns:a="http://schemas.openxmlformats.org/drawingml/2006/main">
              <a:ext uri="{FF2B5EF4-FFF2-40B4-BE49-F238E27FC236}">
                <a16:creationId xmlns:a16="http://schemas.microsoft.com/office/drawing/2014/main" id="{A6607F76-1F0A-4A42-B30A-73F4EC48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710" y="759749"/>
            <a:ext cx="3119755" cy="308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l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Image appearance remains close to DAS</a:t>
            </a:r>
            <a:endParaRPr sz="1600"/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81EDE690-4467-45C0-8667-419571B8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209" y="4929344"/>
            <a:ext cx="3621405" cy="308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l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Selected edge profiles show modest narrowing</a:t>
            </a:r>
          </a:p>
        </p:txBody>
      </p:sp>
      <p:cxnSp>
        <p:nvCxnSpPr>
          <p:cNvPr id="13" name="Conector recto de flecha 12">
            <a:extLst xmlns:a="http://schemas.openxmlformats.org/drawingml/2006/main">
              <a:ext uri="{FF2B5EF4-FFF2-40B4-BE49-F238E27FC236}">
                <a16:creationId xmlns:a16="http://schemas.microsoft.com/office/drawing/2014/main" id="{47C783CD-72CF-4D3E-9E80-259498DF93AE}"/>
              </a:ext>
            </a:extLst>
          </p:cNvPr>
          <p:cNvCxnSpPr/>
          <p:nvPr/>
        </p:nvCxnSpPr>
        <p:spPr>
          <a:xfrm xmlns:a="http://schemas.openxmlformats.org/drawingml/2006/main">
            <a:off x="4407613" y="3246634"/>
            <a:ext cx="1284270" cy="1232899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81307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4D403AA3-9835-4322-BEAB-CD76CF1E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417" y="616450"/>
            <a:ext cx="3743643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Conclusions and next evaluation</a:t>
            </a:r>
            <a:endParaRPr b="1"/>
          </a:p>
        </p:txBody>
      </p:sp>
      <p:sp>
        <p:nvSpPr>
          <p:cNvPr id="5" name="CuadroTexto 4">
            <a:extLst xmlns:a="http://schemas.openxmlformats.org/drawingml/2006/main">
              <a:ext uri="{FF2B5EF4-FFF2-40B4-BE49-F238E27FC236}">
                <a16:creationId xmlns:a16="http://schemas.microsoft.com/office/drawing/2014/main" id="{CC79DCD9-D51C-49FC-B34B-C48B1A40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44" y="1356189"/>
            <a:ext cx="9123451" cy="2270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Two learned receive apodizations and pixel-wise fusion produce DAS-like images.</a:t>
            </a:r>
          </a:p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NSI remains sharper overall in the numerical phantom.</a:t>
            </a:r>
          </a:p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Near array boundaries, learned fusion preserves peak amplitude better in the current non-normalised comparison.</a:t>
            </a:r>
          </a:p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Next evaluation: report peak-normalised FWHM, sidelobes and CNR or gCNR separately for interior and boundary reflectors.</a:t>
            </a:r>
          </a:p>
        </p:txBody>
      </p:sp>
    </p:spTree>
    <p:extLst>
      <p:ext uri="{BB962C8B-B14F-4D97-AF65-F5344CB8AC3E}">
        <p14:creationId xmlns:p14="http://schemas.microsoft.com/office/powerpoint/2010/main" val="135386507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3EFF9EFA-20F4-4FBA-B915-08F85732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954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Questions</a:t>
            </a:r>
            <a:endParaRPr/>
          </a:p>
        </p:txBody>
      </p:sp>
      <p:sp>
        <p:nvSpPr>
          <p:cNvPr id="5" name="closing-takeaway">
            <a:extLst xmlns:a="http://schemas.openxmlformats.org/drawingml/2006/main">
              <a:ext uri="{FF2B5EF4-FFF2-40B4-BE49-F238E27FC236}">
                <a16:creationId xmlns:a16="http://schemas.microsoft.com/office/drawing/2014/main" id="{F1C087B4-4C05-4329-8689-511F5238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14625"/>
            <a:ext cx="752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Learned fusion mitigates NSI amplitude loss near array boundaries, but it does not yet match NSI resolution overall.</a:t>
            </a:r>
          </a:p>
        </p:txBody>
      </p:sp>
      <p:sp>
        <p:nvSpPr>
          <p:cNvPr id="6" name="closing-contact">
            <a:extLst xmlns:a="http://schemas.openxmlformats.org/drawingml/2006/main">
              <a:ext uri="{FF2B5EF4-FFF2-40B4-BE49-F238E27FC236}">
                <a16:creationId xmlns:a16="http://schemas.microsoft.com/office/drawing/2014/main" id="{36CA39F0-D731-4157-9B0A-C5F93FBB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g.cosarinsky@csic.es</a:t>
            </a:r>
          </a:p>
        </p:txBody>
      </p:sp>
    </p:spTree>
    <p:extLst>
      <p:ext uri="{BB962C8B-B14F-4D97-AF65-F5344CB8AC3E}">
        <p14:creationId xmlns:p14="http://schemas.microsoft.com/office/powerpoint/2010/main" val="918868026"/>
      </p:ext>
    </p:extLst>
  </p:cSld>
</p:sld>
</file>

<file path=ppt/slides/slide1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D775072F-0638-4B75-8ED2-98C31C0F18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a68c7533145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5540" y="411822"/>
            <a:ext cx="5850276" cy="5850276"/>
          </a:xfrm>
          <a:prstGeom xmlns:a="http://schemas.openxmlformats.org/drawingml/2006/main" prst="rect">
            <a:avLst/>
          </a:prstGeom>
        </p:spPr>
      </p:pic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E35EFC28-02FD-42C3-A2A0-C807B7963B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ae12ff083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797" y="1774755"/>
            <a:ext cx="3775913" cy="574443"/>
          </a:xfrm>
          <a:prstGeom xmlns:a="http://schemas.openxmlformats.org/drawingml/2006/main" prst="rect">
            <a:avLst/>
          </a:prstGeom>
        </p:spPr>
      </p:pic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2F04AEE3-64CD-4441-97EC-0E723B5EB1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2a50e91ab4a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5144" y="2916784"/>
            <a:ext cx="3229324" cy="284680"/>
          </a:xfrm>
          <a:prstGeom xmlns:a="http://schemas.openxmlformats.org/drawingml/2006/main" prst="rect">
            <a:avLst/>
          </a:prstGeom>
        </p:spPr>
      </p:pic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903BDC44-BF83-44C9-90DB-14B5866A9C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57137243f41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641" y="4267414"/>
            <a:ext cx="4090827" cy="391296"/>
          </a:xfrm>
          <a:prstGeom xmlns:a="http://schemas.openxmlformats.org/drawingml/2006/main" prst="rect">
            <a:avLst/>
          </a:prstGeom>
        </p:spPr>
      </p:pic>
      <p:sp>
        <p:nvSpPr>
          <p:cNvPr id="20" name="Forma libre 19">
            <a:extLst xmlns:a="http://schemas.openxmlformats.org/drawingml/2006/main">
              <a:ext uri="{FF2B5EF4-FFF2-40B4-BE49-F238E27FC236}">
                <a16:creationId xmlns:a16="http://schemas.microsoft.com/office/drawing/2014/main" id="{2C9590C8-BAC4-4BB3-BF18-0C53C63A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54" y="4658710"/>
            <a:ext cx="6154219" cy="1918216"/>
          </a:xfrm>
          <a:custGeom xmlns:a="http://schemas.openxmlformats.org/drawingml/2006/main">
            <a:gdLst>
              <a:gd name="connsiteX0" fmla="*/ 6637105 w 6637105"/>
              <a:gd name="connsiteY0" fmla="*/ 2476072 h 3546974"/>
              <a:gd name="connsiteX1" fmla="*/ 2126750 w 6637105"/>
              <a:gd name="connsiteY1" fmla="*/ 3421295 h 3546974"/>
              <a:gd name="connsiteX2" fmla="*/ 0 w 6637105"/>
              <a:gd name="connsiteY2" fmla="*/ 0 h 3546974"/>
            </a:gdLst>
            <a:rect l="l" t="t" r="r" b="b"/>
            <a:pathLst>
              <a:path w="6637105" h="3546974">
                <a:moveTo>
                  <a:pt x="6637105" y="2476072"/>
                </a:moveTo>
                <a:cubicBezTo>
                  <a:pt x="4935019" y="3155023"/>
                  <a:pt x="3232934" y="3833974"/>
                  <a:pt x="2126750" y="3421295"/>
                </a:cubicBezTo>
                <a:cubicBezTo>
                  <a:pt x="1020566" y="3008616"/>
                  <a:pt x="510283" y="1504308"/>
                  <a:pt x="0" y="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Forma libre 20">
            <a:extLst xmlns:a="http://schemas.openxmlformats.org/drawingml/2006/main">
              <a:ext uri="{FF2B5EF4-FFF2-40B4-BE49-F238E27FC236}">
                <a16:creationId xmlns:a16="http://schemas.microsoft.com/office/drawing/2014/main" id="{C25E9558-6591-4FB4-A080-930B500C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721" y="4622496"/>
            <a:ext cx="1474340" cy="524426"/>
          </a:xfrm>
          <a:custGeom xmlns:a="http://schemas.openxmlformats.org/drawingml/2006/main">
            <a:gdLst>
              <a:gd name="connsiteX0" fmla="*/ 0 w 2208943"/>
              <a:gd name="connsiteY0" fmla="*/ 0 h 663548"/>
              <a:gd name="connsiteX1" fmla="*/ 1797977 w 2208943"/>
              <a:gd name="connsiteY1" fmla="*/ 636998 h 663548"/>
              <a:gd name="connsiteX2" fmla="*/ 2208943 w 2208943"/>
              <a:gd name="connsiteY2" fmla="*/ 482885 h 663548"/>
              <a:gd name="connsiteX0" fmla="*/ 0 w 2208943"/>
              <a:gd name="connsiteY0" fmla="*/ 0 h 524426"/>
              <a:gd name="connsiteX1" fmla="*/ 1170456 w 2208943"/>
              <a:gd name="connsiteY1" fmla="*/ 359595 h 524426"/>
              <a:gd name="connsiteX2" fmla="*/ 2208943 w 2208943"/>
              <a:gd name="connsiteY2" fmla="*/ 482885 h 524426"/>
            </a:gdLst>
            <a:rect l="l" t="t" r="r" b="b"/>
            <a:pathLst>
              <a:path w="2208943" h="524426">
                <a:moveTo>
                  <a:pt x="0" y="0"/>
                </a:moveTo>
                <a:cubicBezTo>
                  <a:pt x="714910" y="278258"/>
                  <a:pt x="802299" y="279114"/>
                  <a:pt x="1170456" y="359595"/>
                </a:cubicBezTo>
                <a:cubicBezTo>
                  <a:pt x="1538613" y="440076"/>
                  <a:pt x="2187538" y="600182"/>
                  <a:pt x="2208943" y="482885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cxnSp>
        <p:nvCxnSpPr>
          <p:cNvPr id="23" name="Conector recto de flecha 22">
            <a:extLst xmlns:a="http://schemas.openxmlformats.org/drawingml/2006/main">
              <a:ext uri="{FF2B5EF4-FFF2-40B4-BE49-F238E27FC236}">
                <a16:creationId xmlns:a16="http://schemas.microsoft.com/office/drawing/2014/main" id="{3F7071AF-FF9C-4BF8-8820-D40DD71736B2}"/>
              </a:ext>
            </a:extLst>
          </p:cNvPr>
          <p:cNvCxnSpPr/>
          <p:nvPr/>
        </p:nvCxnSpPr>
        <p:spPr>
          <a:xfrm xmlns:a="http://schemas.openxmlformats.org/drawingml/2006/main" flipV="1">
            <a:off x="4274049" y="2424701"/>
            <a:ext cx="1387012" cy="492084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5" name="CuadroTexto 24">
            <a:extLst xmlns:a="http://schemas.openxmlformats.org/drawingml/2006/main">
              <a:ext uri="{FF2B5EF4-FFF2-40B4-BE49-F238E27FC236}">
                <a16:creationId xmlns:a16="http://schemas.microsoft.com/office/drawing/2014/main" id="{5013FD36-80C7-4355-93AA-B6CF9C5C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61" y="5119680"/>
            <a:ext cx="2681556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Weight</a:t>
            </a:r>
            <a:r>
              <a:rPr sz="1600"/>
              <a:t> to </a:t>
            </a:r>
            <a:r>
              <a:rPr sz="1600"/>
              <a:t>give</a:t>
            </a:r>
            <a:r>
              <a:rPr sz="1600"/>
              <a:t> more </a:t>
            </a:r>
            <a:r>
              <a:rPr sz="1600"/>
              <a:t>importance</a:t>
            </a:r>
            <a:r>
              <a:rPr sz="1600"/>
              <a:t> to </a:t>
            </a:r>
            <a:r>
              <a:rPr sz="1600"/>
              <a:t>reflectors</a:t>
            </a:r>
            <a:r>
              <a:rPr sz="1600"/>
              <a:t> vs </a:t>
            </a:r>
            <a:r>
              <a:rPr sz="1600"/>
              <a:t>background</a:t>
            </a:r>
            <a:endParaRPr sz="1600"/>
          </a:p>
        </p:txBody>
      </p:sp>
      <p:cxnSp>
        <p:nvCxnSpPr>
          <p:cNvPr id="27" name="Conector recto de flecha 26">
            <a:extLst xmlns:a="http://schemas.openxmlformats.org/drawingml/2006/main">
              <a:ext uri="{FF2B5EF4-FFF2-40B4-BE49-F238E27FC236}">
                <a16:creationId xmlns:a16="http://schemas.microsoft.com/office/drawing/2014/main" id="{01D3EA1D-B882-4427-80E8-B9B6CAA946CE}"/>
              </a:ext>
            </a:extLst>
          </p:cNvPr>
          <p:cNvCxnSpPr>
            <a:stCxn xmlns:a="http://schemas.openxmlformats.org/drawingml/2006/main" id="25" idx="0"/>
          </p:cNvCxnSpPr>
          <p:nvPr/>
        </p:nvCxnSpPr>
        <p:spPr>
          <a:xfrm xmlns:a="http://schemas.openxmlformats.org/drawingml/2006/main" flipV="1">
            <a:off x="2073239" y="4658710"/>
            <a:ext cx="291959" cy="46097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031158"/>
      </p:ext>
    </p:extLst>
  </p:cSld>
</p:sld>
</file>

<file path=ppt/slides/slide20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B76765F8-0C87-4B94-A975-5D70D5BD5A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4da50d7cf4d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352" y="714917"/>
            <a:ext cx="4869387" cy="2337306"/>
          </a:xfrm>
          <a:prstGeom xmlns:a="http://schemas.openxmlformats.org/drawingml/2006/main" prst="rect">
            <a:avLst/>
          </a:prstGeom>
        </p:spPr>
      </p:pic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D1A46B81-01A7-418E-918E-7BD1B14907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5eaae3f9c43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4222" y="3577129"/>
            <a:ext cx="4917518" cy="2360409"/>
          </a:xfrm>
          <a:prstGeom xmlns:a="http://schemas.openxmlformats.org/drawingml/2006/main" prst="rect">
            <a:avLst/>
          </a:prstGeom>
        </p:spPr>
      </p:pic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C499547A-1B17-481D-AFA1-6B5F65B23E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da2ede19442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97932" y="2106202"/>
            <a:ext cx="6365696" cy="21218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221894"/>
      </p:ext>
    </p:extLst>
  </p:cSld>
</p:sld>
</file>

<file path=ppt/slides/slide2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F08BF5BD-5526-4B90-B0CE-F199859E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505" y="830026"/>
            <a:ext cx="419243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Proposed</a:t>
            </a:r>
            <a:r>
              <a:rPr b="1"/>
              <a:t> </a:t>
            </a:r>
            <a:r>
              <a:rPr b="1"/>
              <a:t>framework</a:t>
            </a:r>
            <a:r>
              <a:rPr b="1"/>
              <a:t>: </a:t>
            </a:r>
            <a:r>
              <a:rPr b="1"/>
              <a:t>learning</a:t>
            </a:r>
            <a:r>
              <a:rPr b="1"/>
              <a:t> and </a:t>
            </a:r>
            <a:r>
              <a:rPr b="1"/>
              <a:t>mixing</a:t>
            </a:r>
            <a:endParaRPr b="1"/>
          </a:p>
        </p:txBody>
      </p:sp>
      <p:pic>
        <p:nvPicPr>
          <p:cNvPr id="6" name="Imagen 5">
            <a:extLst xmlns:a="http://schemas.openxmlformats.org/drawingml/2006/main">
              <a:ext uri="{FF2B5EF4-FFF2-40B4-BE49-F238E27FC236}">
                <a16:creationId xmlns:a16="http://schemas.microsoft.com/office/drawing/2014/main" id="{BED4BAC8-817C-4503-9F19-939C9CB7E3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5b256ca24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9499" y="2287827"/>
            <a:ext cx="8896172" cy="2625653"/>
          </a:xfrm>
          <a:prstGeom xmlns:a="http://schemas.openxmlformats.org/drawingml/2006/main" prst="rect">
            <a:avLst/>
          </a:prstGeom>
        </p:spPr>
      </p:pic>
      <p:pic>
        <p:nvPicPr>
          <p:cNvPr id="7" name="Imagen 6">
            <a:extLst xmlns:a="http://schemas.openxmlformats.org/drawingml/2006/main">
              <a:ext uri="{FF2B5EF4-FFF2-40B4-BE49-F238E27FC236}">
                <a16:creationId xmlns:a16="http://schemas.microsoft.com/office/drawing/2014/main" id="{551FEBEF-9690-410A-911D-907374B18A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f13aa5e3a49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86767" y="1500920"/>
            <a:ext cx="2076404" cy="288823"/>
          </a:xfrm>
          <a:prstGeom xmlns:a="http://schemas.openxmlformats.org/drawingml/2006/main" prst="rect">
            <a:avLst/>
          </a:prstGeom>
        </p:spPr>
      </p:pic>
      <p:cxnSp>
        <p:nvCxnSpPr>
          <p:cNvPr id="10" name="Conector recto de flecha 9">
            <a:extLst xmlns:a="http://schemas.openxmlformats.org/drawingml/2006/main">
              <a:ext uri="{FF2B5EF4-FFF2-40B4-BE49-F238E27FC236}">
                <a16:creationId xmlns:a16="http://schemas.microsoft.com/office/drawing/2014/main" id="{A57A2405-2C8A-40EE-8045-765590D365B4}"/>
              </a:ext>
            </a:extLst>
          </p:cNvPr>
          <p:cNvCxnSpPr/>
          <p:nvPr/>
        </p:nvCxnSpPr>
        <p:spPr>
          <a:xfrm xmlns:a="http://schemas.openxmlformats.org/drawingml/2006/main">
            <a:off x="6238430" y="1136591"/>
            <a:ext cx="153824" cy="44438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2" name="Conector recto de flecha 11">
            <a:extLst xmlns:a="http://schemas.openxmlformats.org/drawingml/2006/main">
              <a:ext uri="{FF2B5EF4-FFF2-40B4-BE49-F238E27FC236}">
                <a16:creationId xmlns:a16="http://schemas.microsoft.com/office/drawing/2014/main" id="{3A503F36-F3C3-4392-8C25-3C00C06B2503}"/>
              </a:ext>
            </a:extLst>
          </p:cNvPr>
          <p:cNvCxnSpPr/>
          <p:nvPr/>
        </p:nvCxnSpPr>
        <p:spPr>
          <a:xfrm xmlns:a="http://schemas.openxmlformats.org/drawingml/2006/main">
            <a:off x="7272471" y="1136591"/>
            <a:ext cx="1316052" cy="1709159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CuadroTexto 15">
            <a:extLst xmlns:a="http://schemas.openxmlformats.org/drawingml/2006/main">
              <a:ext uri="{FF2B5EF4-FFF2-40B4-BE49-F238E27FC236}">
                <a16:creationId xmlns:a16="http://schemas.microsoft.com/office/drawing/2014/main" id="{BAD8C521-E387-4BED-BAAF-18ADFCB3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83" y="5235038"/>
            <a:ext cx="1324908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Example</a:t>
            </a:r>
            <a:r>
              <a:t> </a:t>
            </a:r>
            <a:r>
              <a:t>(</a:t>
            </a:r>
            <a:r>
              <a:t>layers</a:t>
            </a:r>
            <a:r>
              <a:t> and </a:t>
            </a:r>
            <a:r>
              <a:t>neurons</a:t>
            </a:r>
            <a:r>
              <a:t>) </a:t>
            </a:r>
            <a:endParaRPr/>
          </a:p>
        </p:txBody>
      </p:sp>
      <p:sp>
        <p:nvSpPr>
          <p:cNvPr id="17" name="CuadroTexto 16">
            <a:extLst xmlns:a="http://schemas.openxmlformats.org/drawingml/2006/main">
              <a:ext uri="{FF2B5EF4-FFF2-40B4-BE49-F238E27FC236}">
                <a16:creationId xmlns:a16="http://schemas.microsoft.com/office/drawing/2014/main" id="{C67B0255-0193-4F82-9430-B58BEEF0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106" y="5512037"/>
            <a:ext cx="294036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[4 features, 16, 8, 4, 2 apodizations]</a:t>
            </a:r>
            <a:endParaRPr/>
          </a:p>
        </p:txBody>
      </p:sp>
      <p:sp>
        <p:nvSpPr>
          <p:cNvPr id="18" name="CuadroTexto 17">
            <a:extLst xmlns:a="http://schemas.openxmlformats.org/drawingml/2006/main">
              <a:ext uri="{FF2B5EF4-FFF2-40B4-BE49-F238E27FC236}">
                <a16:creationId xmlns:a16="http://schemas.microsoft.com/office/drawing/2014/main" id="{C976D5CE-9030-4160-AC45-B67BCDC5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497" y="5512037"/>
            <a:ext cx="297805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[2 (</a:t>
            </a:r>
            <a:r>
              <a:t>images</a:t>
            </a:r>
            <a:r>
              <a:t>), 2, 1 (final </a:t>
            </a:r>
            <a:r>
              <a:t>image</a:t>
            </a:r>
            <a:r>
              <a:t>)]</a:t>
            </a:r>
            <a:endParaRPr/>
          </a:p>
        </p:txBody>
      </p:sp>
      <p:cxnSp>
        <p:nvCxnSpPr>
          <p:cNvPr id="20" name="Conector recto de flecha 19">
            <a:extLst xmlns:a="http://schemas.openxmlformats.org/drawingml/2006/main">
              <a:ext uri="{FF2B5EF4-FFF2-40B4-BE49-F238E27FC236}">
                <a16:creationId xmlns:a16="http://schemas.microsoft.com/office/drawing/2014/main" id="{9BB6BF80-C7D3-4EE0-92FD-38A3C9CADA67}"/>
              </a:ext>
            </a:extLst>
          </p:cNvPr>
          <p:cNvCxnSpPr/>
          <p:nvPr/>
        </p:nvCxnSpPr>
        <p:spPr>
          <a:xfrm xmlns:a="http://schemas.openxmlformats.org/drawingml/2006/main">
            <a:off x="3700329" y="4802736"/>
            <a:ext cx="25637" cy="54693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2" name="Conector recto de flecha 21">
            <a:extLst xmlns:a="http://schemas.openxmlformats.org/drawingml/2006/main">
              <a:ext uri="{FF2B5EF4-FFF2-40B4-BE49-F238E27FC236}">
                <a16:creationId xmlns:a16="http://schemas.microsoft.com/office/drawing/2014/main" id="{F0D0A00D-A1BB-4218-B818-F3198C247CEB}"/>
              </a:ext>
            </a:extLst>
          </p:cNvPr>
          <p:cNvCxnSpPr/>
          <p:nvPr/>
        </p:nvCxnSpPr>
        <p:spPr>
          <a:xfrm xmlns:a="http://schemas.openxmlformats.org/drawingml/2006/main">
            <a:off x="8981630" y="4349809"/>
            <a:ext cx="162370" cy="99985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" name="Elipse 2">
            <a:extLst xmlns:a="http://schemas.openxmlformats.org/drawingml/2006/main">
              <a:ext uri="{FF2B5EF4-FFF2-40B4-BE49-F238E27FC236}">
                <a16:creationId xmlns:a16="http://schemas.microsoft.com/office/drawing/2014/main" id="{757C3E9C-DF47-4588-8593-205871ED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280" y="2100866"/>
            <a:ext cx="1914483" cy="2999574"/>
          </a:xfrm>
          <a:prstGeom xmlns:a="http://schemas.openxmlformats.org/drawingml/2006/main" prst="ellipse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F884DE71-C7E3-48D1-8BC2-A87735E9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7915"/>
            <a:ext cx="6543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ReLU</a:t>
            </a:r>
            <a:endParaRPr/>
          </a:p>
        </p:txBody>
      </p:sp>
      <p:sp>
        <p:nvSpPr>
          <p:cNvPr id="14" name="Elipse 13">
            <a:extLst xmlns:a="http://schemas.openxmlformats.org/drawingml/2006/main">
              <a:ext uri="{FF2B5EF4-FFF2-40B4-BE49-F238E27FC236}">
                <a16:creationId xmlns:a16="http://schemas.microsoft.com/office/drawing/2014/main" id="{40DFD8C7-0BE6-4FED-A7FA-16355021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094" y="2722971"/>
            <a:ext cx="589885" cy="2190509"/>
          </a:xfrm>
          <a:prstGeom xmlns:a="http://schemas.openxmlformats.org/drawingml/2006/main" prst="ellipse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CuadroTexto 14">
            <a:extLst xmlns:a="http://schemas.openxmlformats.org/drawingml/2006/main">
              <a:ext uri="{FF2B5EF4-FFF2-40B4-BE49-F238E27FC236}">
                <a16:creationId xmlns:a16="http://schemas.microsoft.com/office/drawing/2014/main" id="{2D077481-16A3-4D91-9A97-0F554997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378" y="4774544"/>
            <a:ext cx="61305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tanh</a:t>
            </a:r>
            <a:endParaRPr/>
          </a:p>
        </p:txBody>
      </p:sp>
      <p:sp>
        <p:nvSpPr>
          <p:cNvPr id="19" name="CuadroTexto 18">
            <a:extLst xmlns:a="http://schemas.openxmlformats.org/drawingml/2006/main">
              <a:ext uri="{FF2B5EF4-FFF2-40B4-BE49-F238E27FC236}">
                <a16:creationId xmlns:a16="http://schemas.microsoft.com/office/drawing/2014/main" id="{B2A65D1E-F66F-45BB-BAF1-7C7BB663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682" y="2905343"/>
            <a:ext cx="6543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ReLU</a:t>
            </a:r>
            <a:endParaRPr/>
          </a:p>
        </p:txBody>
      </p:sp>
      <p:sp>
        <p:nvSpPr>
          <p:cNvPr id="21" name="Elipse 20">
            <a:extLst xmlns:a="http://schemas.openxmlformats.org/drawingml/2006/main">
              <a:ext uri="{FF2B5EF4-FFF2-40B4-BE49-F238E27FC236}">
                <a16:creationId xmlns:a16="http://schemas.microsoft.com/office/drawing/2014/main" id="{3E3B6DFA-1CBA-40B3-A83E-B4A3B8EC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524" y="3092303"/>
            <a:ext cx="1213502" cy="1151237"/>
          </a:xfrm>
          <a:prstGeom xmlns:a="http://schemas.openxmlformats.org/drawingml/2006/main" prst="ellipse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4826951"/>
      </p:ext>
    </p:extLst>
  </p:cSld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2026-10-15T13:21:44.6350000Z</dcterms:created>
  <dcterms:modified xsi:type="dcterms:W3CDTF">2026-10-15T13:21:44.6350000Z</dcterms:modified>
</coreProperties>
</file>