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df1cd86c6b4e0b" /><Relationship Type="http://schemas.openxmlformats.org/officeDocument/2006/relationships/extended-properties" Target="/docProps/app.xml" Id="Rc6af7a2e9e96405e" /><Relationship Type="http://schemas.openxmlformats.org/officeDocument/2006/relationships/officeDocument" Target="/ppt/presentation.xml" Id="Rd4b287e858e944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72e217cf864258"/>
  </p:sldMasterIdLst>
  <p:notesMasterIdLst>
    <p:notesMasterId xmlns:r="http://schemas.openxmlformats.org/officeDocument/2006/relationships" r:id="R3d318097f2cf4122"/>
  </p:notesMasterIdLst>
  <p:sldIdLst>
    <p:sldId xmlns:r="http://schemas.openxmlformats.org/officeDocument/2006/relationships" id="256" r:id="Rdfdaa9ee6da64a60"/>
    <p:sldId xmlns:r="http://schemas.openxmlformats.org/officeDocument/2006/relationships" id="257" r:id="R9e7457b3d9b34d5a"/>
    <p:sldId xmlns:r="http://schemas.openxmlformats.org/officeDocument/2006/relationships" id="258" r:id="Rcbd7c4cbddcc47e6"/>
    <p:sldId xmlns:r="http://schemas.openxmlformats.org/officeDocument/2006/relationships" id="259" r:id="Rc1f9b5d6b2424376"/>
    <p:sldId xmlns:r="http://schemas.openxmlformats.org/officeDocument/2006/relationships" id="260" r:id="Rae3ad447bae44cb9"/>
    <p:sldId xmlns:r="http://schemas.openxmlformats.org/officeDocument/2006/relationships" id="261" r:id="R476e3842c24e4482"/>
    <p:sldId xmlns:r="http://schemas.openxmlformats.org/officeDocument/2006/relationships" id="262" r:id="Rc240a6c4c2784eb0"/>
    <p:sldId xmlns:r="http://schemas.openxmlformats.org/officeDocument/2006/relationships" id="263" r:id="R90051eb0734b4cf8"/>
    <p:sldId xmlns:r="http://schemas.openxmlformats.org/officeDocument/2006/relationships" id="264" r:id="R99c6ef526d3f4972"/>
    <p:sldId xmlns:r="http://schemas.openxmlformats.org/officeDocument/2006/relationships" id="265" r:id="Rdaa46b8c26c043ee"/>
    <p:sldId xmlns:r="http://schemas.openxmlformats.org/officeDocument/2006/relationships" id="266" r:id="R12d79f4c9efd460a"/>
    <p:sldId xmlns:r="http://schemas.openxmlformats.org/officeDocument/2006/relationships" id="267" r:id="R71b79a935ba449ef"/>
    <p:sldId xmlns:r="http://schemas.openxmlformats.org/officeDocument/2006/relationships" id="268" r:id="R46e0db117d354b16"/>
    <p:sldId xmlns:r="http://schemas.openxmlformats.org/officeDocument/2006/relationships" id="269" r:id="R0343705ddfb04a1b"/>
    <p:sldId xmlns:r="http://schemas.openxmlformats.org/officeDocument/2006/relationships" id="270" r:id="R40d5277fb49b422e"/>
    <p:sldId xmlns:r="http://schemas.openxmlformats.org/officeDocument/2006/relationships" id="271" r:id="R457c8939d0db4264"/>
    <p:sldId xmlns:r="http://schemas.openxmlformats.org/officeDocument/2006/relationships" id="272" r:id="Rd8cdf3d9af5c4624"/>
    <p:sldId xmlns:r="http://schemas.openxmlformats.org/officeDocument/2006/relationships" id="273" r:id="R5b807e0f455e433f"/>
    <p:sldId xmlns:r="http://schemas.openxmlformats.org/officeDocument/2006/relationships" id="274" r:id="R8784276c537d4094"/>
    <p:sldId xmlns:r="http://schemas.openxmlformats.org/officeDocument/2006/relationships" id="275" r:id="Rb3839febd0ce4e81"/>
    <p:sldId xmlns:r="http://schemas.openxmlformats.org/officeDocument/2006/relationships" id="276" r:id="Re1997d34517e43e0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9ec7e143b842b6" /><Relationship Type="http://schemas.openxmlformats.org/officeDocument/2006/relationships/slideMaster" Target="/ppt/slideMasters/slideMaster1.xml" Id="R7772e217cf864258" /><Relationship Type="http://schemas.openxmlformats.org/officeDocument/2006/relationships/notesMaster" Target="/ppt/notesMasters/notesMaster1.xml" Id="R3d318097f2cf4122" /><Relationship Type="http://schemas.openxmlformats.org/officeDocument/2006/relationships/presProps" Target="/ppt/presProps.xml" Id="Rf1aa0ba1fe94464e" /><Relationship Type="http://schemas.openxmlformats.org/officeDocument/2006/relationships/viewProps" Target="/ppt/viewProps.xml" Id="R618fe00c89cb4d63" /><Relationship Type="http://schemas.openxmlformats.org/officeDocument/2006/relationships/tableStyles" Target="/ppt/tableStyles.xml" Id="R286877519457419d" /><Relationship Type="http://schemas.openxmlformats.org/officeDocument/2006/relationships/slide" Target="/ppt/slides/slide1.xml" Id="Rdfdaa9ee6da64a60" /><Relationship Type="http://schemas.openxmlformats.org/officeDocument/2006/relationships/slide" Target="/ppt/slides/slide2.xml" Id="R9e7457b3d9b34d5a" /><Relationship Type="http://schemas.openxmlformats.org/officeDocument/2006/relationships/slide" Target="/ppt/slides/slide3.xml" Id="Rcbd7c4cbddcc47e6" /><Relationship Type="http://schemas.openxmlformats.org/officeDocument/2006/relationships/slide" Target="/ppt/slides/slide4.xml" Id="Rc1f9b5d6b2424376" /><Relationship Type="http://schemas.openxmlformats.org/officeDocument/2006/relationships/slide" Target="/ppt/slides/slide5.xml" Id="Rae3ad447bae44cb9" /><Relationship Type="http://schemas.openxmlformats.org/officeDocument/2006/relationships/slide" Target="/ppt/slides/slide6.xml" Id="R476e3842c24e4482" /><Relationship Type="http://schemas.openxmlformats.org/officeDocument/2006/relationships/slide" Target="/ppt/slides/slide7.xml" Id="Rc240a6c4c2784eb0" /><Relationship Type="http://schemas.openxmlformats.org/officeDocument/2006/relationships/slide" Target="/ppt/slides/slide8.xml" Id="R90051eb0734b4cf8" /><Relationship Type="http://schemas.openxmlformats.org/officeDocument/2006/relationships/slide" Target="/ppt/slides/slide9.xml" Id="R99c6ef526d3f4972" /><Relationship Type="http://schemas.openxmlformats.org/officeDocument/2006/relationships/slide" Target="/ppt/slides/slide10.xml" Id="Rdaa46b8c26c043ee" /><Relationship Type="http://schemas.openxmlformats.org/officeDocument/2006/relationships/slide" Target="/ppt/slides/slide11.xml" Id="R12d79f4c9efd460a" /><Relationship Type="http://schemas.openxmlformats.org/officeDocument/2006/relationships/slide" Target="/ppt/slides/slide12.xml" Id="R71b79a935ba449ef" /><Relationship Type="http://schemas.openxmlformats.org/officeDocument/2006/relationships/slide" Target="/ppt/slides/slide13.xml" Id="R46e0db117d354b16" /><Relationship Type="http://schemas.openxmlformats.org/officeDocument/2006/relationships/slide" Target="/ppt/slides/slide14.xml" Id="R0343705ddfb04a1b" /><Relationship Type="http://schemas.openxmlformats.org/officeDocument/2006/relationships/slide" Target="/ppt/slides/slide15.xml" Id="R40d5277fb49b422e" /><Relationship Type="http://schemas.openxmlformats.org/officeDocument/2006/relationships/slide" Target="/ppt/slides/slide16.xml" Id="R457c8939d0db4264" /><Relationship Type="http://schemas.openxmlformats.org/officeDocument/2006/relationships/slide" Target="/ppt/slides/slide17.xml" Id="Rd8cdf3d9af5c4624" /><Relationship Type="http://schemas.openxmlformats.org/officeDocument/2006/relationships/slide" Target="/ppt/slides/slide18.xml" Id="R5b807e0f455e433f" /><Relationship Type="http://schemas.openxmlformats.org/officeDocument/2006/relationships/slide" Target="/ppt/slides/slide19.xml" Id="R8784276c537d4094" /><Relationship Type="http://schemas.openxmlformats.org/officeDocument/2006/relationships/slide" Target="/ppt/slides/slide20.xml" Id="Rb3839febd0ce4e81" /><Relationship Type="http://schemas.openxmlformats.org/officeDocument/2006/relationships/slide" Target="/ppt/slides/slide21.xml" Id="Re1997d34517e43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25144516246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d2e34237e84278" /><Relationship Type="http://schemas.openxmlformats.org/officeDocument/2006/relationships/notesMaster" Target="/ppt/notesMasters/notesMaster1.xml" Id="R95e0151e13c341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fb1d62424e4480" /><Relationship Type="http://schemas.openxmlformats.org/officeDocument/2006/relationships/notesMaster" Target="/ppt/notesMasters/notesMaster1.xml" Id="R4860b672e6e84b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09070d29ef4f17" /><Relationship Type="http://schemas.openxmlformats.org/officeDocument/2006/relationships/notesMaster" Target="/ppt/notesMasters/notesMaster1.xml" Id="R7f783d5ff8d349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f49a94ff544158" /><Relationship Type="http://schemas.openxmlformats.org/officeDocument/2006/relationships/notesMaster" Target="/ppt/notesMasters/notesMaster1.xml" Id="R75c701942eff4c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67a7150a0044b5" /><Relationship Type="http://schemas.openxmlformats.org/officeDocument/2006/relationships/notesMaster" Target="/ppt/notesMasters/notesMaster1.xml" Id="R567b688109944b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b5bf4aab304e27" /><Relationship Type="http://schemas.openxmlformats.org/officeDocument/2006/relationships/notesMaster" Target="/ppt/notesMasters/notesMaster1.xml" Id="Re62c235b61c845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621cf383494e05" /><Relationship Type="http://schemas.openxmlformats.org/officeDocument/2006/relationships/notesMaster" Target="/ppt/notesMasters/notesMaster1.xml" Id="Ra59756e5522449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b1cca8c0544a1e" /><Relationship Type="http://schemas.openxmlformats.org/officeDocument/2006/relationships/notesMaster" Target="/ppt/notesMasters/notesMaster1.xml" Id="R7a9cc12d294f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2035a18fe84580" /><Relationship Type="http://schemas.openxmlformats.org/officeDocument/2006/relationships/notesMaster" Target="/ppt/notesMasters/notesMaster1.xml" Id="Ra9620deab8d249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fd329143934df3" /><Relationship Type="http://schemas.openxmlformats.org/officeDocument/2006/relationships/notesMaster" Target="/ppt/notesMasters/notesMaster1.xml" Id="R4a33013e000245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dd99511ad64a10" /><Relationship Type="http://schemas.openxmlformats.org/officeDocument/2006/relationships/notesMaster" Target="/ppt/notesMasters/notesMaster1.xml" Id="R8cef35eb996e49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f65e4f160b48bd" /><Relationship Type="http://schemas.openxmlformats.org/officeDocument/2006/relationships/notesMaster" Target="/ppt/notesMasters/notesMaster1.xml" Id="R130afdb7282843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15b7727c454860" /><Relationship Type="http://schemas.openxmlformats.org/officeDocument/2006/relationships/notesMaster" Target="/ppt/notesMasters/notesMaster1.xml" Id="Rc30062699fcd46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aa9bb69e6d4f4a" /><Relationship Type="http://schemas.openxmlformats.org/officeDocument/2006/relationships/notesMaster" Target="/ppt/notesMasters/notesMaster1.xml" Id="Rb6d31ec52f1e41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e2009c82ff4dec" /><Relationship Type="http://schemas.openxmlformats.org/officeDocument/2006/relationships/notesMaster" Target="/ppt/notesMasters/notesMaster1.xml" Id="R80b8d581ea4449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39ee258c774678" /><Relationship Type="http://schemas.openxmlformats.org/officeDocument/2006/relationships/notesMaster" Target="/ppt/notesMasters/notesMaster1.xml" Id="R66e1d1456b554a8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d19d822942f4162" /><Relationship Type="http://schemas.openxmlformats.org/officeDocument/2006/relationships/notesMaster" Target="/ppt/notesMasters/notesMaster1.xml" Id="R297afd64c04e47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a791729d8843a6" /><Relationship Type="http://schemas.openxmlformats.org/officeDocument/2006/relationships/notesMaster" Target="/ppt/notesMasters/notesMaster1.xml" Id="R1d35a3ff09db42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72fc894ea0d4af5" /><Relationship Type="http://schemas.openxmlformats.org/officeDocument/2006/relationships/notesMaster" Target="/ppt/notesMasters/notesMaster1.xml" Id="R1a33e85ff93c473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dee921131f4c1f" /><Relationship Type="http://schemas.openxmlformats.org/officeDocument/2006/relationships/notesMaster" Target="/ppt/notesMasters/notesMaster1.xml" Id="R2477678949b442e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97b1740cd864fb7" /><Relationship Type="http://schemas.openxmlformats.org/officeDocument/2006/relationships/notesMaster" Target="/ppt/notesMasters/notesMaster1.xml" Id="R8bb706642836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Kim, P.; Kang, J.; Song, T.-K. A Pseudo-Dynamic Delay Calculation Using Optimal Zone Segmentation for Ultra-Compact Ultrasound Imaging Systems. Electronics 2019, 8, 242. https://doi.org/10.3390/electronics8020242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R. Delaunay, C. Hennersperger, and S. Wörz, Learning Continuous Receive Apodization Weights via Implicit Neural Representation for Ultrafast ICE Ultrasound Imaging. IEEE IUS 2025. doi:10.1109/IUS62464.2025.11201299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A. Agarwal, J. Reeg, A. S. Podkowa, and M. L. Oelze, Improving Spatial Resolution Using Incoherent Subtraction of Receive Beams Having Different Apodizations. IEEE TUFFC 66(1), 5–17, 2019. doi:10.1109/TUFFC.2018.2876285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and parameters correspond to training run 20260520_151111: four physical features, hidden layers 16-8-4, two apodization channels, tanh apodization output, hard boxcar F-number 0.5.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PyMUST: https://www.biomecardio.com/MUST/index.html. The target and loss emphasize reflector recovery and background suppression; they do not directly optimize FWHM, sidelobes, CNR or gCNR.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Interpret amplitude cautiously: the evaluated NSI configuration uses normalize_by_n_subap: false. Peak-normalized profiles should be used for resolution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dd769d7594c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6233aae6448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4189df18541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5e25c57184b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e772d28fe44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b434d29271444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53c3254594d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f91f11cd243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866896507420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a418a39f346f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8cc8a6a104fa6" /></Relationships>
</file>

<file path=ppt/slideLayouts/slideLayout1.xml><?xml version="1.0" encoding="utf-8"?>
<p:sldLayout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A348F6E9-625D-45EA-84B4-E09588AEA9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0A3CAFFC-376A-497F-9914-89940E4BDD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Haga clic para editar el estilo de subtítulo del patrón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32612B9-4D65-417D-AD1A-0564FBCC8F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77AD61F0-8ACF-4856-BE59-470F49F20C9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1195A15-9645-41D2-B285-7A78801686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1DA29CE7-E443-47B5-A47F-C59A38574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0CFD2A48-874A-47C8-82CC-E59B48AD3C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39F0AEC-0300-44E1-AC6F-A0F6365146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E01E8009-7347-49E3-A4D6-5B60C5E705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28074821-BCA6-48DB-9150-BB47285DE7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38A25478-DE46-40D5-A928-47B46AF9E9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8A1C854E-E751-4A5B-93DA-0A3C27317F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E1E7C0E9-3200-4821-9818-2C5D361999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B0A033C0-140B-4215-85CC-7C8A4A2A53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53E48925-8BC0-4172-A730-A7ED8E3097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1761A332-A577-413F-8F05-CBC3DA9EB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D40BC3B7-D36D-4A7A-B04F-7E3C91A245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77177DF8-0A4E-4B2A-8CE9-50A7AE5922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C92216F3-5F52-495F-BA1A-7DED11DA1C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588B6C43-A9B5-4864-8252-137F1A1F94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7E455063-0F7D-4DAF-BFB9-C6C3851E9F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DD78C38-082D-4D7C-9B81-77F857589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DE020656-C1EB-476D-BF35-C35A582AA1E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28EFD457-2866-4C51-835A-E5B812BAB0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81F2FF3C-986A-4611-BF2B-6E3C1A3E912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6" name="Marcador de contenido 5">
            <a:extLst xmlns:a="http://schemas.openxmlformats.org/drawingml/2006/main">
              <a:ext uri="{FF2B5EF4-FFF2-40B4-BE49-F238E27FC236}">
                <a16:creationId xmlns:a16="http://schemas.microsoft.com/office/drawing/2014/main" id="{8002CC08-11C8-47A5-A728-44ECC442A41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7" name="Marcador de fecha 6">
            <a:extLst xmlns:a="http://schemas.openxmlformats.org/drawingml/2006/main">
              <a:ext uri="{FF2B5EF4-FFF2-40B4-BE49-F238E27FC236}">
                <a16:creationId xmlns:a16="http://schemas.microsoft.com/office/drawing/2014/main" id="{596A774C-9685-4D0A-8361-E18A7C33EF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8" name="Marcador de pie de página 7">
            <a:extLst xmlns:a="http://schemas.openxmlformats.org/drawingml/2006/main">
              <a:ext uri="{FF2B5EF4-FFF2-40B4-BE49-F238E27FC236}">
                <a16:creationId xmlns:a16="http://schemas.microsoft.com/office/drawing/2014/main" id="{941E9071-5F83-43D9-8B72-F4CA185AC33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CF9B1251-A604-46F0-9CD7-B09B354970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B64A5080-2068-4B25-A5E4-8DE19BBE95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fecha 2">
            <a:extLst xmlns:a="http://schemas.openxmlformats.org/drawingml/2006/main">
              <a:ext uri="{FF2B5EF4-FFF2-40B4-BE49-F238E27FC236}">
                <a16:creationId xmlns:a16="http://schemas.microsoft.com/office/drawing/2014/main" id="{37D95F77-82FA-461F-BABD-39D93859E1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4" name="Marcador de pie de página 3">
            <a:extLst xmlns:a="http://schemas.openxmlformats.org/drawingml/2006/main">
              <a:ext uri="{FF2B5EF4-FFF2-40B4-BE49-F238E27FC236}">
                <a16:creationId xmlns:a16="http://schemas.microsoft.com/office/drawing/2014/main" id="{C8646B0E-F8F7-4ADD-9217-BDD266539E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Marcador de número de diapositiva 4">
            <a:extLst xmlns:a="http://schemas.openxmlformats.org/drawingml/2006/main">
              <a:ext uri="{FF2B5EF4-FFF2-40B4-BE49-F238E27FC236}">
                <a16:creationId xmlns:a16="http://schemas.microsoft.com/office/drawing/2014/main" id="{6390770C-FE84-4935-9F59-7BB3492A16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fecha 1">
            <a:extLst xmlns:a="http://schemas.openxmlformats.org/drawingml/2006/main">
              <a:ext uri="{FF2B5EF4-FFF2-40B4-BE49-F238E27FC236}">
                <a16:creationId xmlns:a16="http://schemas.microsoft.com/office/drawing/2014/main" id="{C5F63640-8760-477A-A4A6-BCE0D68969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3" name="Marcador de pie de página 2">
            <a:extLst xmlns:a="http://schemas.openxmlformats.org/drawingml/2006/main">
              <a:ext uri="{FF2B5EF4-FFF2-40B4-BE49-F238E27FC236}">
                <a16:creationId xmlns:a16="http://schemas.microsoft.com/office/drawing/2014/main" id="{947639CD-DF58-4FF3-8E53-B9B7CA600B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Marcador de número de diapositiva 3">
            <a:extLst xmlns:a="http://schemas.openxmlformats.org/drawingml/2006/main">
              <a:ext uri="{FF2B5EF4-FFF2-40B4-BE49-F238E27FC236}">
                <a16:creationId xmlns:a16="http://schemas.microsoft.com/office/drawing/2014/main" id="{A2ABD6AA-9E24-4852-9A71-6DCA23B9AF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E52BE9C2-7D94-4410-8510-4CC33B45EE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8398AFCE-4E51-4979-B18A-C6B47E8BACF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2494E896-A0E7-44F6-BA1F-C126C1F72F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1DF7D26A-15A8-4ABD-AD6C-87C2161409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C773BB4C-37EB-4AF3-B0C6-29EA48E554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81DE293A-317A-43E2-9D68-D04A9AAC0F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CF4DB20-774D-4218-A7F3-4E60876EE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C9C09335-D3A5-4AC1-8121-29DB9356033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68A98A8D-B47B-4F88-9FA3-77B10DDDBC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BFD40CFA-4788-4155-AF38-8679FF10AC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65DB69D4-BCCB-4209-9956-97BAAA6835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C63A6409-E3A0-4CE6-80F3-2F00774931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38F75A1-0370-43C1-BE78-48E45B9C2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AB2C2F13-022D-4E99-9DA1-7886895CFE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BC91B160-A5AD-4712-8214-FA6BAB5A6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567FC9AF-D5DF-441F-8864-6B12857D3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4B6474A3-C81C-4AD6-A0EB-C892F36832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D363052E-88CD-4DE3-919A-EFAB4F1B1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577803D3-3228-43EA-A315-2F7C96794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424F3A7E-7EA5-4FF5-AAD6-297197A8CA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0EE0169D-7358-4F01-93EC-BD691E5938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4CCA617C-C16A-4B40-8CF6-AD142F47FA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a611fd2a354f74" /><Relationship Type="http://schemas.openxmlformats.org/officeDocument/2006/relationships/slideLayout" Target="/ppt/slideLayouts/slideLayout1.xml" Id="Rcf4533f177f7487d" /><Relationship Type="http://schemas.openxmlformats.org/officeDocument/2006/relationships/slideLayout" Target="/ppt/slideLayouts/slideLayout2.xml" Id="R71b0601eec064edb" /><Relationship Type="http://schemas.openxmlformats.org/officeDocument/2006/relationships/slideLayout" Target="/ppt/slideLayouts/slideLayout3.xml" Id="R00061e0719de4e57" /><Relationship Type="http://schemas.openxmlformats.org/officeDocument/2006/relationships/slideLayout" Target="/ppt/slideLayouts/slideLayout4.xml" Id="R67be15749d204109" /><Relationship Type="http://schemas.openxmlformats.org/officeDocument/2006/relationships/slideLayout" Target="/ppt/slideLayouts/slideLayout5.xml" Id="R2abbada18e6f4849" /><Relationship Type="http://schemas.openxmlformats.org/officeDocument/2006/relationships/slideLayout" Target="/ppt/slideLayouts/slideLayout6.xml" Id="R95521e5614824097" /><Relationship Type="http://schemas.openxmlformats.org/officeDocument/2006/relationships/slideLayout" Target="/ppt/slideLayouts/slideLayout7.xml" Id="Rbf7142dac7624e9f" /><Relationship Type="http://schemas.openxmlformats.org/officeDocument/2006/relationships/slideLayout" Target="/ppt/slideLayouts/slideLayout8.xml" Id="R0e3f90ed2f644b4b" /><Relationship Type="http://schemas.openxmlformats.org/officeDocument/2006/relationships/slideLayout" Target="/ppt/slideLayouts/slideLayout9.xml" Id="R31516a65b4c3409f" /><Relationship Type="http://schemas.openxmlformats.org/officeDocument/2006/relationships/slideLayout" Target="/ppt/slideLayouts/slideLayout10.xml" Id="Reca7e0a2af2e4a6c" /><Relationship Type="http://schemas.openxmlformats.org/officeDocument/2006/relationships/slideLayout" Target="/ppt/slideLayouts/slideLayout11.xml" Id="R8904df241ead4b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título 1">
            <a:extLst xmlns:a="http://schemas.openxmlformats.org/drawingml/2006/main">
              <a:ext uri="{FF2B5EF4-FFF2-40B4-BE49-F238E27FC236}">
                <a16:creationId xmlns:a16="http://schemas.microsoft.com/office/drawing/2014/main" id="{9FC1CC1E-B8FD-4A81-BD45-6710860BC2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8CA5392C-AF74-4E2B-A435-623D60840A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el estilo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3BBCFA09-B213-48F2-947E-84578256CFB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201B4DB-F15C-4854-97AB-C54CB8F60D99}" type="datetimeFigureOut">
              <a:t>10/15/2026</a:t>
            </a:fld>
            <a:endParaRPr/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32178BF8-DF40-434F-ADD2-50E9A1FF61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EE0D3391-D3CB-483A-858A-464915893F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E00827B-3272-4623-849B-F9A1EF4CD7C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4533f177f7487d"/>
    <p:sldLayoutId xmlns:r="http://schemas.openxmlformats.org/officeDocument/2006/relationships" id="2147483650" r:id="R71b0601eec064edb"/>
    <p:sldLayoutId xmlns:r="http://schemas.openxmlformats.org/officeDocument/2006/relationships" id="2147483651" r:id="R00061e0719de4e57"/>
    <p:sldLayoutId xmlns:r="http://schemas.openxmlformats.org/officeDocument/2006/relationships" id="2147483652" r:id="R67be15749d204109"/>
    <p:sldLayoutId xmlns:r="http://schemas.openxmlformats.org/officeDocument/2006/relationships" id="2147483653" r:id="R2abbada18e6f4849"/>
    <p:sldLayoutId xmlns:r="http://schemas.openxmlformats.org/officeDocument/2006/relationships" id="2147483654" r:id="R95521e5614824097"/>
    <p:sldLayoutId xmlns:r="http://schemas.openxmlformats.org/officeDocument/2006/relationships" id="2147483655" r:id="Rbf7142dac7624e9f"/>
    <p:sldLayoutId xmlns:r="http://schemas.openxmlformats.org/officeDocument/2006/relationships" id="2147483656" r:id="R0e3f90ed2f644b4b"/>
    <p:sldLayoutId xmlns:r="http://schemas.openxmlformats.org/officeDocument/2006/relationships" id="2147483657" r:id="R31516a65b4c3409f"/>
    <p:sldLayoutId xmlns:r="http://schemas.openxmlformats.org/officeDocument/2006/relationships" id="2147483658" r:id="Reca7e0a2af2e4a6c"/>
    <p:sldLayoutId xmlns:r="http://schemas.openxmlformats.org/officeDocument/2006/relationships" id="2147483659" r:id="R8904df241ead4b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9b377dbbe4579" /><Relationship Type="http://schemas.openxmlformats.org/officeDocument/2006/relationships/image" Target="/ppt/media/image.png" Id="R9d5db67861bc46fb" /><Relationship Type="http://schemas.openxmlformats.org/officeDocument/2006/relationships/image" Target="/ppt/media/image2.png" Id="Rd772e99f8515475a" /><Relationship Type="http://schemas.openxmlformats.org/officeDocument/2006/relationships/notesSlide" Target="/ppt/notesSlides/notesSlide1.xml" Id="R01a38033f76549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bba927f02c4675" /><Relationship Type="http://schemas.openxmlformats.org/officeDocument/2006/relationships/image" Target="/ppt/media/image3.png" Id="Rd6e1c378f677464d" /><Relationship Type="http://schemas.openxmlformats.org/officeDocument/2006/relationships/image" Target="/ppt/media/image4.png" Id="R594c7c43357a40d4" /><Relationship Type="http://schemas.openxmlformats.org/officeDocument/2006/relationships/image" Target="/ppt/media/image5.png" Id="R65dc7b560d5f4963" /><Relationship Type="http://schemas.openxmlformats.org/officeDocument/2006/relationships/notesSlide" Target="/ppt/notesSlides/notesSlide2.xml" Id="Rbd6850d90ee446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d428c8fdcc40de" /><Relationship Type="http://schemas.openxmlformats.org/officeDocument/2006/relationships/image" Target="/ppt/media/image6.png" Id="R55d07a6e768840de" /><Relationship Type="http://schemas.openxmlformats.org/officeDocument/2006/relationships/image" Target="/ppt/media/image7.png" Id="Rb651ab4115f04dfa" /><Relationship Type="http://schemas.openxmlformats.org/officeDocument/2006/relationships/notesSlide" Target="/ppt/notesSlides/notesSlide3.xml" Id="R3c4a43a6e1034d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0c2ef97b9445f4" /><Relationship Type="http://schemas.openxmlformats.org/officeDocument/2006/relationships/image" Target="/ppt/media/image8.png" Id="R74fea2c898d74e75" /><Relationship Type="http://schemas.openxmlformats.org/officeDocument/2006/relationships/image" Target="/ppt/media/image9.png" Id="R92d1484e4b6e4a31" /><Relationship Type="http://schemas.openxmlformats.org/officeDocument/2006/relationships/image" Target="/ppt/media/image10.png" Id="Ra2b162a74b8548d6" /><Relationship Type="http://schemas.openxmlformats.org/officeDocument/2006/relationships/notesSlide" Target="/ppt/notesSlides/notesSlide4.xml" Id="Rd271962e7edd4b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3c54ad200b4a92" /><Relationship Type="http://schemas.openxmlformats.org/officeDocument/2006/relationships/image" Target="/ppt/media/image11.png" Id="Rfd036a96502f4ce2" /><Relationship Type="http://schemas.openxmlformats.org/officeDocument/2006/relationships/notesSlide" Target="/ppt/notesSlides/notesSlide5.xml" Id="Re357aba80cdf43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15b18e4eb1433e" /><Relationship Type="http://schemas.openxmlformats.org/officeDocument/2006/relationships/image" Target="/ppt/media/image12.png" Id="Rb97ce0e2fce64386" /><Relationship Type="http://schemas.openxmlformats.org/officeDocument/2006/relationships/image" Target="/ppt/media/image13.png" Id="R9d1df200e05e43cd" /><Relationship Type="http://schemas.openxmlformats.org/officeDocument/2006/relationships/notesSlide" Target="/ppt/notesSlides/notesSlide6.xml" Id="Re2538bc1166d4a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d08d11bfab49c3" /><Relationship Type="http://schemas.openxmlformats.org/officeDocument/2006/relationships/image" Target="/ppt/media/image12.png" Id="Re34c2a97a40e498f" /><Relationship Type="http://schemas.openxmlformats.org/officeDocument/2006/relationships/image" Target="/ppt/media/image14.png" Id="Re142d47c074c418d" /><Relationship Type="http://schemas.openxmlformats.org/officeDocument/2006/relationships/notesSlide" Target="/ppt/notesSlides/notesSlide7.xml" Id="R39c16cd2768846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34bb2ea32d45ce" /><Relationship Type="http://schemas.openxmlformats.org/officeDocument/2006/relationships/image" Target="/ppt/media/image12.png" Id="Ra42bcb426bc4435b" /><Relationship Type="http://schemas.openxmlformats.org/officeDocument/2006/relationships/image" Target="/ppt/media/image15.png" Id="Rb79a2802c64944e0" /><Relationship Type="http://schemas.openxmlformats.org/officeDocument/2006/relationships/notesSlide" Target="/ppt/notesSlides/notesSlide8.xml" Id="R250806ba51f349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3746b4beff4258" /><Relationship Type="http://schemas.openxmlformats.org/officeDocument/2006/relationships/image" Target="/ppt/media/image16.png" Id="Re61898a1ecfa46bf" /><Relationship Type="http://schemas.openxmlformats.org/officeDocument/2006/relationships/image" Target="/ppt/media/image17.png" Id="Rff681a5967bc44fc" /><Relationship Type="http://schemas.openxmlformats.org/officeDocument/2006/relationships/notesSlide" Target="/ppt/notesSlides/notesSlide9.xml" Id="R25e675b40b9340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8f14d8bc194ac3" /><Relationship Type="http://schemas.openxmlformats.org/officeDocument/2006/relationships/image" Target="/ppt/media/image16.png" Id="Rabbdac42cf6f4085" /><Relationship Type="http://schemas.openxmlformats.org/officeDocument/2006/relationships/image" Target="/ppt/media/image18.png" Id="R54f0b721ab7345ea" /><Relationship Type="http://schemas.openxmlformats.org/officeDocument/2006/relationships/notesSlide" Target="/ppt/notesSlides/notesSlide10.xml" Id="Rcb87d616340f44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7a2dcde0d44766" /><Relationship Type="http://schemas.openxmlformats.org/officeDocument/2006/relationships/image" Target="/ppt/media/image16.png" Id="R03ead326b0974600" /><Relationship Type="http://schemas.openxmlformats.org/officeDocument/2006/relationships/image" Target="/ppt/media/image19.png" Id="R99b2ca6506ca4f8a" /><Relationship Type="http://schemas.openxmlformats.org/officeDocument/2006/relationships/notesSlide" Target="/ppt/notesSlides/notesSlide11.xml" Id="R4fa8d3d443174e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0988c55e3c4f38" /><Relationship Type="http://schemas.openxmlformats.org/officeDocument/2006/relationships/image" Target="/ppt/media/image20.png" Id="Rf17c92cde2344783" /><Relationship Type="http://schemas.openxmlformats.org/officeDocument/2006/relationships/image" Target="/ppt/media/image21.png" Id="R50d3a05a64d74272" /><Relationship Type="http://schemas.openxmlformats.org/officeDocument/2006/relationships/notesSlide" Target="/ppt/notesSlides/notesSlide12.xml" Id="R5bead155671748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37013e33c4773" /><Relationship Type="http://schemas.openxmlformats.org/officeDocument/2006/relationships/image" Target="/ppt/media/image22.png" Id="Re005874121544679" /><Relationship Type="http://schemas.openxmlformats.org/officeDocument/2006/relationships/notesSlide" Target="/ppt/notesSlides/notesSlide13.xml" Id="R1928502dda4b42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32a14a9cd3447e" /><Relationship Type="http://schemas.openxmlformats.org/officeDocument/2006/relationships/image" Target="/ppt/media/image23.png" Id="R174f4189cd2449ba" /><Relationship Type="http://schemas.openxmlformats.org/officeDocument/2006/relationships/image" Target="/ppt/media/image24.png" Id="Rc2b71254f0d544dc" /><Relationship Type="http://schemas.openxmlformats.org/officeDocument/2006/relationships/image" Target="/ppt/media/image25.png" Id="R33fa54d4492b435b" /><Relationship Type="http://schemas.openxmlformats.org/officeDocument/2006/relationships/notesSlide" Target="/ppt/notesSlides/notesSlide14.xml" Id="R38549f9d759441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1966f34c934443" /><Relationship Type="http://schemas.openxmlformats.org/officeDocument/2006/relationships/image" Target="/ppt/media/image23.png" Id="R506460c092d14b99" /><Relationship Type="http://schemas.openxmlformats.org/officeDocument/2006/relationships/image" Target="/ppt/media/image26.png" Id="R1b0e483cc91d4642" /><Relationship Type="http://schemas.openxmlformats.org/officeDocument/2006/relationships/notesSlide" Target="/ppt/notesSlides/notesSlide15.xml" Id="R9fb7f2a9f31444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2d8253f2764e51" /><Relationship Type="http://schemas.openxmlformats.org/officeDocument/2006/relationships/image" Target="/ppt/media/image27.png" Id="Rb9d8a22515014770" /><Relationship Type="http://schemas.openxmlformats.org/officeDocument/2006/relationships/notesSlide" Target="/ppt/notesSlides/notesSlide16.xml" Id="R5071e62793e940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7ea21ef1e4a10" /><Relationship Type="http://schemas.openxmlformats.org/officeDocument/2006/relationships/notesSlide" Target="/ppt/notesSlides/notesSlide17.xml" Id="R5627708db40b4bc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f0fb58f9044075" /><Relationship Type="http://schemas.openxmlformats.org/officeDocument/2006/relationships/notesSlide" Target="/ppt/notesSlides/notesSlide18.xml" Id="Re295295f166f4b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27c0ffc4964b63" /><Relationship Type="http://schemas.openxmlformats.org/officeDocument/2006/relationships/image" Target="/ppt/media/image28.png" Id="R40005ba25e3440ae" /><Relationship Type="http://schemas.openxmlformats.org/officeDocument/2006/relationships/image" Target="/ppt/media/image29.png" Id="R52e6e407641d48de" /><Relationship Type="http://schemas.openxmlformats.org/officeDocument/2006/relationships/image" Target="/ppt/media/image30.png" Id="Rfbfcd41c317c4f9f" /><Relationship Type="http://schemas.openxmlformats.org/officeDocument/2006/relationships/image" Target="/ppt/media/image31.png" Id="R69b45a139f024b4e" /><Relationship Type="http://schemas.openxmlformats.org/officeDocument/2006/relationships/notesSlide" Target="/ppt/notesSlides/notesSlide19.xml" Id="R63ab01ff6ecb43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a84e03a5b41d6" /><Relationship Type="http://schemas.openxmlformats.org/officeDocument/2006/relationships/image" Target="/ppt/media/image32.png" Id="R23fe29285bcb467e" /><Relationship Type="http://schemas.openxmlformats.org/officeDocument/2006/relationships/image" Target="/ppt/media/image33.png" Id="R5042930199724355" /><Relationship Type="http://schemas.openxmlformats.org/officeDocument/2006/relationships/image" Target="/ppt/media/image34.png" Id="Raacca54889ce48db" /><Relationship Type="http://schemas.openxmlformats.org/officeDocument/2006/relationships/notesSlide" Target="/ppt/notesSlides/notesSlide20.xml" Id="R423187d95e1541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11c3dfb354d46" /><Relationship Type="http://schemas.openxmlformats.org/officeDocument/2006/relationships/image" Target="/ppt/media/image20.png" Id="R468ee0acf4fd4508" /><Relationship Type="http://schemas.openxmlformats.org/officeDocument/2006/relationships/image" Target="/ppt/media/image21.png" Id="Ra85b02e26be24277" /><Relationship Type="http://schemas.openxmlformats.org/officeDocument/2006/relationships/notesSlide" Target="/ppt/notesSlides/notesSlide21.xml" Id="R10c50287173748d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FB8A5687-7380-433D-B917-EEDA28C5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172" y="2112057"/>
            <a:ext cx="8388681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 b="1"/>
              <a:t>Learned Apodization Fusion for Robust Ultrasound Beamforming Near Array Boundaries</a:t>
            </a:r>
          </a:p>
          <a:p xmlns:a="http://schemas.openxmlformats.org/drawingml/2006/main">
            <a:pPr algn="ctr">
              <a:buNone/>
            </a:pPr>
            <a:endParaRPr sz="2800"/>
          </a:p>
          <a:p xmlns:a="http://schemas.openxmlformats.org/drawingml/2006/main">
            <a:pPr algn="ctr">
              <a:buNone/>
            </a:pPr>
            <a:r>
              <a:rPr sz="1600" u="sng"/>
              <a:t>Guillermo Cosarinsky</a:t>
            </a:r>
            <a:r>
              <a:rPr sz="1600" u="sng" baseline="30000"/>
              <a:t>1</a:t>
            </a:r>
            <a:r>
              <a:rPr sz="1600"/>
              <a:t>, Mario Muñoz</a:t>
            </a:r>
            <a:r>
              <a:rPr sz="1600" baseline="30000"/>
              <a:t>1</a:t>
            </a:r>
            <a:r>
              <a:rPr sz="1600"/>
              <a:t>, Adrián Rubio</a:t>
            </a:r>
            <a:r>
              <a:rPr sz="1600" baseline="30000"/>
              <a:t>1</a:t>
            </a:r>
            <a:r>
              <a:rPr sz="1600"/>
              <a:t>, Laura Monelleo</a:t>
            </a:r>
            <a:r>
              <a:rPr sz="1600" baseline="30000"/>
              <a:t>1</a:t>
            </a:r>
            <a:r>
              <a:rPr sz="1600"/>
              <a:t>, Jorge F. </a:t>
            </a:r>
            <a:r>
              <a:rPr sz="1600"/>
              <a:t>Cruza</a:t>
            </a:r>
            <a:r>
              <a:rPr sz="1600" baseline="30000"/>
              <a:t>1</a:t>
            </a:r>
          </a:p>
          <a:p xmlns:a="http://schemas.openxmlformats.org/drawingml/2006/main">
            <a:pPr algn="ctr">
              <a:buNone/>
            </a:pPr>
            <a:endParaRPr sz="1600" baseline="30000"/>
          </a:p>
          <a:p xmlns:a="http://schemas.openxmlformats.org/drawingml/2006/main">
            <a:pPr algn="ctr">
              <a:buNone/>
            </a:pPr>
            <a:r>
              <a:rPr sz="1600" i="1" baseline="30000"/>
              <a:t>1</a:t>
            </a:r>
            <a:r>
              <a:rPr sz="1600" i="1"/>
              <a:t>Ultrasonic and Nuclear Technology Group (GTUN), Institute for Physical and Information Technologies (ITEFI), Spanish National Research Council (CSIC), c/Serrano 144, 28006 Madrid, Spain</a:t>
            </a:r>
            <a:endParaRPr sz="1600"/>
          </a:p>
          <a:p xmlns:a="http://schemas.openxmlformats.org/drawingml/2006/main">
            <a:pPr algn="ctr">
              <a:buNone/>
            </a:pPr>
            <a:r>
              <a:rPr i="1"/>
              <a:t> </a:t>
            </a:r>
            <a:endParaRPr/>
          </a:p>
          <a:p xmlns:a="http://schemas.openxmlformats.org/drawingml/2006/main">
            <a:pPr algn="ctr">
              <a:buNone/>
            </a:pPr>
            <a:r>
              <a:rPr sz="1400"/>
              <a:t>Corresponding author email: </a:t>
            </a:r>
            <a:r>
              <a:rPr sz="1400" i="1"/>
              <a:t>g.cosarinsky@csic.es</a:t>
            </a:r>
            <a:endParaRPr sz="1400"/>
          </a:p>
          <a:p xmlns:a="http://schemas.openxmlformats.org/drawingml/2006/main">
            <a:endParaRPr/>
          </a:p>
        </p:txBody>
      </p:sp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904AA911-EAED-443A-9A7B-9DD63118CD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db67861bc46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81259" y="5251378"/>
            <a:ext cx="2170696" cy="389766"/>
          </a:xfrm>
          <a:prstGeom xmlns:a="http://schemas.openxmlformats.org/drawingml/2006/main" prst="rect">
            <a:avLst/>
          </a:prstGeom>
        </p:spPr>
      </p:pic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7947142C-5801-474C-AAC4-7287246E61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2e99f851547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11576" y="316195"/>
            <a:ext cx="8668110" cy="11754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67191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FA5E14D2-3561-4E9B-AA62-1406719D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95" y="4878062"/>
            <a:ext cx="561205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i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Kim et al., Electronics 8, 242 (2019). doi:10.3390/electronics8020242</a:t>
            </a:r>
            <a:endParaRPr sz="9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4E68A5E3-FD54-46E1-97FC-11DCE972C8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1c378f67746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0296" y="1662036"/>
            <a:ext cx="5244586" cy="3124932"/>
          </a:xfrm>
          <a:prstGeom xmlns:a="http://schemas.openxmlformats.org/drawingml/2006/main" prst="rect">
            <a:avLst/>
          </a:prstGeom>
        </p:spPr>
      </p:pic>
      <p:sp>
        <p:nvSpPr>
          <p:cNvPr id="6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9D1D57C-4B8D-413C-8BD2-02761924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5" y="-144463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E9EEAEF1-3617-4FAB-A3DE-B93C40E3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798" y="3899989"/>
            <a:ext cx="214398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Apodization</a:t>
            </a:r>
            <a:r>
              <a:t> </a:t>
            </a:r>
            <a:r>
              <a:t>function</a:t>
            </a:r>
            <a:endParaRPr/>
          </a:p>
        </p:txBody>
      </p:sp>
      <p:sp>
        <p:nvSpPr>
          <p:cNvPr id="10" name="Rectángulo redondeado 9">
            <a:extLst xmlns:a="http://schemas.openxmlformats.org/drawingml/2006/main">
              <a:ext uri="{FF2B5EF4-FFF2-40B4-BE49-F238E27FC236}">
                <a16:creationId xmlns:a16="http://schemas.microsoft.com/office/drawing/2014/main" id="{95318602-64AA-4B26-80BE-3561325A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066" y="3186446"/>
            <a:ext cx="815618" cy="360059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EBD6AF38-70B0-4803-8B06-16929FA2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967" y="2169043"/>
            <a:ext cx="3653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Delayed</a:t>
            </a:r>
            <a:r>
              <a:rPr sz="1600"/>
              <a:t> </a:t>
            </a:r>
            <a:r>
              <a:rPr sz="1600"/>
              <a:t>signals</a:t>
            </a:r>
            <a:r>
              <a:rPr sz="1600"/>
              <a:t> </a:t>
            </a:r>
            <a:r>
              <a:rPr sz="1600"/>
              <a:t>from</a:t>
            </a:r>
            <a:r>
              <a:rPr sz="1600"/>
              <a:t> </a:t>
            </a:r>
            <a:r>
              <a:rPr sz="1600"/>
              <a:t>each</a:t>
            </a:r>
            <a:r>
              <a:rPr sz="1600"/>
              <a:t> </a:t>
            </a:r>
            <a:r>
              <a:rPr sz="1600"/>
              <a:t>array</a:t>
            </a:r>
            <a:r>
              <a:rPr sz="1600"/>
              <a:t> </a:t>
            </a:r>
            <a:r>
              <a:rPr sz="1600"/>
              <a:t>element</a:t>
            </a:r>
            <a:r>
              <a:rPr sz="1600"/>
              <a:t> j</a:t>
            </a:r>
            <a:endParaRPr sz="1600"/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2C04E8C9-2207-49C7-BA6F-485262C86766}"/>
              </a:ext>
            </a:extLst>
          </p:cNvPr>
          <p:cNvCxnSpPr/>
          <p:nvPr/>
        </p:nvCxnSpPr>
        <p:spPr>
          <a:xfrm xmlns:a="http://schemas.openxmlformats.org/drawingml/2006/main" flipH="1">
            <a:off x="9913122" y="2435552"/>
            <a:ext cx="239282" cy="6863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4" name="Rectángulo redondeado 13">
            <a:extLst xmlns:a="http://schemas.openxmlformats.org/drawingml/2006/main">
              <a:ext uri="{FF2B5EF4-FFF2-40B4-BE49-F238E27FC236}">
                <a16:creationId xmlns:a16="http://schemas.microsoft.com/office/drawing/2014/main" id="{8C138EBE-8855-4EFA-8614-57478D0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8919" y="3168219"/>
            <a:ext cx="1623701" cy="360059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60B41F2C-741E-4D52-B541-55A91CF9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383" y="714196"/>
            <a:ext cx="4427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Receive beamforming and apodization</a:t>
            </a:r>
            <a:endParaRPr b="1"/>
          </a:p>
        </p:txBody>
      </p:sp>
      <p:pic>
        <p:nvPicPr>
          <p:cNvPr id="17" name="Imagen 16">
            <a:extLst xmlns:a="http://schemas.openxmlformats.org/drawingml/2006/main">
              <a:ext uri="{FF2B5EF4-FFF2-40B4-BE49-F238E27FC236}">
                <a16:creationId xmlns:a16="http://schemas.microsoft.com/office/drawing/2014/main" id="{74444887-AEE8-49EE-8458-1E5890D00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c7c43357a40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3307" y="3074134"/>
            <a:ext cx="3905250" cy="628650"/>
          </a:xfrm>
          <a:prstGeom xmlns:a="http://schemas.openxmlformats.org/drawingml/2006/main" prst="rect">
            <a:avLst/>
          </a:prstGeom>
        </p:spPr>
      </p:pic>
      <p:cxnSp>
        <p:nvCxnSpPr>
          <p:cNvPr id="3" name="Conector recto de flecha 2">
            <a:extLst xmlns:a="http://schemas.openxmlformats.org/drawingml/2006/main">
              <a:ext uri="{FF2B5EF4-FFF2-40B4-BE49-F238E27FC236}">
                <a16:creationId xmlns:a16="http://schemas.microsoft.com/office/drawing/2014/main" id="{0BD94253-6FA3-4C70-AE61-EB131E45900D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8921809" y="3546505"/>
            <a:ext cx="179462" cy="3534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F5F601F7-7F7A-4A60-AF35-B0008B955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dc7b560d5f4963"/>
          <a:srcRect xmlns:a="http://schemas.openxmlformats.org/drawingml/2006/main" l="1321" t="19367" r="71732" b="6409"/>
          <a:stretch xmlns:a="http://schemas.openxmlformats.org/drawingml/2006/main"/>
        </p:blipFill>
        <p:spPr>
          <a:xfrm xmlns:a="http://schemas.openxmlformats.org/drawingml/2006/main" rot="18328162" flipV="1">
            <a:off x="757630" y="38965"/>
            <a:ext cx="1146761" cy="2039449"/>
          </a:xfrm>
          <a:prstGeom xmlns:a="http://schemas.openxmlformats.org/drawingml/2006/main" prst="rect">
            <a:avLst/>
          </a:prstGeom>
        </p:spPr>
      </p:pic>
      <p:sp>
        <p:nvSpPr>
          <p:cNvPr id="8" name="Elipse 7">
            <a:extLst xmlns:a="http://schemas.openxmlformats.org/drawingml/2006/main">
              <a:ext uri="{FF2B5EF4-FFF2-40B4-BE49-F238E27FC236}">
                <a16:creationId xmlns:a16="http://schemas.microsoft.com/office/drawing/2014/main" id="{3D3C6712-5419-4C69-8A5D-1287EB77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02211">
            <a:off x="1484922" y="1352668"/>
            <a:ext cx="1144809" cy="365460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16" name="Conector recto de flecha 15">
            <a:extLst xmlns:a="http://schemas.openxmlformats.org/drawingml/2006/main">
              <a:ext uri="{FF2B5EF4-FFF2-40B4-BE49-F238E27FC236}">
                <a16:creationId xmlns:a16="http://schemas.microsoft.com/office/drawing/2014/main" id="{5827576E-8260-42A3-A5AD-FF6667425063}"/>
              </a:ext>
            </a:extLst>
          </p:cNvPr>
          <p:cNvCxnSpPr>
            <a:stCxn xmlns:a="http://schemas.openxmlformats.org/drawingml/2006/main" id="8" idx="4"/>
          </p:cNvCxnSpPr>
          <p:nvPr/>
        </p:nvCxnSpPr>
        <p:spPr>
          <a:xfrm xmlns:a="http://schemas.openxmlformats.org/drawingml/2006/main">
            <a:off x="2206943" y="1640303"/>
            <a:ext cx="664444" cy="69269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6803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473AAA24-17E3-4820-8D83-BAE7B99772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07a6e768840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9871" y="3039601"/>
            <a:ext cx="3813162" cy="679644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C5E54B71-93D2-4511-97BA-80F01CBB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798" y="3899989"/>
            <a:ext cx="19218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function</a:t>
            </a:r>
            <a:endParaRPr sz="1600"/>
          </a:p>
        </p:txBody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11D2DC89-4F0D-462E-B44B-274F8340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5967" y="2169043"/>
            <a:ext cx="3653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Delayed</a:t>
            </a:r>
            <a:r>
              <a:rPr sz="1600"/>
              <a:t> </a:t>
            </a:r>
            <a:r>
              <a:rPr sz="1600"/>
              <a:t>signals</a:t>
            </a:r>
            <a:r>
              <a:rPr sz="1600"/>
              <a:t> </a:t>
            </a:r>
            <a:r>
              <a:rPr sz="1600"/>
              <a:t>from</a:t>
            </a:r>
            <a:r>
              <a:rPr sz="1600"/>
              <a:t> </a:t>
            </a:r>
            <a:r>
              <a:rPr sz="1600"/>
              <a:t>each</a:t>
            </a:r>
            <a:r>
              <a:rPr sz="1600"/>
              <a:t> </a:t>
            </a:r>
            <a:r>
              <a:rPr sz="1600"/>
              <a:t>array</a:t>
            </a:r>
            <a:r>
              <a:rPr sz="1600"/>
              <a:t> </a:t>
            </a:r>
            <a:r>
              <a:rPr sz="1600"/>
              <a:t>element</a:t>
            </a:r>
            <a:r>
              <a:rPr sz="1600"/>
              <a:t> j</a:t>
            </a:r>
            <a:endParaRPr sz="1600"/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1145E5C6-121D-4C95-B8EB-4829997B2E17}"/>
              </a:ext>
            </a:extLst>
          </p:cNvPr>
          <p:cNvCxnSpPr/>
          <p:nvPr/>
        </p:nvCxnSpPr>
        <p:spPr>
          <a:xfrm xmlns:a="http://schemas.openxmlformats.org/drawingml/2006/main" flipH="1">
            <a:off x="9913122" y="2435552"/>
            <a:ext cx="239282" cy="68639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7A924736-3936-45CC-8F32-0E0EBB57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154" y="705651"/>
            <a:ext cx="522954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Apodization controls resolution and sidelobes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13ED1F91-2F8D-425F-AB90-FCEE8E5A8E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1ab4115f04d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196" y="1602971"/>
            <a:ext cx="6299439" cy="4199626"/>
          </a:xfrm>
          <a:prstGeom xmlns:a="http://schemas.openxmlformats.org/drawingml/2006/main" prst="rect">
            <a:avLst/>
          </a:prstGeom>
        </p:spPr>
      </p:pic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CC6664A5-67AC-4C02-9600-0B6EF072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266" y="5802597"/>
            <a:ext cx="292925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Resolution and sidelobe trade-off</a:t>
            </a:r>
            <a:endParaRPr sz="1600"/>
          </a:p>
        </p:txBody>
      </p:sp>
      <p:cxnSp>
        <p:nvCxnSpPr>
          <p:cNvPr id="16" name="Conector recto de flecha 15">
            <a:extLst xmlns:a="http://schemas.openxmlformats.org/drawingml/2006/main">
              <a:ext uri="{FF2B5EF4-FFF2-40B4-BE49-F238E27FC236}">
                <a16:creationId xmlns:a16="http://schemas.microsoft.com/office/drawing/2014/main" id="{AE825DF9-AF98-4068-AE02-2E4731937919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8921809" y="3546505"/>
            <a:ext cx="179462" cy="3534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7761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CEEDE97D-06E6-4333-B3AF-2F2757AB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958" y="739834"/>
            <a:ext cx="30308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Dynamic receive aperture</a:t>
            </a:r>
            <a:endParaRPr b="1"/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FB0AAAE8-41DE-441F-A990-83A266DBAF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ea2c898d7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1687386" y="1939897"/>
            <a:ext cx="8407840" cy="3179034"/>
          </a:xfrm>
          <a:prstGeom xmlns:a="http://schemas.openxmlformats.org/drawingml/2006/main" prst="rect">
            <a:avLst/>
          </a:prstGeom>
        </p:spPr>
      </p:pic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CBC3E86F-7BF4-4785-94FE-8C18181D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5811" y="5498159"/>
            <a:ext cx="5183505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F-number controls the active subaperture at each focal point</a:t>
            </a:r>
            <a:endParaRPr sz="16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2476C0EA-0E80-424F-B841-0B54376AA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1484e4b6e4a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56218" y="1688442"/>
            <a:ext cx="1182213" cy="224318"/>
          </a:xfrm>
          <a:prstGeom xmlns:a="http://schemas.openxmlformats.org/drawingml/2006/main" prst="rect">
            <a:avLst/>
          </a:prstGeom>
        </p:spPr>
      </p:pic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35AAE973-3C00-47D3-AEAA-9E0B9BB0BC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162a74b8548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2248" y="5070110"/>
            <a:ext cx="626646" cy="18548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73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B262F808-00D2-4423-B2ED-0D9ED7DC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47056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Learning continuous apodization weights</a:t>
            </a:r>
            <a:endParaRPr b="1"/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110B8E8D-D458-46FA-8868-96BE3A19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223" y="4570411"/>
            <a:ext cx="8556726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Delaunay et al., IEEE IUS 2025. doi:10.1109/IUS62464.2025.11201299</a:t>
            </a:r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8D1B16BF-27AC-4BB1-B74B-1D1F1DFC14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36a96502f4c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72561" y="1929952"/>
            <a:ext cx="8711939" cy="24569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2818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8CC3791C-0FB5-4EE1-ABBE-28286BC3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3ADB8D74-3FA8-470D-A980-ABF7F14E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8323C1D8-8A76-42F2-83E5-1EA0B5E42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7ce0e2fce64386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1D98E7D4-6C7B-4FEF-BBDC-D6C731C257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df200e05e43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428" y="2129863"/>
            <a:ext cx="4351972" cy="3424924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FCCC0AB8-F11F-4687-ABE7-8314E68C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0" name="CuadroTexto 9">
            <a:extLst xmlns:a="http://schemas.openxmlformats.org/drawingml/2006/main">
              <a:ext uri="{FF2B5EF4-FFF2-40B4-BE49-F238E27FC236}">
                <a16:creationId xmlns:a16="http://schemas.microsoft.com/office/drawing/2014/main" id="{8C51FFD7-D08D-4179-9D64-C21F09A5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6706" y="5370121"/>
            <a:ext cx="56137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Null</a:t>
            </a:r>
            <a:endParaRPr/>
          </a:p>
        </p:txBody>
      </p: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EAC8E74B-1974-493A-A214-5DC19ACD48E6}"/>
              </a:ext>
            </a:extLst>
          </p:cNvPr>
          <p:cNvCxnSpPr/>
          <p:nvPr/>
        </p:nvCxnSpPr>
        <p:spPr>
          <a:xfrm xmlns:a="http://schemas.openxmlformats.org/drawingml/2006/main" flipV="1">
            <a:off x="7266296" y="4632431"/>
            <a:ext cx="1531022" cy="866487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334095C2-F191-4A97-8B8F-65534EE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64186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D37479E1-5B05-4BFB-8281-CD3183C3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8C2F6F60-728B-4F4B-BA62-D429344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9A4D301A-6552-48AA-BE84-7613DB5782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4c2a97a40e498f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8A6048DC-81AD-4479-867B-E2B3780C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0E6504E8-B018-4A95-A570-BFAE39B3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  <p:pic>
        <p:nvPicPr>
          <p:cNvPr id="11" name="Imagen 10">
            <a:extLst xmlns:a="http://schemas.openxmlformats.org/drawingml/2006/main">
              <a:ext uri="{FF2B5EF4-FFF2-40B4-BE49-F238E27FC236}">
                <a16:creationId xmlns:a16="http://schemas.microsoft.com/office/drawing/2014/main" id="{49629F14-46CA-4252-BB8B-29413FF52E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2d47c074c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3524" y="2591648"/>
            <a:ext cx="5693383" cy="2048794"/>
          </a:xfrm>
          <a:prstGeom xmlns:a="http://schemas.openxmlformats.org/drawingml/2006/main" prst="rect">
            <a:avLst/>
          </a:prstGeom>
        </p:spPr>
      </p:pic>
      <p:sp>
        <p:nvSpPr>
          <p:cNvPr id="6" name="Elipse 5">
            <a:extLst xmlns:a="http://schemas.openxmlformats.org/drawingml/2006/main">
              <a:ext uri="{FF2B5EF4-FFF2-40B4-BE49-F238E27FC236}">
                <a16:creationId xmlns:a16="http://schemas.microsoft.com/office/drawing/2014/main" id="{8A53B1ED-043A-49D5-86A2-A5770FE5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622" y="3367043"/>
            <a:ext cx="564022" cy="905854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CuadroTexto 13">
            <a:extLst xmlns:a="http://schemas.openxmlformats.org/drawingml/2006/main">
              <a:ext uri="{FF2B5EF4-FFF2-40B4-BE49-F238E27FC236}">
                <a16:creationId xmlns:a16="http://schemas.microsoft.com/office/drawing/2014/main" id="{49D9CE9B-1B69-4E24-982F-2BE6D26C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29" y="2374571"/>
            <a:ext cx="17170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Beam</a:t>
            </a:r>
            <a:r>
              <a:rPr sz="1600"/>
              <a:t> </a:t>
            </a:r>
            <a:r>
              <a:rPr sz="1600"/>
              <a:t>profile</a:t>
            </a:r>
            <a:r>
              <a:rPr sz="1600"/>
              <a:t> / PSF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285843560"/>
      </p:ext>
    </p:extLst>
  </p:cSld>
</p:sld>
</file>

<file path=ppt/slides/slide8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4DABF572-6653-490F-B2BF-17351A08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8894" y="731288"/>
            <a:ext cx="35086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9997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Null Subtraction Imaging (NSI)</a:t>
            </a:r>
            <a:endParaRPr b="1"/>
          </a:p>
        </p:txBody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65937851-8F54-46C7-8EB6-98BAC7EF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657" y="6163680"/>
            <a:ext cx="9770692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al., IEEE TUFFC 66(1), 5–17 (2019). doi:10.1109/TUFFC.2018.2876285</a:t>
            </a:r>
          </a:p>
        </p:txBody>
      </p:sp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DD474F25-D1D2-4642-ACF0-1BCEA5A09D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2bcb426bc4435b"/>
          <a:srcRect xmlns:a="http://schemas.openxmlformats.org/drawingml/2006/main" l="0" t="0" r="0" b="5783"/>
          <a:stretch xmlns:a="http://schemas.openxmlformats.org/drawingml/2006/main"/>
        </p:blipFill>
        <p:spPr>
          <a:xfrm xmlns:a="http://schemas.openxmlformats.org/drawingml/2006/main">
            <a:off x="1079496" y="2347202"/>
            <a:ext cx="5052394" cy="2818796"/>
          </a:xfrm>
          <a:prstGeom xmlns:a="http://schemas.openxmlformats.org/drawingml/2006/main" prst="rect">
            <a:avLst/>
          </a:prstGeom>
        </p:spPr>
      </p:pic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3D3294CF-BE1A-4B69-BF62-6191EF3F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5164" y="1555625"/>
            <a:ext cx="5013643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Agarwal et al. (2019): complementary receive apodizations</a:t>
            </a:r>
            <a:endParaRPr sz="1600" b="1"/>
          </a:p>
        </p:txBody>
      </p:sp>
      <p:sp>
        <p:nvSpPr>
          <p:cNvPr id="13" name="CuadroTexto 12">
            <a:extLst xmlns:a="http://schemas.openxmlformats.org/drawingml/2006/main">
              <a:ext uri="{FF2B5EF4-FFF2-40B4-BE49-F238E27FC236}">
                <a16:creationId xmlns:a16="http://schemas.microsoft.com/office/drawing/2014/main" id="{D0CBF0D8-D620-4189-96C2-FAC9945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7722" y="2223743"/>
            <a:ext cx="2848857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Apodization</a:t>
            </a:r>
            <a:r>
              <a:rPr sz="1600"/>
              <a:t> </a:t>
            </a:r>
            <a:r>
              <a:rPr sz="1600"/>
              <a:t>inside</a:t>
            </a:r>
            <a:r>
              <a:rPr sz="1600"/>
              <a:t> sub-</a:t>
            </a:r>
            <a:r>
              <a:rPr sz="1600"/>
              <a:t>aperture</a:t>
            </a:r>
            <a:endParaRPr sz="1600"/>
          </a:p>
        </p:txBody>
      </p:sp>
      <p:sp>
        <p:nvSpPr>
          <p:cNvPr id="14" name="CuadroTexto 13">
            <a:extLst xmlns:a="http://schemas.openxmlformats.org/drawingml/2006/main">
              <a:ext uri="{FF2B5EF4-FFF2-40B4-BE49-F238E27FC236}">
                <a16:creationId xmlns:a16="http://schemas.microsoft.com/office/drawing/2014/main" id="{601CE06C-8D3D-473C-BEE7-21A9DF28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7129" y="2374571"/>
            <a:ext cx="1717008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Beam</a:t>
            </a:r>
            <a:r>
              <a:rPr sz="1600"/>
              <a:t> </a:t>
            </a:r>
            <a:r>
              <a:rPr sz="1600"/>
              <a:t>profile</a:t>
            </a:r>
            <a:r>
              <a:rPr sz="1600"/>
              <a:t> / PSF</a:t>
            </a:r>
            <a:endParaRPr sz="1600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673854BC-082B-4178-A81C-63CBA3D498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a2802c64944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2059" y="2713125"/>
            <a:ext cx="3720005" cy="31930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09617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BD00E5FB-D1A3-4ECD-B5AB-C2A82AC3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54205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 </a:t>
            </a:r>
            <a:r>
              <a:rPr b="1"/>
              <a:t>problem</a:t>
            </a:r>
            <a:r>
              <a:rPr b="1"/>
              <a:t>: sub-</a:t>
            </a:r>
            <a:r>
              <a:rPr b="1"/>
              <a:t>aperture</a:t>
            </a:r>
            <a:r>
              <a:rPr b="1"/>
              <a:t> </a:t>
            </a:r>
            <a:r>
              <a:rPr b="1"/>
              <a:t>reduction</a:t>
            </a:r>
            <a:r>
              <a:rPr b="1"/>
              <a:t> </a:t>
            </a:r>
            <a:r>
              <a:rPr b="1"/>
              <a:t>close</a:t>
            </a:r>
            <a:r>
              <a:rPr b="1"/>
              <a:t> to </a:t>
            </a:r>
            <a:r>
              <a:rPr b="1"/>
              <a:t>array</a:t>
            </a:r>
            <a:r>
              <a:rPr b="1"/>
              <a:t> </a:t>
            </a:r>
            <a:r>
              <a:rPr b="1"/>
              <a:t>edges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A6C7A230-DB4B-49BE-B255-4297FAC80A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898a1ecfa46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2FF913E5-418B-4C14-9AE0-53B800E8C5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81a5967bc44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6144" y="2160927"/>
            <a:ext cx="3240000" cy="2441627"/>
          </a:xfrm>
          <a:prstGeom xmlns:a="http://schemas.openxmlformats.org/drawingml/2006/main" prst="rect">
            <a:avLst/>
          </a:prstGeom>
        </p:spPr>
      </p:pic>
      <p:cxnSp>
        <p:nvCxnSpPr>
          <p:cNvPr id="4" name="Conector recto de flecha 3">
            <a:extLst xmlns:a="http://schemas.openxmlformats.org/drawingml/2006/main">
              <a:ext uri="{FF2B5EF4-FFF2-40B4-BE49-F238E27FC236}">
                <a16:creationId xmlns:a16="http://schemas.microsoft.com/office/drawing/2014/main" id="{C69CA7B4-70DE-4698-8FEF-8D2459524E6F}"/>
              </a:ext>
            </a:extLst>
          </p:cNvPr>
          <p:cNvCxnSpPr/>
          <p:nvPr/>
        </p:nvCxnSpPr>
        <p:spPr>
          <a:xfrm xmlns:a="http://schemas.openxmlformats.org/drawingml/2006/main" flipH="1">
            <a:off x="7093009" y="1848947"/>
            <a:ext cx="170916" cy="31198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6" name="Conector recto de flecha 5">
            <a:extLst xmlns:a="http://schemas.openxmlformats.org/drawingml/2006/main">
              <a:ext uri="{FF2B5EF4-FFF2-40B4-BE49-F238E27FC236}">
                <a16:creationId xmlns:a16="http://schemas.microsoft.com/office/drawing/2014/main" id="{CABDF005-0B5C-44F5-BEF7-651A38C85AF2}"/>
              </a:ext>
            </a:extLst>
          </p:cNvPr>
          <p:cNvCxnSpPr>
            <a:stCxn xmlns:a="http://schemas.openxmlformats.org/drawingml/2006/main" id="7" idx="3"/>
          </p:cNvCxnSpPr>
          <p:nvPr/>
        </p:nvCxnSpPr>
        <p:spPr>
          <a:xfrm xmlns:a="http://schemas.openxmlformats.org/drawingml/2006/main">
            <a:off x="8568944" y="1709159"/>
            <a:ext cx="1467200" cy="45176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7" name="CuadroTexto 6">
            <a:extLst xmlns:a="http://schemas.openxmlformats.org/drawingml/2006/main">
              <a:ext uri="{FF2B5EF4-FFF2-40B4-BE49-F238E27FC236}">
                <a16:creationId xmlns:a16="http://schemas.microsoft.com/office/drawing/2014/main" id="{645D0620-A7C4-470C-831D-E0C7FCF9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611" y="1555270"/>
            <a:ext cx="1309333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Aperture edges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999257539"/>
      </p:ext>
    </p:extLst>
  </p:cSld>
</p:sld>
</file>

<file path=ppt/slides/slide1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87EF1713-D29E-448B-B6C4-9C97ECF1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5420586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A </a:t>
            </a:r>
            <a:r>
              <a:rPr b="1"/>
              <a:t>problem</a:t>
            </a:r>
            <a:r>
              <a:rPr b="1"/>
              <a:t>: sub-</a:t>
            </a:r>
            <a:r>
              <a:rPr b="1"/>
              <a:t>aperture</a:t>
            </a:r>
            <a:r>
              <a:rPr b="1"/>
              <a:t> </a:t>
            </a:r>
            <a:r>
              <a:rPr b="1"/>
              <a:t>reduction</a:t>
            </a:r>
            <a:r>
              <a:rPr b="1"/>
              <a:t> </a:t>
            </a:r>
            <a:r>
              <a:rPr b="1"/>
              <a:t>close</a:t>
            </a:r>
            <a:r>
              <a:rPr b="1"/>
              <a:t> to </a:t>
            </a:r>
            <a:r>
              <a:rPr b="1"/>
              <a:t>array</a:t>
            </a:r>
            <a:r>
              <a:rPr b="1"/>
              <a:t> </a:t>
            </a:r>
            <a:r>
              <a:rPr b="1"/>
              <a:t>edges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23BF2F7C-77BA-4563-951B-04C18AEC21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dac42cf6f4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44CD73FE-061B-47BB-9C58-130C683642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f0b721ab7345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928" y="2182669"/>
            <a:ext cx="3347668" cy="24353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0066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79DC2A03-73CA-4F15-BD01-500F3FC4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143" y="714196"/>
            <a:ext cx="46056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Aperture clipping near array boundaries</a:t>
            </a:r>
            <a:endParaRPr b="1"/>
          </a:p>
        </p:txBody>
      </p:sp>
      <p:pic>
        <p:nvPicPr>
          <p:cNvPr id="8" name="Imagen 7">
            <a:extLst xmlns:a="http://schemas.openxmlformats.org/drawingml/2006/main">
              <a:ext uri="{FF2B5EF4-FFF2-40B4-BE49-F238E27FC236}">
                <a16:creationId xmlns:a16="http://schemas.microsoft.com/office/drawing/2014/main" id="{D3F8470E-4DC0-4528-ADC5-3DE5A27A1E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ad326b09746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65173" y="1848947"/>
            <a:ext cx="3240000" cy="2753607"/>
          </a:xfrm>
          <a:prstGeom xmlns:a="http://schemas.openxmlformats.org/drawingml/2006/main" prst="rect">
            <a:avLst/>
          </a:prstGeom>
        </p:spPr>
      </p:pic>
      <p:pic>
        <p:nvPicPr>
          <p:cNvPr id="10" name="Imagen 9">
            <a:extLst xmlns:a="http://schemas.openxmlformats.org/drawingml/2006/main">
              <a:ext uri="{FF2B5EF4-FFF2-40B4-BE49-F238E27FC236}">
                <a16:creationId xmlns:a16="http://schemas.microsoft.com/office/drawing/2014/main" id="{FCC06C29-6590-4FEE-B84C-D1369A8388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2ca6506ca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928" y="2182669"/>
            <a:ext cx="3347668" cy="2435370"/>
          </a:xfrm>
          <a:prstGeom xmlns:a="http://schemas.openxmlformats.org/drawingml/2006/main" prst="rect">
            <a:avLst/>
          </a:prstGeom>
        </p:spPr>
      </p:pic>
      <p:sp>
        <p:nvSpPr>
          <p:cNvPr id="3" name="CuadroTexto 2">
            <a:extLst xmlns:a="http://schemas.openxmlformats.org/drawingml/2006/main">
              <a:ext uri="{FF2B5EF4-FFF2-40B4-BE49-F238E27FC236}">
                <a16:creationId xmlns:a16="http://schemas.microsoft.com/office/drawing/2014/main" id="{B5D9F31E-035B-4180-8CFF-A79069F4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122" y="1664281"/>
            <a:ext cx="3588067" cy="335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6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Symmetric clipping preserves the NSI null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225250625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5D56E554-6B60-4421-949B-CE03F632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5" y="830026"/>
            <a:ext cx="4580255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apodization fusion architecture</a:t>
            </a:r>
            <a:endParaRPr b="1"/>
          </a:p>
        </p:txBody>
      </p:sp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65751D1B-80DD-4B0A-9D89-C607209FE7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c92cde23447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499" y="2287827"/>
            <a:ext cx="8896172" cy="2625653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AA3668F8-AEE8-494F-B45D-0B1583B748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3a05a64d742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767" y="1500920"/>
            <a:ext cx="2076404" cy="288823"/>
          </a:xfrm>
          <a:prstGeom xmlns:a="http://schemas.openxmlformats.org/drawingml/2006/main" prst="rect">
            <a:avLst/>
          </a:prstGeom>
        </p:spPr>
      </p:pic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294B8033-9A8C-4235-AE28-E995512FAE21}"/>
              </a:ext>
            </a:extLst>
          </p:cNvPr>
          <p:cNvCxnSpPr/>
          <p:nvPr/>
        </p:nvCxnSpPr>
        <p:spPr>
          <a:xfrm xmlns:a="http://schemas.openxmlformats.org/drawingml/2006/main">
            <a:off x="6238430" y="1136591"/>
            <a:ext cx="153824" cy="4443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805E9F05-D171-4076-ADFA-79D7C6894480}"/>
              </a:ext>
            </a:extLst>
          </p:cNvPr>
          <p:cNvCxnSpPr/>
          <p:nvPr/>
        </p:nvCxnSpPr>
        <p:spPr>
          <a:xfrm xmlns:a="http://schemas.openxmlformats.org/drawingml/2006/main">
            <a:off x="7272471" y="1136591"/>
            <a:ext cx="1316052" cy="170915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9CF8A6C3-5EB9-4D9F-993D-A31DF427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Evaluated model</a:t>
            </a:r>
            <a:endParaRPr/>
          </a:p>
          <a:p xmlns:a="http://schemas.openxmlformats.org/drawingml/2006/main">
            <a:pPr algn="ctr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run 20260520_151111</a:t>
            </a:r>
            <a:endParaRPr/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CD209C05-9B0E-4BF6-8F9C-04C6FF9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106" y="5512037"/>
            <a:ext cx="294036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 features, 16, 8, 4, 2 apodizations]</a:t>
            </a:r>
            <a:endParaRPr/>
          </a:p>
        </p:txBody>
      </p: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25FF8A72-98BA-49B9-BA5F-989C798E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5512037"/>
            <a:ext cx="225456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[2 images, 2, 1 final image]</a:t>
            </a:r>
            <a:endParaRPr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FBF0F1E5-61D7-43AA-B34A-7356A56D380D}"/>
              </a:ext>
            </a:extLst>
          </p:cNvPr>
          <p:cNvCxnSpPr/>
          <p:nvPr/>
        </p:nvCxnSpPr>
        <p:spPr>
          <a:xfrm xmlns:a="http://schemas.openxmlformats.org/drawingml/2006/main">
            <a:off x="3700329" y="4802736"/>
            <a:ext cx="25637" cy="5469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Conector recto de flecha 21">
            <a:extLst xmlns:a="http://schemas.openxmlformats.org/drawingml/2006/main">
              <a:ext uri="{FF2B5EF4-FFF2-40B4-BE49-F238E27FC236}">
                <a16:creationId xmlns:a16="http://schemas.microsoft.com/office/drawing/2014/main" id="{41299436-27CA-4DC3-8C6E-C841FCD067C7}"/>
              </a:ext>
            </a:extLst>
          </p:cNvPr>
          <p:cNvCxnSpPr/>
          <p:nvPr/>
        </p:nvCxnSpPr>
        <p:spPr>
          <a:xfrm xmlns:a="http://schemas.openxmlformats.org/drawingml/2006/main">
            <a:off x="8981630" y="4349809"/>
            <a:ext cx="162370" cy="99985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3" name="feature-label-background">
            <a:extLst xmlns:a="http://schemas.openxmlformats.org/drawingml/2006/main">
              <a:ext uri="{FF2B5EF4-FFF2-40B4-BE49-F238E27FC236}">
                <a16:creationId xmlns:a16="http://schemas.microsoft.com/office/drawing/2014/main" id="{28C9763A-5746-4E1C-B31B-063BA1D9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819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evaluated-feature-labels">
            <a:extLst xmlns:a="http://schemas.openxmlformats.org/drawingml/2006/main">
              <a:ext uri="{FF2B5EF4-FFF2-40B4-BE49-F238E27FC236}">
                <a16:creationId xmlns:a16="http://schemas.microsoft.com/office/drawing/2014/main" id="{1A798DA1-7530-430B-8F2A-22682472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143250"/>
            <a:ext cx="7810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|x−x_f| / z</a:t>
            </a:r>
          </a:p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|x| / z</a:t>
            </a:r>
          </a:p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z</a:t>
            </a:r>
          </a:p>
          <a:p xmlns:a="http://schemas.openxmlformats.org/drawingml/2006/main">
            <a:pPr algn="r">
              <a:defRPr sz="10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(x−x_f)x / z²</a:t>
            </a:r>
          </a:p>
        </p:txBody>
      </p:sp>
    </p:spTree>
    <p:extLst>
      <p:ext uri="{BB962C8B-B14F-4D97-AF65-F5344CB8AC3E}">
        <p14:creationId xmlns:p14="http://schemas.microsoft.com/office/powerpoint/2010/main" val="4229956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43344DEC-60F2-4A34-85EF-7307AF05BF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05874121544679"/>
          <a:srcRect xmlns:a="http://schemas.openxmlformats.org/drawingml/2006/main" l="0" t="7191" r="52746" b="46816"/>
          <a:stretch xmlns:a="http://schemas.openxmlformats.org/drawingml/2006/main"/>
        </p:blipFill>
        <p:spPr>
          <a:xfrm xmlns:a="http://schemas.openxmlformats.org/drawingml/2006/main">
            <a:off x="1880171" y="1160980"/>
            <a:ext cx="3801438" cy="3700000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7B54972E-D8E6-43EF-A11F-4C3B6D07CA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05874121544679"/>
          <a:srcRect xmlns:a="http://schemas.openxmlformats.org/drawingml/2006/main" l="46654" t="53034" r="7952" b="0"/>
          <a:stretch xmlns:a="http://schemas.openxmlformats.org/drawingml/2006/main"/>
        </p:blipFill>
        <p:spPr>
          <a:xfrm xmlns:a="http://schemas.openxmlformats.org/drawingml/2006/main">
            <a:off x="5917914" y="1160980"/>
            <a:ext cx="3664187" cy="3791164"/>
          </a:xfrm>
          <a:prstGeom xmlns:a="http://schemas.openxmlformats.org/drawingml/2006/main" prst="rect">
            <a:avLst/>
          </a:prstGeom>
        </p:spPr>
      </p:pic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BBC82410-0B12-4AC2-9487-FBF1992E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7" y="665640"/>
            <a:ext cx="380396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Synthetic training target and loss</a:t>
            </a:r>
            <a:endParaRPr b="1"/>
          </a:p>
        </p:txBody>
      </p:sp>
      <p:sp>
        <p:nvSpPr>
          <p:cNvPr id="7" name="CuadroTexto 6">
            <a:extLst xmlns:a="http://schemas.openxmlformats.org/drawingml/2006/main">
              <a:ext uri="{FF2B5EF4-FFF2-40B4-BE49-F238E27FC236}">
                <a16:creationId xmlns:a16="http://schemas.microsoft.com/office/drawing/2014/main" id="{AC1DC050-88C5-4171-B176-645F517B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495" y="5280917"/>
            <a:ext cx="9380306" cy="1318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Plane-wave simulations generated with PyMUST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Target: |I_DAS| multiplied by Gaussian masks centred on the reflectors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Loss: reflector-weighted MAE in linear amplitude</a:t>
            </a:r>
          </a:p>
          <a:p xmlns:a="http://schemas.openxmlformats.org/drawingml/2006/main">
            <a:pPr marL="228600" indent="-114300">
              <a:spcAft>
                <a:spcPts val="700"/>
              </a:spcAft>
              <a:buChar char="•"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 objective does not directly optimise FWHM, sidelobes, CNR or gCNR</a:t>
            </a:r>
          </a:p>
        </p:txBody>
      </p:sp>
    </p:spTree>
    <p:extLst>
      <p:ext uri="{BB962C8B-B14F-4D97-AF65-F5344CB8AC3E}">
        <p14:creationId xmlns:p14="http://schemas.microsoft.com/office/powerpoint/2010/main" val="293780075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F42DC83A-AE4A-46D5-83E6-BE827E5D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5" y="717011"/>
            <a:ext cx="44135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Numerical phantom: lateral resolution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5412E4F4-AE58-49E3-8313-1021CF75FC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f4189cd24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252" y="1306133"/>
            <a:ext cx="10950751" cy="2920200"/>
          </a:xfrm>
          <a:prstGeom xmlns:a="http://schemas.openxmlformats.org/drawingml/2006/main" prst="rect">
            <a:avLst/>
          </a:prstGeom>
        </p:spPr>
      </p:pic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29329B7C-AABE-4431-966E-ED04EB10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7032" y="1510301"/>
            <a:ext cx="0" cy="2424703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B304E824-A0B1-4D02-A5DC-0B77A90A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67" y="1125899"/>
            <a:ext cx="129095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99887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 boundary</a:t>
            </a:r>
            <a:endParaRPr sz="1600"/>
          </a:p>
        </p:txBody>
      </p:sp>
      <p:pic>
        <p:nvPicPr>
          <p:cNvPr id="12" name="Imagen 11">
            <a:extLst xmlns:a="http://schemas.openxmlformats.org/drawingml/2006/main">
              <a:ext uri="{FF2B5EF4-FFF2-40B4-BE49-F238E27FC236}">
                <a16:creationId xmlns:a16="http://schemas.microsoft.com/office/drawing/2014/main" id="{B04E6EFB-9582-4B9E-8F71-63592E2A02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71254f0d5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94325" y="4452744"/>
            <a:ext cx="3240000" cy="2160000"/>
          </a:xfrm>
          <a:prstGeom xmlns:a="http://schemas.openxmlformats.org/drawingml/2006/main" prst="rect">
            <a:avLst/>
          </a:prstGeom>
        </p:spPr>
      </p:pic>
      <p:pic>
        <p:nvPicPr>
          <p:cNvPr id="13" name="Imagen 12">
            <a:extLst xmlns:a="http://schemas.openxmlformats.org/drawingml/2006/main">
              <a:ext uri="{FF2B5EF4-FFF2-40B4-BE49-F238E27FC236}">
                <a16:creationId xmlns:a16="http://schemas.microsoft.com/office/drawing/2014/main" id="{3112B948-F30E-4483-9360-89D28772F4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a54d4492b43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1602" y="4452744"/>
            <a:ext cx="3239999" cy="2160000"/>
          </a:xfrm>
          <a:prstGeom xmlns:a="http://schemas.openxmlformats.org/drawingml/2006/main" prst="rect">
            <a:avLst/>
          </a:prstGeom>
        </p:spPr>
      </p:pic>
      <p:cxnSp>
        <p:nvCxnSpPr>
          <p:cNvPr id="15" name="Conector recto de flecha 14">
            <a:extLst xmlns:a="http://schemas.openxmlformats.org/drawingml/2006/main">
              <a:ext uri="{FF2B5EF4-FFF2-40B4-BE49-F238E27FC236}">
                <a16:creationId xmlns:a16="http://schemas.microsoft.com/office/drawing/2014/main" id="{1FF4528D-EAA9-41F2-B528-3F8EBCACAD5F}"/>
              </a:ext>
            </a:extLst>
          </p:cNvPr>
          <p:cNvCxnSpPr/>
          <p:nvPr/>
        </p:nvCxnSpPr>
        <p:spPr>
          <a:xfrm xmlns:a="http://schemas.openxmlformats.org/drawingml/2006/main" flipH="1">
            <a:off x="4818580" y="3698697"/>
            <a:ext cx="102741" cy="67809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7" name="Conector recto de flecha 16">
            <a:extLst xmlns:a="http://schemas.openxmlformats.org/drawingml/2006/main">
              <a:ext uri="{FF2B5EF4-FFF2-40B4-BE49-F238E27FC236}">
                <a16:creationId xmlns:a16="http://schemas.microsoft.com/office/drawing/2014/main" id="{4254C29F-A247-4AF7-9015-F43A172C9504}"/>
              </a:ext>
            </a:extLst>
          </p:cNvPr>
          <p:cNvCxnSpPr/>
          <p:nvPr/>
        </p:nvCxnSpPr>
        <p:spPr>
          <a:xfrm xmlns:a="http://schemas.openxmlformats.org/drawingml/2006/main">
            <a:off x="6431622" y="3647326"/>
            <a:ext cx="267129" cy="75924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B27ADC63-CC2A-4411-BF06-D910F7C70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404" y="4932579"/>
            <a:ext cx="1818528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At this edge reflector, the proposed profile is narrower than NSI</a:t>
            </a:r>
            <a:endParaRPr sz="1400"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54D48683-F8F9-423D-92F1-8EA4F8A7FDFC}"/>
              </a:ext>
            </a:extLst>
          </p:cNvPr>
          <p:cNvCxnSpPr/>
          <p:nvPr/>
        </p:nvCxnSpPr>
        <p:spPr>
          <a:xfrm xmlns:a="http://schemas.openxmlformats.org/drawingml/2006/main" flipH="1">
            <a:off x="8897420" y="5229546"/>
            <a:ext cx="523983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3941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uadroTexto 5">
            <a:extLst xmlns:a="http://schemas.openxmlformats.org/drawingml/2006/main">
              <a:ext uri="{FF2B5EF4-FFF2-40B4-BE49-F238E27FC236}">
                <a16:creationId xmlns:a16="http://schemas.microsoft.com/office/drawing/2014/main" id="{009F765B-7F28-4D30-A87A-93A3F267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325" y="717011"/>
            <a:ext cx="51993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Numerical phantom: edge amplitude stability</a:t>
            </a:r>
            <a:endParaRPr b="1"/>
          </a:p>
        </p:txBody>
      </p:sp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09A43035-FA5F-4BD7-951D-A75ED18B5F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460c092d14b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4252" y="1306133"/>
            <a:ext cx="10950751" cy="2920200"/>
          </a:xfrm>
          <a:prstGeom xmlns:a="http://schemas.openxmlformats.org/drawingml/2006/main" prst="rect">
            <a:avLst/>
          </a:prstGeom>
        </p:spPr>
      </p:pic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113A74A5-5E94-489A-B954-509FFF3C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07032" y="1510301"/>
            <a:ext cx="0" cy="2424703"/>
          </a:xfrm>
          <a:prstGeom xmlns:a="http://schemas.openxmlformats.org/drawingml/2006/main" prst="line">
            <a:avLst/>
          </a:prstGeom>
          <a:ln xmlns:a="http://schemas.openxmlformats.org/drawingml/2006/main">
            <a:prstDash val="dashDot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uadroTexto 10">
            <a:extLst xmlns:a="http://schemas.openxmlformats.org/drawingml/2006/main">
              <a:ext uri="{FF2B5EF4-FFF2-40B4-BE49-F238E27FC236}">
                <a16:creationId xmlns:a16="http://schemas.microsoft.com/office/drawing/2014/main" id="{F1DC519C-EC8C-4138-A76C-78963644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3467" y="1125899"/>
            <a:ext cx="1290955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99887"/>
          </a:bodyPr>
          <a:lstStyle xmlns:a="http://schemas.openxmlformats.org/drawingml/2006/main">
            <a:def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array boundary</a:t>
            </a:r>
            <a:endParaRPr sz="1600"/>
          </a:p>
        </p:txBody>
      </p:sp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42D93FD9-8AA3-48CB-8127-ACC841E09C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e483cc91d46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3418" y="3805092"/>
            <a:ext cx="3993586" cy="2852561"/>
          </a:xfrm>
          <a:prstGeom xmlns:a="http://schemas.openxmlformats.org/drawingml/2006/main" prst="rect">
            <a:avLst/>
          </a:prstGeom>
        </p:spPr>
      </p:pic>
      <p:cxnSp>
        <p:nvCxnSpPr>
          <p:cNvPr id="17" name="Conector recto de flecha 16">
            <a:extLst xmlns:a="http://schemas.openxmlformats.org/drawingml/2006/main">
              <a:ext uri="{FF2B5EF4-FFF2-40B4-BE49-F238E27FC236}">
                <a16:creationId xmlns:a16="http://schemas.microsoft.com/office/drawing/2014/main" id="{730665FB-C673-4642-B762-AA27DD7A990D}"/>
              </a:ext>
            </a:extLst>
          </p:cNvPr>
          <p:cNvCxnSpPr/>
          <p:nvPr/>
        </p:nvCxnSpPr>
        <p:spPr>
          <a:xfrm xmlns:a="http://schemas.openxmlformats.org/drawingml/2006/main">
            <a:off x="6369978" y="3825641"/>
            <a:ext cx="246579" cy="400692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4" name="Rectángulo redondeado 3">
            <a:extLst xmlns:a="http://schemas.openxmlformats.org/drawingml/2006/main">
              <a:ext uri="{FF2B5EF4-FFF2-40B4-BE49-F238E27FC236}">
                <a16:creationId xmlns:a16="http://schemas.microsoft.com/office/drawing/2014/main" id="{C95A6E95-02E6-4964-A0CE-B5BC3E74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1479" y="1510301"/>
            <a:ext cx="565078" cy="2315340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38455812-716D-45E1-AFEA-D1FAD8A1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203" y="4753175"/>
            <a:ext cx="1818528" cy="1091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31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313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13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Without subaperture normalisation, NSI peak amplitude decreases with depth near the boundary</a:t>
            </a:r>
            <a:endParaRPr sz="1400"/>
          </a:p>
        </p:txBody>
      </p:sp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F072CAD7-C048-45F5-97F1-08712FE933FF}"/>
              </a:ext>
            </a:extLst>
          </p:cNvPr>
          <p:cNvCxnSpPr>
            <a:stCxn xmlns:a="http://schemas.openxmlformats.org/drawingml/2006/main" id="16" idx="1"/>
          </p:cNvCxnSpPr>
          <p:nvPr/>
        </p:nvCxnSpPr>
        <p:spPr>
          <a:xfrm xmlns:a="http://schemas.openxmlformats.org/drawingml/2006/main" flipH="1">
            <a:off x="8435083" y="5122507"/>
            <a:ext cx="529120" cy="26115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61236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86BB1F76-6AB5-4F11-81E0-F229BCAE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8292" y="616449"/>
            <a:ext cx="3702367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PICMUS phantom: edge profiles</a:t>
            </a:r>
            <a:endParaRPr b="1"/>
          </a:p>
        </p:txBody>
      </p:sp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FE0D2742-9B8D-452F-8D7E-AE9E864777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8a225150147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9009" y="985781"/>
            <a:ext cx="8942931" cy="5548583"/>
          </a:xfrm>
          <a:prstGeom xmlns:a="http://schemas.openxmlformats.org/drawingml/2006/main" prst="rect">
            <a:avLst/>
          </a:prstGeom>
        </p:spPr>
      </p:pic>
      <p:cxnSp>
        <p:nvCxnSpPr>
          <p:cNvPr id="7" name="Conector recto de flecha 6">
            <a:extLst xmlns:a="http://schemas.openxmlformats.org/drawingml/2006/main">
              <a:ext uri="{FF2B5EF4-FFF2-40B4-BE49-F238E27FC236}">
                <a16:creationId xmlns:a16="http://schemas.microsoft.com/office/drawing/2014/main" id="{E2E69501-98F5-460E-9D9A-E0CED4166BA7}"/>
              </a:ext>
            </a:extLst>
          </p:cNvPr>
          <p:cNvCxnSpPr/>
          <p:nvPr/>
        </p:nvCxnSpPr>
        <p:spPr>
          <a:xfrm xmlns:a="http://schemas.openxmlformats.org/drawingml/2006/main" flipV="1">
            <a:off x="9339209" y="1058238"/>
            <a:ext cx="256854" cy="45206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" name="CuadroTexto 7">
            <a:extLst xmlns:a="http://schemas.openxmlformats.org/drawingml/2006/main">
              <a:ext uri="{FF2B5EF4-FFF2-40B4-BE49-F238E27FC236}">
                <a16:creationId xmlns:a16="http://schemas.microsoft.com/office/drawing/2014/main" id="{8CE4BA95-43EF-42D6-A59F-A1B4B9BE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68580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Image appearance remains close to DAS</a:t>
            </a:r>
            <a:endParaRPr sz="1600"/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653053B8-00CF-49BC-8814-E6FFD75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810125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defRPr sz="142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Selected edge profiles show modest narrowing</a:t>
            </a:r>
          </a:p>
        </p:txBody>
      </p:sp>
      <p:cxnSp>
        <p:nvCxnSpPr>
          <p:cNvPr id="13" name="Conector recto de flecha 12">
            <a:extLst xmlns:a="http://schemas.openxmlformats.org/drawingml/2006/main">
              <a:ext uri="{FF2B5EF4-FFF2-40B4-BE49-F238E27FC236}">
                <a16:creationId xmlns:a16="http://schemas.microsoft.com/office/drawing/2014/main" id="{165E3006-A704-4B15-BBFC-D5CF499B9BA0}"/>
              </a:ext>
            </a:extLst>
          </p:cNvPr>
          <p:cNvCxnSpPr/>
          <p:nvPr/>
        </p:nvCxnSpPr>
        <p:spPr>
          <a:xfrm xmlns:a="http://schemas.openxmlformats.org/drawingml/2006/main">
            <a:off x="4407613" y="3246634"/>
            <a:ext cx="1284270" cy="123289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8130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1B39B639-B811-47DA-807D-4F345D8E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417" y="616450"/>
            <a:ext cx="3743643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Conclusions and next evaluation</a:t>
            </a:r>
            <a:endParaRPr b="1"/>
          </a:p>
        </p:txBody>
      </p:sp>
      <p:sp>
        <p:nvSpPr>
          <p:cNvPr id="5" name="CuadroTexto 4">
            <a:extLst xmlns:a="http://schemas.openxmlformats.org/drawingml/2006/main">
              <a:ext uri="{FF2B5EF4-FFF2-40B4-BE49-F238E27FC236}">
                <a16:creationId xmlns:a16="http://schemas.microsoft.com/office/drawing/2014/main" id="{B9EF583B-28CF-4D90-81DC-79470DBE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544" y="1356189"/>
            <a:ext cx="9123451" cy="2270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Two learned receive apodizations and pixel-wise fusion produce DAS-like images.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NSI remains sharper overall in the numerical phantom.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Near array boundaries, learned fusion preserves peak amplitude better in the current non-normalised comparison.</a:t>
            </a:r>
          </a:p>
          <a:p xmlns:a="http://schemas.openxmlformats.org/drawingml/2006/main">
            <a:pPr marL="279400" indent="-139700">
              <a:spcAft>
                <a:spcPts val="1400"/>
              </a:spcAft>
              <a:buChar char="•"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Next evaluation: report peak-normalised FWHM, sidelobes and CNR or gCNR separately for interior and boundary reflectors.</a:t>
            </a:r>
          </a:p>
        </p:txBody>
      </p:sp>
    </p:spTree>
    <p:extLst>
      <p:ext uri="{BB962C8B-B14F-4D97-AF65-F5344CB8AC3E}">
        <p14:creationId xmlns:p14="http://schemas.microsoft.com/office/powerpoint/2010/main" val="13538650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0FE52214-B498-4888-9E78-40005F56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9545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Questions</a:t>
            </a:r>
            <a:endParaRPr/>
          </a:p>
        </p:txBody>
      </p:sp>
      <p:sp>
        <p:nvSpPr>
          <p:cNvPr id="5" name="closing-takeaway">
            <a:extLst xmlns:a="http://schemas.openxmlformats.org/drawingml/2006/main">
              <a:ext uri="{FF2B5EF4-FFF2-40B4-BE49-F238E27FC236}">
                <a16:creationId xmlns:a16="http://schemas.microsoft.com/office/drawing/2014/main" id="{FF816D72-3633-4716-8C72-17177463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14625"/>
            <a:ext cx="7524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95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Learned fusion mitigates NSI amplitude loss near array boundaries, but it does not yet match NSI resolution overall.</a:t>
            </a:r>
          </a:p>
        </p:txBody>
      </p:sp>
      <p:sp>
        <p:nvSpPr>
          <p:cNvPr id="6" name="closing-contact">
            <a:extLst xmlns:a="http://schemas.openxmlformats.org/drawingml/2006/main">
              <a:ext uri="{FF2B5EF4-FFF2-40B4-BE49-F238E27FC236}">
                <a16:creationId xmlns:a16="http://schemas.microsoft.com/office/drawing/2014/main" id="{D89D0CAD-2F89-476F-B6B6-6E943B9C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g.cosarinsky@csic.es</a:t>
            </a:r>
          </a:p>
        </p:txBody>
      </p:sp>
    </p:spTree>
    <p:extLst>
      <p:ext uri="{BB962C8B-B14F-4D97-AF65-F5344CB8AC3E}">
        <p14:creationId xmlns:p14="http://schemas.microsoft.com/office/powerpoint/2010/main" val="918868026"/>
      </p:ext>
    </p:extLst>
  </p:cSld>
</p:sld>
</file>

<file path=ppt/slides/slide1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108F985A-9B06-4925-A1F8-E4F4D9811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05ba25e3440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5540" y="411822"/>
            <a:ext cx="5850276" cy="5850276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A57E8222-858D-468C-9DEA-1E8D6E3E8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e6e407641d48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797" y="1774755"/>
            <a:ext cx="3775913" cy="574443"/>
          </a:xfrm>
          <a:prstGeom xmlns:a="http://schemas.openxmlformats.org/drawingml/2006/main" prst="rect">
            <a:avLst/>
          </a:prstGeom>
        </p:spPr>
      </p:pic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924C96CF-C181-4BC2-95CF-204F620A31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cd41c317c4f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144" y="2916784"/>
            <a:ext cx="3229324" cy="284680"/>
          </a:xfrm>
          <a:prstGeom xmlns:a="http://schemas.openxmlformats.org/drawingml/2006/main" prst="rect">
            <a:avLst/>
          </a:prstGeom>
        </p:spPr>
      </p:pic>
      <p:pic>
        <p:nvPicPr>
          <p:cNvPr id="5" name="Imagen 4">
            <a:extLst xmlns:a="http://schemas.openxmlformats.org/drawingml/2006/main">
              <a:ext uri="{FF2B5EF4-FFF2-40B4-BE49-F238E27FC236}">
                <a16:creationId xmlns:a16="http://schemas.microsoft.com/office/drawing/2014/main" id="{DE0B88D6-4057-4C61-ADBE-2898075485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b45a139f024b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3641" y="4267414"/>
            <a:ext cx="4090827" cy="391296"/>
          </a:xfrm>
          <a:prstGeom xmlns:a="http://schemas.openxmlformats.org/drawingml/2006/main" prst="rect">
            <a:avLst/>
          </a:prstGeom>
        </p:spPr>
      </p:pic>
      <p:sp>
        <p:nvSpPr>
          <p:cNvPr id="20" name="Forma libre 19">
            <a:extLst xmlns:a="http://schemas.openxmlformats.org/drawingml/2006/main">
              <a:ext uri="{FF2B5EF4-FFF2-40B4-BE49-F238E27FC236}">
                <a16:creationId xmlns:a16="http://schemas.microsoft.com/office/drawing/2014/main" id="{78B7C470-C95B-4B3D-89F8-E2541D4D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8554" y="4658710"/>
            <a:ext cx="6154219" cy="1918216"/>
          </a:xfrm>
          <a:custGeom xmlns:a="http://schemas.openxmlformats.org/drawingml/2006/main">
            <a:gdLst>
              <a:gd name="connsiteX0" fmla="*/ 6637105 w 6637105"/>
              <a:gd name="connsiteY0" fmla="*/ 2476072 h 3546974"/>
              <a:gd name="connsiteX1" fmla="*/ 2126750 w 6637105"/>
              <a:gd name="connsiteY1" fmla="*/ 3421295 h 3546974"/>
              <a:gd name="connsiteX2" fmla="*/ 0 w 6637105"/>
              <a:gd name="connsiteY2" fmla="*/ 0 h 3546974"/>
            </a:gdLst>
            <a:rect l="l" t="t" r="r" b="b"/>
            <a:pathLst>
              <a:path w="6637105" h="3546974">
                <a:moveTo>
                  <a:pt x="6637105" y="2476072"/>
                </a:moveTo>
                <a:cubicBezTo>
                  <a:pt x="4935019" y="3155023"/>
                  <a:pt x="3232934" y="3833974"/>
                  <a:pt x="2126750" y="3421295"/>
                </a:cubicBezTo>
                <a:cubicBezTo>
                  <a:pt x="1020566" y="3008616"/>
                  <a:pt x="510283" y="1504308"/>
                  <a:pt x="0" y="0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Forma libre 20">
            <a:extLst xmlns:a="http://schemas.openxmlformats.org/drawingml/2006/main">
              <a:ext uri="{FF2B5EF4-FFF2-40B4-BE49-F238E27FC236}">
                <a16:creationId xmlns:a16="http://schemas.microsoft.com/office/drawing/2014/main" id="{B5E4DC25-C4E7-4AF7-B32C-FB8DA1B7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721" y="4622496"/>
            <a:ext cx="1474340" cy="524426"/>
          </a:xfrm>
          <a:custGeom xmlns:a="http://schemas.openxmlformats.org/drawingml/2006/main">
            <a:gdLst>
              <a:gd name="connsiteX0" fmla="*/ 0 w 2208943"/>
              <a:gd name="connsiteY0" fmla="*/ 0 h 663548"/>
              <a:gd name="connsiteX1" fmla="*/ 1797977 w 2208943"/>
              <a:gd name="connsiteY1" fmla="*/ 636998 h 663548"/>
              <a:gd name="connsiteX2" fmla="*/ 2208943 w 2208943"/>
              <a:gd name="connsiteY2" fmla="*/ 482885 h 663548"/>
              <a:gd name="connsiteX0" fmla="*/ 0 w 2208943"/>
              <a:gd name="connsiteY0" fmla="*/ 0 h 524426"/>
              <a:gd name="connsiteX1" fmla="*/ 1170456 w 2208943"/>
              <a:gd name="connsiteY1" fmla="*/ 359595 h 524426"/>
              <a:gd name="connsiteX2" fmla="*/ 2208943 w 2208943"/>
              <a:gd name="connsiteY2" fmla="*/ 482885 h 524426"/>
            </a:gdLst>
            <a:rect l="l" t="t" r="r" b="b"/>
            <a:pathLst>
              <a:path w="2208943" h="524426">
                <a:moveTo>
                  <a:pt x="0" y="0"/>
                </a:moveTo>
                <a:cubicBezTo>
                  <a:pt x="714910" y="278258"/>
                  <a:pt x="802299" y="279114"/>
                  <a:pt x="1170456" y="359595"/>
                </a:cubicBezTo>
                <a:cubicBezTo>
                  <a:pt x="1538613" y="440076"/>
                  <a:pt x="2187538" y="600182"/>
                  <a:pt x="2208943" y="482885"/>
                </a:cubicBezTo>
              </a:path>
            </a:pathLst>
          </a:cu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cxnSp>
        <p:nvCxnSpPr>
          <p:cNvPr id="23" name="Conector recto de flecha 22">
            <a:extLst xmlns:a="http://schemas.openxmlformats.org/drawingml/2006/main">
              <a:ext uri="{FF2B5EF4-FFF2-40B4-BE49-F238E27FC236}">
                <a16:creationId xmlns:a16="http://schemas.microsoft.com/office/drawing/2014/main" id="{DA6B550D-4F41-4C97-9A4A-D492061140D4}"/>
              </a:ext>
            </a:extLst>
          </p:cNvPr>
          <p:cNvCxnSpPr/>
          <p:nvPr/>
        </p:nvCxnSpPr>
        <p:spPr>
          <a:xfrm xmlns:a="http://schemas.openxmlformats.org/drawingml/2006/main" flipV="1">
            <a:off x="4274049" y="2424701"/>
            <a:ext cx="1387012" cy="492084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25" name="CuadroTexto 24">
            <a:extLst xmlns:a="http://schemas.openxmlformats.org/drawingml/2006/main">
              <a:ext uri="{FF2B5EF4-FFF2-40B4-BE49-F238E27FC236}">
                <a16:creationId xmlns:a16="http://schemas.microsoft.com/office/drawing/2014/main" id="{7B5A9C0C-CB5B-479A-AC85-7AFA8673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61" y="5119680"/>
            <a:ext cx="2681556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600"/>
              <a:t>Weight</a:t>
            </a:r>
            <a:r>
              <a:rPr sz="1600"/>
              <a:t> to </a:t>
            </a:r>
            <a:r>
              <a:rPr sz="1600"/>
              <a:t>give</a:t>
            </a:r>
            <a:r>
              <a:rPr sz="1600"/>
              <a:t> more </a:t>
            </a:r>
            <a:r>
              <a:rPr sz="1600"/>
              <a:t>importance</a:t>
            </a:r>
            <a:r>
              <a:rPr sz="1600"/>
              <a:t> to </a:t>
            </a:r>
            <a:r>
              <a:rPr sz="1600"/>
              <a:t>reflectors</a:t>
            </a:r>
            <a:r>
              <a:rPr sz="1600"/>
              <a:t> vs </a:t>
            </a:r>
            <a:r>
              <a:rPr sz="1600"/>
              <a:t>background</a:t>
            </a:r>
            <a:endParaRPr sz="1600"/>
          </a:p>
        </p:txBody>
      </p:sp>
      <p:cxnSp>
        <p:nvCxnSpPr>
          <p:cNvPr id="27" name="Conector recto de flecha 26">
            <a:extLst xmlns:a="http://schemas.openxmlformats.org/drawingml/2006/main">
              <a:ext uri="{FF2B5EF4-FFF2-40B4-BE49-F238E27FC236}">
                <a16:creationId xmlns:a16="http://schemas.microsoft.com/office/drawing/2014/main" id="{5F078126-F2E9-4DC7-BF46-A90B86EA902F}"/>
              </a:ext>
            </a:extLst>
          </p:cNvPr>
          <p:cNvCxnSpPr>
            <a:stCxn xmlns:a="http://schemas.openxmlformats.org/drawingml/2006/main" id="25" idx="0"/>
          </p:cNvCxnSpPr>
          <p:nvPr/>
        </p:nvCxnSpPr>
        <p:spPr>
          <a:xfrm xmlns:a="http://schemas.openxmlformats.org/drawingml/2006/main" flipV="1">
            <a:off x="2073239" y="4658710"/>
            <a:ext cx="291959" cy="46097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031158"/>
      </p:ext>
    </p:extLst>
  </p:cSld>
</p:sld>
</file>

<file path=ppt/slides/slide20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n 1">
            <a:extLst xmlns:a="http://schemas.openxmlformats.org/drawingml/2006/main">
              <a:ext uri="{FF2B5EF4-FFF2-40B4-BE49-F238E27FC236}">
                <a16:creationId xmlns:a16="http://schemas.microsoft.com/office/drawing/2014/main" id="{388A44B8-ABFE-4026-9432-7C35D738CB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e29285bcb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352" y="714917"/>
            <a:ext cx="4869387" cy="2337306"/>
          </a:xfrm>
          <a:prstGeom xmlns:a="http://schemas.openxmlformats.org/drawingml/2006/main" prst="rect">
            <a:avLst/>
          </a:prstGeom>
        </p:spPr>
      </p:pic>
      <p:pic>
        <p:nvPicPr>
          <p:cNvPr id="3" name="Imagen 2">
            <a:extLst xmlns:a="http://schemas.openxmlformats.org/drawingml/2006/main">
              <a:ext uri="{FF2B5EF4-FFF2-40B4-BE49-F238E27FC236}">
                <a16:creationId xmlns:a16="http://schemas.microsoft.com/office/drawing/2014/main" id="{26D35CBB-56E9-4FC9-A1C7-3F1B27B383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429301997243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4222" y="3577129"/>
            <a:ext cx="4917518" cy="2360409"/>
          </a:xfrm>
          <a:prstGeom xmlns:a="http://schemas.openxmlformats.org/drawingml/2006/main" prst="rect">
            <a:avLst/>
          </a:prstGeom>
        </p:spPr>
      </p:pic>
      <p:pic>
        <p:nvPicPr>
          <p:cNvPr id="4" name="Imagen 3">
            <a:extLst xmlns:a="http://schemas.openxmlformats.org/drawingml/2006/main">
              <a:ext uri="{FF2B5EF4-FFF2-40B4-BE49-F238E27FC236}">
                <a16:creationId xmlns:a16="http://schemas.microsoft.com/office/drawing/2014/main" id="{2DE7CCAD-1C4A-48E6-81E5-AB93B40F75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ca54889ce48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97932" y="2106202"/>
            <a:ext cx="6365696" cy="21218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221894"/>
      </p:ext>
    </p:extLst>
  </p:cSld>
</p:sld>
</file>

<file path=ppt/slides/slide2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uadroTexto 1">
            <a:extLst xmlns:a="http://schemas.openxmlformats.org/drawingml/2006/main">
              <a:ext uri="{FF2B5EF4-FFF2-40B4-BE49-F238E27FC236}">
                <a16:creationId xmlns:a16="http://schemas.microsoft.com/office/drawing/2014/main" id="{BBB15712-B52E-4AF0-A8B5-2ED637D9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6505" y="830026"/>
            <a:ext cx="419243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Proposed</a:t>
            </a:r>
            <a:r>
              <a:rPr b="1"/>
              <a:t> </a:t>
            </a:r>
            <a:r>
              <a:rPr b="1"/>
              <a:t>framework</a:t>
            </a:r>
            <a:r>
              <a:rPr b="1"/>
              <a:t>: </a:t>
            </a:r>
            <a:r>
              <a:rPr b="1"/>
              <a:t>learning</a:t>
            </a:r>
            <a:r>
              <a:rPr b="1"/>
              <a:t> and </a:t>
            </a:r>
            <a:r>
              <a:rPr b="1"/>
              <a:t>mixing</a:t>
            </a:r>
            <a:endParaRPr b="1"/>
          </a:p>
        </p:txBody>
      </p:sp>
      <p:pic>
        <p:nvPicPr>
          <p:cNvPr id="6" name="Imagen 5">
            <a:extLst xmlns:a="http://schemas.openxmlformats.org/drawingml/2006/main">
              <a:ext uri="{FF2B5EF4-FFF2-40B4-BE49-F238E27FC236}">
                <a16:creationId xmlns:a16="http://schemas.microsoft.com/office/drawing/2014/main" id="{A088122E-6246-46DE-A02B-1CB8E4B3B3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ee0acf4fd45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9499" y="2287827"/>
            <a:ext cx="8896172" cy="2625653"/>
          </a:xfrm>
          <a:prstGeom xmlns:a="http://schemas.openxmlformats.org/drawingml/2006/main" prst="rect">
            <a:avLst/>
          </a:prstGeom>
        </p:spPr>
      </p:pic>
      <p:pic>
        <p:nvPicPr>
          <p:cNvPr id="7" name="Imagen 6">
            <a:extLst xmlns:a="http://schemas.openxmlformats.org/drawingml/2006/main">
              <a:ext uri="{FF2B5EF4-FFF2-40B4-BE49-F238E27FC236}">
                <a16:creationId xmlns:a16="http://schemas.microsoft.com/office/drawing/2014/main" id="{F15679B0-15E8-4D95-A964-2F01EB48B9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b02e26be242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86767" y="1500920"/>
            <a:ext cx="2076404" cy="288823"/>
          </a:xfrm>
          <a:prstGeom xmlns:a="http://schemas.openxmlformats.org/drawingml/2006/main" prst="rect">
            <a:avLst/>
          </a:prstGeom>
        </p:spPr>
      </p:pic>
      <p:cxnSp>
        <p:nvCxnSpPr>
          <p:cNvPr id="10" name="Conector recto de flecha 9">
            <a:extLst xmlns:a="http://schemas.openxmlformats.org/drawingml/2006/main">
              <a:ext uri="{FF2B5EF4-FFF2-40B4-BE49-F238E27FC236}">
                <a16:creationId xmlns:a16="http://schemas.microsoft.com/office/drawing/2014/main" id="{AE8B20A2-4887-492D-AF0E-A3850B591D1A}"/>
              </a:ext>
            </a:extLst>
          </p:cNvPr>
          <p:cNvCxnSpPr/>
          <p:nvPr/>
        </p:nvCxnSpPr>
        <p:spPr>
          <a:xfrm xmlns:a="http://schemas.openxmlformats.org/drawingml/2006/main">
            <a:off x="6238430" y="1136591"/>
            <a:ext cx="153824" cy="44438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2" name="Conector recto de flecha 11">
            <a:extLst xmlns:a="http://schemas.openxmlformats.org/drawingml/2006/main">
              <a:ext uri="{FF2B5EF4-FFF2-40B4-BE49-F238E27FC236}">
                <a16:creationId xmlns:a16="http://schemas.microsoft.com/office/drawing/2014/main" id="{AC33AA63-EE9A-4992-A3FF-E1C9DF539480}"/>
              </a:ext>
            </a:extLst>
          </p:cNvPr>
          <p:cNvCxnSpPr/>
          <p:nvPr/>
        </p:nvCxnSpPr>
        <p:spPr>
          <a:xfrm xmlns:a="http://schemas.openxmlformats.org/drawingml/2006/main">
            <a:off x="7272471" y="1136591"/>
            <a:ext cx="1316052" cy="1709159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6" name="CuadroTexto 15">
            <a:extLst xmlns:a="http://schemas.openxmlformats.org/drawingml/2006/main">
              <a:ext uri="{FF2B5EF4-FFF2-40B4-BE49-F238E27FC236}">
                <a16:creationId xmlns:a16="http://schemas.microsoft.com/office/drawing/2014/main" id="{1E6C943E-D93F-458A-9486-3C9D1156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83" y="5235038"/>
            <a:ext cx="1324908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Example</a:t>
            </a:r>
            <a:r>
              <a:t> </a:t>
            </a:r>
            <a:r>
              <a:t>(</a:t>
            </a:r>
            <a:r>
              <a:t>layers</a:t>
            </a:r>
            <a:r>
              <a:t> and </a:t>
            </a:r>
            <a:r>
              <a:t>neurons</a:t>
            </a:r>
            <a:r>
              <a:t>) </a:t>
            </a:r>
            <a:endParaRPr/>
          </a:p>
        </p:txBody>
      </p:sp>
      <p:sp>
        <p:nvSpPr>
          <p:cNvPr id="17" name="CuadroTexto 16">
            <a:extLst xmlns:a="http://schemas.openxmlformats.org/drawingml/2006/main">
              <a:ext uri="{FF2B5EF4-FFF2-40B4-BE49-F238E27FC236}">
                <a16:creationId xmlns:a16="http://schemas.microsoft.com/office/drawing/2014/main" id="{7D970DE5-42E0-42BA-AD50-0BE7CB8F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106" y="5512037"/>
            <a:ext cx="2940367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ctr">
              <a:defRPr sz="15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[4 features, 16, 8, 4, 2 apodizations]</a:t>
            </a:r>
            <a:endParaRPr/>
          </a:p>
        </p:txBody>
      </p:sp>
      <p:sp>
        <p:nvSpPr>
          <p:cNvPr id="18" name="CuadroTexto 17">
            <a:extLst xmlns:a="http://schemas.openxmlformats.org/drawingml/2006/main">
              <a:ext uri="{FF2B5EF4-FFF2-40B4-BE49-F238E27FC236}">
                <a16:creationId xmlns:a16="http://schemas.microsoft.com/office/drawing/2014/main" id="{2411E1D7-A2A2-4F0F-8427-F7258F9F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497" y="5512037"/>
            <a:ext cx="297805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[2 (</a:t>
            </a:r>
            <a:r>
              <a:t>images</a:t>
            </a:r>
            <a:r>
              <a:t>), 2, 1 (final </a:t>
            </a:r>
            <a:r>
              <a:t>image</a:t>
            </a:r>
            <a:r>
              <a:t>)]</a:t>
            </a:r>
            <a:endParaRPr/>
          </a:p>
        </p:txBody>
      </p:sp>
      <p:cxnSp>
        <p:nvCxnSpPr>
          <p:cNvPr id="20" name="Conector recto de flecha 19">
            <a:extLst xmlns:a="http://schemas.openxmlformats.org/drawingml/2006/main">
              <a:ext uri="{FF2B5EF4-FFF2-40B4-BE49-F238E27FC236}">
                <a16:creationId xmlns:a16="http://schemas.microsoft.com/office/drawing/2014/main" id="{D5B69EC7-E999-4ABC-86ED-90E24F969D3E}"/>
              </a:ext>
            </a:extLst>
          </p:cNvPr>
          <p:cNvCxnSpPr/>
          <p:nvPr/>
        </p:nvCxnSpPr>
        <p:spPr>
          <a:xfrm xmlns:a="http://schemas.openxmlformats.org/drawingml/2006/main">
            <a:off x="3700329" y="4802736"/>
            <a:ext cx="25637" cy="54693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2" name="Conector recto de flecha 21">
            <a:extLst xmlns:a="http://schemas.openxmlformats.org/drawingml/2006/main">
              <a:ext uri="{FF2B5EF4-FFF2-40B4-BE49-F238E27FC236}">
                <a16:creationId xmlns:a16="http://schemas.microsoft.com/office/drawing/2014/main" id="{3015616A-BF31-46A8-92A0-36D9FD407C1B}"/>
              </a:ext>
            </a:extLst>
          </p:cNvPr>
          <p:cNvCxnSpPr/>
          <p:nvPr/>
        </p:nvCxnSpPr>
        <p:spPr>
          <a:xfrm xmlns:a="http://schemas.openxmlformats.org/drawingml/2006/main">
            <a:off x="8981630" y="4349809"/>
            <a:ext cx="162370" cy="99985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3" name="Elipse 2">
            <a:extLst xmlns:a="http://schemas.openxmlformats.org/drawingml/2006/main">
              <a:ext uri="{FF2B5EF4-FFF2-40B4-BE49-F238E27FC236}">
                <a16:creationId xmlns:a16="http://schemas.microsoft.com/office/drawing/2014/main" id="{43AA0835-C30A-4991-A54F-8171B6B7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80" y="2100866"/>
            <a:ext cx="1914483" cy="2999574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uadroTexto 3">
            <a:extLst xmlns:a="http://schemas.openxmlformats.org/drawingml/2006/main">
              <a:ext uri="{FF2B5EF4-FFF2-40B4-BE49-F238E27FC236}">
                <a16:creationId xmlns:a16="http://schemas.microsoft.com/office/drawing/2014/main" id="{61C30F0E-D965-4D6E-B7BB-7B841AED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7915"/>
            <a:ext cx="654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ReLU</a:t>
            </a:r>
            <a:endParaRPr/>
          </a:p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68EF7416-034C-4CCB-96D3-A5CA4A31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094" y="2722971"/>
            <a:ext cx="589885" cy="2190509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CuadroTexto 14">
            <a:extLst xmlns:a="http://schemas.openxmlformats.org/drawingml/2006/main">
              <a:ext uri="{FF2B5EF4-FFF2-40B4-BE49-F238E27FC236}">
                <a16:creationId xmlns:a16="http://schemas.microsoft.com/office/drawing/2014/main" id="{B349A285-748D-4F11-A3B4-9CA4315E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5378" y="4774544"/>
            <a:ext cx="61305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tanh</a:t>
            </a:r>
            <a:endParaRPr/>
          </a:p>
        </p:txBody>
      </p:sp>
      <p:sp>
        <p:nvSpPr>
          <p:cNvPr id="19" name="CuadroTexto 18">
            <a:extLst xmlns:a="http://schemas.openxmlformats.org/drawingml/2006/main">
              <a:ext uri="{FF2B5EF4-FFF2-40B4-BE49-F238E27FC236}">
                <a16:creationId xmlns:a16="http://schemas.microsoft.com/office/drawing/2014/main" id="{143E5ECF-E77B-4C6C-8546-B68E2338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682" y="2905343"/>
            <a:ext cx="6543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ReLU</a:t>
            </a:r>
            <a:endParaRPr/>
          </a:p>
        </p:txBody>
      </p:sp>
      <p:sp>
        <p:nvSpPr>
          <p:cNvPr id="21" name="Elipse 20">
            <a:extLst xmlns:a="http://schemas.openxmlformats.org/drawingml/2006/main">
              <a:ext uri="{FF2B5EF4-FFF2-40B4-BE49-F238E27FC236}">
                <a16:creationId xmlns:a16="http://schemas.microsoft.com/office/drawing/2014/main" id="{5451374F-ABB1-4220-9AC0-55E8AA6A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8524" y="3092303"/>
            <a:ext cx="1213502" cy="1151237"/>
          </a:xfrm>
          <a:prstGeom xmlns:a="http://schemas.openxmlformats.org/drawingml/2006/main" prst="ellipse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4826951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2026-10-15T13:23:28.6180000Z</dcterms:created>
  <dcterms:modified xsi:type="dcterms:W3CDTF">2026-10-15T13:23:28.6180000Z</dcterms:modified>
</coreProperties>
</file>